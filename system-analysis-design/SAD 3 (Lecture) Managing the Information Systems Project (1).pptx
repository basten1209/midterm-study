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notesMasterIdLst>
    <p:notesMasterId r:id="rId49"/>
  </p:notesMasterIdLst>
  <p:sldIdLst>
    <p:sldId id="274" r:id="rId2"/>
    <p:sldId id="583" r:id="rId3"/>
    <p:sldId id="341" r:id="rId4"/>
    <p:sldId id="681" r:id="rId5"/>
    <p:sldId id="683" r:id="rId6"/>
    <p:sldId id="684" r:id="rId7"/>
    <p:sldId id="682" r:id="rId8"/>
    <p:sldId id="650" r:id="rId9"/>
    <p:sldId id="413" r:id="rId10"/>
    <p:sldId id="582" r:id="rId11"/>
    <p:sldId id="584" r:id="rId12"/>
    <p:sldId id="679" r:id="rId13"/>
    <p:sldId id="680" r:id="rId14"/>
    <p:sldId id="285" r:id="rId15"/>
    <p:sldId id="566" r:id="rId16"/>
    <p:sldId id="352" r:id="rId17"/>
    <p:sldId id="668" r:id="rId18"/>
    <p:sldId id="355" r:id="rId19"/>
    <p:sldId id="356" r:id="rId20"/>
    <p:sldId id="358" r:id="rId21"/>
    <p:sldId id="565" r:id="rId22"/>
    <p:sldId id="536" r:id="rId23"/>
    <p:sldId id="674" r:id="rId24"/>
    <p:sldId id="567" r:id="rId25"/>
    <p:sldId id="419" r:id="rId26"/>
    <p:sldId id="410" r:id="rId27"/>
    <p:sldId id="412" r:id="rId28"/>
    <p:sldId id="676" r:id="rId29"/>
    <p:sldId id="677" r:id="rId30"/>
    <p:sldId id="560" r:id="rId31"/>
    <p:sldId id="670" r:id="rId32"/>
    <p:sldId id="539" r:id="rId33"/>
    <p:sldId id="559" r:id="rId34"/>
    <p:sldId id="572" r:id="rId35"/>
    <p:sldId id="671" r:id="rId36"/>
    <p:sldId id="542" r:id="rId37"/>
    <p:sldId id="369" r:id="rId38"/>
    <p:sldId id="615" r:id="rId39"/>
    <p:sldId id="618" r:id="rId40"/>
    <p:sldId id="678" r:id="rId41"/>
    <p:sldId id="619" r:id="rId42"/>
    <p:sldId id="648" r:id="rId43"/>
    <p:sldId id="667" r:id="rId44"/>
    <p:sldId id="645" r:id="rId45"/>
    <p:sldId id="652" r:id="rId46"/>
    <p:sldId id="653" r:id="rId47"/>
    <p:sldId id="655"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54"/>
    <p:restoredTop sz="67783" autoAdjust="0"/>
  </p:normalViewPr>
  <p:slideViewPr>
    <p:cSldViewPr>
      <p:cViewPr varScale="1">
        <p:scale>
          <a:sx n="144" d="100"/>
          <a:sy n="144" d="100"/>
        </p:scale>
        <p:origin x="208" y="1512"/>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3A3F1A-8AA9-D246-8C26-38957087DE2A}" type="doc">
      <dgm:prSet loTypeId="urn:microsoft.com/office/officeart/2005/8/layout/cycle5" loCatId="" qsTypeId="urn:microsoft.com/office/officeart/2005/8/quickstyle/simple1" qsCatId="simple" csTypeId="urn:microsoft.com/office/officeart/2005/8/colors/accent1_2" csCatId="accent1" phldr="1"/>
      <dgm:spPr/>
      <dgm:t>
        <a:bodyPr/>
        <a:lstStyle/>
        <a:p>
          <a:endParaRPr lang="en-US"/>
        </a:p>
      </dgm:t>
    </dgm:pt>
    <dgm:pt modelId="{7FFD1173-370F-BD44-9E1F-A44B466411C9}">
      <dgm:prSet phldrT="[Text]" custT="1"/>
      <dgm:spPr>
        <a:solidFill>
          <a:srgbClr val="92D050"/>
        </a:solidFill>
        <a:ln>
          <a:solidFill>
            <a:schemeClr val="bg1">
              <a:lumMod val="95000"/>
            </a:schemeClr>
          </a:solidFill>
        </a:ln>
      </dgm:spPr>
      <dgm:t>
        <a:bodyPr/>
        <a:lstStyle/>
        <a:p>
          <a:r>
            <a:rPr lang="en-US" sz="1600" b="1" dirty="0">
              <a:solidFill>
                <a:schemeClr val="tx1"/>
              </a:solidFill>
            </a:rPr>
            <a:t>Planning</a:t>
          </a:r>
        </a:p>
        <a:p>
          <a:r>
            <a:rPr lang="en-US" sz="1400" b="0" dirty="0">
              <a:solidFill>
                <a:schemeClr val="tx1"/>
              </a:solidFill>
            </a:rPr>
            <a:t>Chapters 4-5</a:t>
          </a:r>
        </a:p>
      </dgm:t>
    </dgm:pt>
    <dgm:pt modelId="{22C2F6B9-9CBF-7E4F-979D-440D9B3587F9}" type="parTrans" cxnId="{04F7BA04-C788-7A4B-BC30-02104644D17B}">
      <dgm:prSet/>
      <dgm:spPr/>
      <dgm:t>
        <a:bodyPr/>
        <a:lstStyle/>
        <a:p>
          <a:endParaRPr lang="en-US"/>
        </a:p>
      </dgm:t>
    </dgm:pt>
    <dgm:pt modelId="{57277E4B-B285-9C49-9C96-F6718635B518}" type="sibTrans" cxnId="{04F7BA04-C788-7A4B-BC30-02104644D17B}">
      <dgm:prSet/>
      <dgm:spPr>
        <a:ln w="19050">
          <a:solidFill>
            <a:schemeClr val="tx1"/>
          </a:solidFill>
          <a:tailEnd type="arrow" w="lg" len="lg"/>
        </a:ln>
      </dgm:spPr>
      <dgm:t>
        <a:bodyPr/>
        <a:lstStyle/>
        <a:p>
          <a:endParaRPr lang="en-US"/>
        </a:p>
      </dgm:t>
    </dgm:pt>
    <dgm:pt modelId="{0885970D-7BFE-D34A-A8C8-ECD0A75C1BB1}">
      <dgm:prSet phldrT="[Text]" custT="1"/>
      <dgm:spPr>
        <a:solidFill>
          <a:schemeClr val="bg1">
            <a:lumMod val="95000"/>
          </a:schemeClr>
        </a:solidFill>
      </dgm:spPr>
      <dgm:t>
        <a:bodyPr/>
        <a:lstStyle/>
        <a:p>
          <a:r>
            <a:rPr lang="en-US" sz="1600" b="1" dirty="0">
              <a:solidFill>
                <a:schemeClr val="tx1"/>
              </a:solidFill>
            </a:rPr>
            <a:t>Analysis</a:t>
          </a:r>
        </a:p>
        <a:p>
          <a:r>
            <a:rPr lang="en-US" sz="1400" b="0" dirty="0">
              <a:solidFill>
                <a:schemeClr val="tx1"/>
              </a:solidFill>
            </a:rPr>
            <a:t>Chapters 6-8</a:t>
          </a:r>
        </a:p>
      </dgm:t>
    </dgm:pt>
    <dgm:pt modelId="{00178A6D-A72B-AD40-B9A0-C5A0CD843948}" type="parTrans" cxnId="{683666E0-E9FC-B54C-9076-F03858654ACE}">
      <dgm:prSet/>
      <dgm:spPr/>
      <dgm:t>
        <a:bodyPr/>
        <a:lstStyle/>
        <a:p>
          <a:endParaRPr lang="en-US"/>
        </a:p>
      </dgm:t>
    </dgm:pt>
    <dgm:pt modelId="{8BE23543-6AFB-4240-97C1-4D2D98713C6E}" type="sibTrans" cxnId="{683666E0-E9FC-B54C-9076-F03858654ACE}">
      <dgm:prSet/>
      <dgm:spPr>
        <a:ln w="19050">
          <a:solidFill>
            <a:schemeClr val="tx1"/>
          </a:solidFill>
          <a:tailEnd type="arrow" w="lg" len="lg"/>
        </a:ln>
      </dgm:spPr>
      <dgm:t>
        <a:bodyPr/>
        <a:lstStyle/>
        <a:p>
          <a:endParaRPr lang="en-US"/>
        </a:p>
      </dgm:t>
    </dgm:pt>
    <dgm:pt modelId="{01CFC1FA-EEF2-8949-85B9-40CE3E961443}">
      <dgm:prSet phldrT="[Text]" custT="1"/>
      <dgm:spPr>
        <a:solidFill>
          <a:schemeClr val="bg1">
            <a:lumMod val="95000"/>
          </a:schemeClr>
        </a:solidFill>
      </dgm:spPr>
      <dgm:t>
        <a:bodyPr/>
        <a:lstStyle/>
        <a:p>
          <a:r>
            <a:rPr lang="en-US" sz="1600" b="1" dirty="0">
              <a:solidFill>
                <a:schemeClr val="tx1"/>
              </a:solidFill>
            </a:rPr>
            <a:t>Design</a:t>
          </a:r>
        </a:p>
        <a:p>
          <a:r>
            <a:rPr lang="en-US" sz="1400" b="0" dirty="0">
              <a:solidFill>
                <a:schemeClr val="tx1"/>
              </a:solidFill>
            </a:rPr>
            <a:t>Chapters 9-11</a:t>
          </a:r>
        </a:p>
      </dgm:t>
    </dgm:pt>
    <dgm:pt modelId="{F77AA824-172B-B645-B0BB-F428DCC021CE}" type="parTrans" cxnId="{53B31AAD-F1D5-224E-A381-E17A64D24B4E}">
      <dgm:prSet/>
      <dgm:spPr/>
      <dgm:t>
        <a:bodyPr/>
        <a:lstStyle/>
        <a:p>
          <a:endParaRPr lang="en-US"/>
        </a:p>
      </dgm:t>
    </dgm:pt>
    <dgm:pt modelId="{B77578FA-F779-4E48-9FB3-6CE8CBAFC6A1}" type="sibTrans" cxnId="{53B31AAD-F1D5-224E-A381-E17A64D24B4E}">
      <dgm:prSet/>
      <dgm:spPr>
        <a:ln w="19050">
          <a:solidFill>
            <a:schemeClr val="tx1"/>
          </a:solidFill>
          <a:tailEnd type="arrow" w="lg" len="lg"/>
        </a:ln>
      </dgm:spPr>
      <dgm:t>
        <a:bodyPr/>
        <a:lstStyle/>
        <a:p>
          <a:endParaRPr lang="en-US"/>
        </a:p>
      </dgm:t>
    </dgm:pt>
    <dgm:pt modelId="{42834E6C-2715-3941-BB0E-B6C03C9E39ED}">
      <dgm:prSet phldrT="[Text]" custT="1"/>
      <dgm:spPr>
        <a:solidFill>
          <a:schemeClr val="bg1">
            <a:lumMod val="95000"/>
          </a:schemeClr>
        </a:solidFill>
      </dgm:spPr>
      <dgm:t>
        <a:bodyPr lIns="0" rIns="0"/>
        <a:lstStyle/>
        <a:p>
          <a:r>
            <a:rPr lang="en-US" sz="1600" b="1" dirty="0">
              <a:solidFill>
                <a:schemeClr val="tx1"/>
              </a:solidFill>
            </a:rPr>
            <a:t>Implementation</a:t>
          </a:r>
        </a:p>
        <a:p>
          <a:r>
            <a:rPr lang="en-US" sz="1400" b="0" dirty="0">
              <a:solidFill>
                <a:schemeClr val="tx1"/>
              </a:solidFill>
            </a:rPr>
            <a:t>Chapter 12</a:t>
          </a:r>
        </a:p>
      </dgm:t>
    </dgm:pt>
    <dgm:pt modelId="{D3F46788-872C-DE42-A3E7-1D48F429EF9C}" type="parTrans" cxnId="{552FC99F-62AD-8449-B0CF-16FB97BCFC7E}">
      <dgm:prSet/>
      <dgm:spPr/>
      <dgm:t>
        <a:bodyPr/>
        <a:lstStyle/>
        <a:p>
          <a:endParaRPr lang="en-US"/>
        </a:p>
      </dgm:t>
    </dgm:pt>
    <dgm:pt modelId="{F9708C7B-C23E-B44F-9358-6DD62F5CDB67}" type="sibTrans" cxnId="{552FC99F-62AD-8449-B0CF-16FB97BCFC7E}">
      <dgm:prSet/>
      <dgm:spPr>
        <a:ln w="19050">
          <a:solidFill>
            <a:schemeClr val="tx1"/>
          </a:solidFill>
          <a:tailEnd type="arrow" w="lg" len="lg"/>
        </a:ln>
      </dgm:spPr>
      <dgm:t>
        <a:bodyPr/>
        <a:lstStyle/>
        <a:p>
          <a:endParaRPr lang="en-US"/>
        </a:p>
      </dgm:t>
    </dgm:pt>
    <dgm:pt modelId="{97C85C93-31FE-EB42-9DE4-429571997541}">
      <dgm:prSet phldrT="[Text]" custT="1"/>
      <dgm:spPr>
        <a:solidFill>
          <a:schemeClr val="bg1">
            <a:lumMod val="95000"/>
          </a:schemeClr>
        </a:solidFill>
      </dgm:spPr>
      <dgm:t>
        <a:bodyPr/>
        <a:lstStyle/>
        <a:p>
          <a:r>
            <a:rPr lang="en-US" sz="1600" b="1" dirty="0">
              <a:solidFill>
                <a:sysClr val="windowText" lastClr="000000"/>
              </a:solidFill>
            </a:rPr>
            <a:t>Maintenance</a:t>
          </a:r>
        </a:p>
        <a:p>
          <a:r>
            <a:rPr lang="en-US" sz="1400" b="0" dirty="0">
              <a:solidFill>
                <a:sysClr val="windowText" lastClr="000000"/>
              </a:solidFill>
            </a:rPr>
            <a:t>Chapter 12</a:t>
          </a:r>
        </a:p>
      </dgm:t>
    </dgm:pt>
    <dgm:pt modelId="{8DF97C50-6AD3-AD43-A794-EE19A4BCC3C8}" type="parTrans" cxnId="{29097275-2B4E-C049-B59E-A490BA7430E5}">
      <dgm:prSet/>
      <dgm:spPr/>
      <dgm:t>
        <a:bodyPr/>
        <a:lstStyle/>
        <a:p>
          <a:endParaRPr lang="en-US"/>
        </a:p>
      </dgm:t>
    </dgm:pt>
    <dgm:pt modelId="{5E790233-569B-6E4C-8046-1CC23201B23F}" type="sibTrans" cxnId="{29097275-2B4E-C049-B59E-A490BA7430E5}">
      <dgm:prSet/>
      <dgm:spPr>
        <a:ln w="19050">
          <a:solidFill>
            <a:schemeClr val="tx1"/>
          </a:solidFill>
          <a:tailEnd type="arrow" w="lg" len="lg"/>
        </a:ln>
      </dgm:spPr>
      <dgm:t>
        <a:bodyPr/>
        <a:lstStyle/>
        <a:p>
          <a:endParaRPr lang="en-US"/>
        </a:p>
      </dgm:t>
    </dgm:pt>
    <dgm:pt modelId="{73CDC848-C5DB-8344-BE77-BEC2A08A7DA8}" type="pres">
      <dgm:prSet presAssocID="{703A3F1A-8AA9-D246-8C26-38957087DE2A}" presName="cycle" presStyleCnt="0">
        <dgm:presLayoutVars>
          <dgm:dir/>
          <dgm:resizeHandles val="exact"/>
        </dgm:presLayoutVars>
      </dgm:prSet>
      <dgm:spPr/>
    </dgm:pt>
    <dgm:pt modelId="{70B4F654-FADB-2E4B-B212-884B605DE6CC}" type="pres">
      <dgm:prSet presAssocID="{7FFD1173-370F-BD44-9E1F-A44B466411C9}" presName="node" presStyleLbl="node1" presStyleIdx="0" presStyleCnt="5">
        <dgm:presLayoutVars>
          <dgm:bulletEnabled val="1"/>
        </dgm:presLayoutVars>
      </dgm:prSet>
      <dgm:spPr/>
    </dgm:pt>
    <dgm:pt modelId="{42A602A7-3B75-C648-A987-04EF40B358E7}" type="pres">
      <dgm:prSet presAssocID="{7FFD1173-370F-BD44-9E1F-A44B466411C9}" presName="spNode" presStyleCnt="0"/>
      <dgm:spPr/>
    </dgm:pt>
    <dgm:pt modelId="{EB6F1598-2C74-C64B-ACA6-F67FD67F0527}" type="pres">
      <dgm:prSet presAssocID="{57277E4B-B285-9C49-9C96-F6718635B518}" presName="sibTrans" presStyleLbl="sibTrans1D1" presStyleIdx="0" presStyleCnt="5"/>
      <dgm:spPr/>
    </dgm:pt>
    <dgm:pt modelId="{6B397C1F-8B3F-E24F-8F99-2650DFD17F29}" type="pres">
      <dgm:prSet presAssocID="{0885970D-7BFE-D34A-A8C8-ECD0A75C1BB1}" presName="node" presStyleLbl="node1" presStyleIdx="1" presStyleCnt="5">
        <dgm:presLayoutVars>
          <dgm:bulletEnabled val="1"/>
        </dgm:presLayoutVars>
      </dgm:prSet>
      <dgm:spPr/>
    </dgm:pt>
    <dgm:pt modelId="{7BF5B54A-9058-1B48-8D8D-8C8E5CCCDF1D}" type="pres">
      <dgm:prSet presAssocID="{0885970D-7BFE-D34A-A8C8-ECD0A75C1BB1}" presName="spNode" presStyleCnt="0"/>
      <dgm:spPr/>
    </dgm:pt>
    <dgm:pt modelId="{A0AF24B2-66BE-494C-96D3-8E5F824903EE}" type="pres">
      <dgm:prSet presAssocID="{8BE23543-6AFB-4240-97C1-4D2D98713C6E}" presName="sibTrans" presStyleLbl="sibTrans1D1" presStyleIdx="1" presStyleCnt="5"/>
      <dgm:spPr/>
    </dgm:pt>
    <dgm:pt modelId="{F54E5C48-1CFA-AA4A-9B58-E203C968F654}" type="pres">
      <dgm:prSet presAssocID="{01CFC1FA-EEF2-8949-85B9-40CE3E961443}" presName="node" presStyleLbl="node1" presStyleIdx="2" presStyleCnt="5">
        <dgm:presLayoutVars>
          <dgm:bulletEnabled val="1"/>
        </dgm:presLayoutVars>
      </dgm:prSet>
      <dgm:spPr/>
    </dgm:pt>
    <dgm:pt modelId="{B9E20098-E8F1-FF40-A296-B984C3C64323}" type="pres">
      <dgm:prSet presAssocID="{01CFC1FA-EEF2-8949-85B9-40CE3E961443}" presName="spNode" presStyleCnt="0"/>
      <dgm:spPr/>
    </dgm:pt>
    <dgm:pt modelId="{EB8D15FD-E340-AE44-87C2-B8EE2F33A92F}" type="pres">
      <dgm:prSet presAssocID="{B77578FA-F779-4E48-9FB3-6CE8CBAFC6A1}" presName="sibTrans" presStyleLbl="sibTrans1D1" presStyleIdx="2" presStyleCnt="5"/>
      <dgm:spPr/>
    </dgm:pt>
    <dgm:pt modelId="{284689DC-AEA5-7F47-A4A7-81930BF16C1D}" type="pres">
      <dgm:prSet presAssocID="{42834E6C-2715-3941-BB0E-B6C03C9E39ED}" presName="node" presStyleLbl="node1" presStyleIdx="3" presStyleCnt="5" custScaleX="103589">
        <dgm:presLayoutVars>
          <dgm:bulletEnabled val="1"/>
        </dgm:presLayoutVars>
      </dgm:prSet>
      <dgm:spPr/>
    </dgm:pt>
    <dgm:pt modelId="{4DFE13AA-20C4-F941-AD79-282660BA02F6}" type="pres">
      <dgm:prSet presAssocID="{42834E6C-2715-3941-BB0E-B6C03C9E39ED}" presName="spNode" presStyleCnt="0"/>
      <dgm:spPr/>
    </dgm:pt>
    <dgm:pt modelId="{F17ED37C-5C01-FB40-962E-7BB1526E7F7A}" type="pres">
      <dgm:prSet presAssocID="{F9708C7B-C23E-B44F-9358-6DD62F5CDB67}" presName="sibTrans" presStyleLbl="sibTrans1D1" presStyleIdx="3" presStyleCnt="5"/>
      <dgm:spPr/>
    </dgm:pt>
    <dgm:pt modelId="{FB0403D2-8E9D-B241-8DA8-C7D502B4367C}" type="pres">
      <dgm:prSet presAssocID="{97C85C93-31FE-EB42-9DE4-429571997541}" presName="node" presStyleLbl="node1" presStyleIdx="4" presStyleCnt="5">
        <dgm:presLayoutVars>
          <dgm:bulletEnabled val="1"/>
        </dgm:presLayoutVars>
      </dgm:prSet>
      <dgm:spPr/>
    </dgm:pt>
    <dgm:pt modelId="{CD0F2761-0C45-B14E-BED0-12497AB04C4D}" type="pres">
      <dgm:prSet presAssocID="{97C85C93-31FE-EB42-9DE4-429571997541}" presName="spNode" presStyleCnt="0"/>
      <dgm:spPr/>
    </dgm:pt>
    <dgm:pt modelId="{31FDEAC7-E0CA-B345-8D2E-E9EB96F4C40A}" type="pres">
      <dgm:prSet presAssocID="{5E790233-569B-6E4C-8046-1CC23201B23F}" presName="sibTrans" presStyleLbl="sibTrans1D1" presStyleIdx="4" presStyleCnt="5"/>
      <dgm:spPr/>
    </dgm:pt>
  </dgm:ptLst>
  <dgm:cxnLst>
    <dgm:cxn modelId="{04F7BA04-C788-7A4B-BC30-02104644D17B}" srcId="{703A3F1A-8AA9-D246-8C26-38957087DE2A}" destId="{7FFD1173-370F-BD44-9E1F-A44B466411C9}" srcOrd="0" destOrd="0" parTransId="{22C2F6B9-9CBF-7E4F-979D-440D9B3587F9}" sibTransId="{57277E4B-B285-9C49-9C96-F6718635B518}"/>
    <dgm:cxn modelId="{C057F509-E641-AA46-8398-37DB3D392699}" type="presOf" srcId="{8BE23543-6AFB-4240-97C1-4D2D98713C6E}" destId="{A0AF24B2-66BE-494C-96D3-8E5F824903EE}" srcOrd="0" destOrd="0" presId="urn:microsoft.com/office/officeart/2005/8/layout/cycle5"/>
    <dgm:cxn modelId="{7249040C-986B-A74B-9CA9-61F2B644DE90}" type="presOf" srcId="{97C85C93-31FE-EB42-9DE4-429571997541}" destId="{FB0403D2-8E9D-B241-8DA8-C7D502B4367C}" srcOrd="0" destOrd="0" presId="urn:microsoft.com/office/officeart/2005/8/layout/cycle5"/>
    <dgm:cxn modelId="{FB147A10-1586-E04F-85DA-3B483DD71147}" type="presOf" srcId="{01CFC1FA-EEF2-8949-85B9-40CE3E961443}" destId="{F54E5C48-1CFA-AA4A-9B58-E203C968F654}" srcOrd="0" destOrd="0" presId="urn:microsoft.com/office/officeart/2005/8/layout/cycle5"/>
    <dgm:cxn modelId="{1306372A-BB44-2242-87E3-70EB1FCC37CE}" type="presOf" srcId="{F9708C7B-C23E-B44F-9358-6DD62F5CDB67}" destId="{F17ED37C-5C01-FB40-962E-7BB1526E7F7A}" srcOrd="0" destOrd="0" presId="urn:microsoft.com/office/officeart/2005/8/layout/cycle5"/>
    <dgm:cxn modelId="{9F8AFB2F-B9E5-1846-B40F-D52327D4F2D0}" type="presOf" srcId="{42834E6C-2715-3941-BB0E-B6C03C9E39ED}" destId="{284689DC-AEA5-7F47-A4A7-81930BF16C1D}" srcOrd="0" destOrd="0" presId="urn:microsoft.com/office/officeart/2005/8/layout/cycle5"/>
    <dgm:cxn modelId="{E5C54344-F388-9E42-AA5D-ADB3A3490BEA}" type="presOf" srcId="{7FFD1173-370F-BD44-9E1F-A44B466411C9}" destId="{70B4F654-FADB-2E4B-B212-884B605DE6CC}" srcOrd="0" destOrd="0" presId="urn:microsoft.com/office/officeart/2005/8/layout/cycle5"/>
    <dgm:cxn modelId="{AB698A5F-99C4-1042-B877-4519EF34AE6D}" type="presOf" srcId="{57277E4B-B285-9C49-9C96-F6718635B518}" destId="{EB6F1598-2C74-C64B-ACA6-F67FD67F0527}" srcOrd="0" destOrd="0" presId="urn:microsoft.com/office/officeart/2005/8/layout/cycle5"/>
    <dgm:cxn modelId="{D279D06A-B639-C241-9359-97AB0E9771C6}" type="presOf" srcId="{703A3F1A-8AA9-D246-8C26-38957087DE2A}" destId="{73CDC848-C5DB-8344-BE77-BEC2A08A7DA8}" srcOrd="0" destOrd="0" presId="urn:microsoft.com/office/officeart/2005/8/layout/cycle5"/>
    <dgm:cxn modelId="{29097275-2B4E-C049-B59E-A490BA7430E5}" srcId="{703A3F1A-8AA9-D246-8C26-38957087DE2A}" destId="{97C85C93-31FE-EB42-9DE4-429571997541}" srcOrd="4" destOrd="0" parTransId="{8DF97C50-6AD3-AD43-A794-EE19A4BCC3C8}" sibTransId="{5E790233-569B-6E4C-8046-1CC23201B23F}"/>
    <dgm:cxn modelId="{5B44968C-4069-0347-ACB0-4FF2D8A7C70A}" type="presOf" srcId="{B77578FA-F779-4E48-9FB3-6CE8CBAFC6A1}" destId="{EB8D15FD-E340-AE44-87C2-B8EE2F33A92F}" srcOrd="0" destOrd="0" presId="urn:microsoft.com/office/officeart/2005/8/layout/cycle5"/>
    <dgm:cxn modelId="{552FC99F-62AD-8449-B0CF-16FB97BCFC7E}" srcId="{703A3F1A-8AA9-D246-8C26-38957087DE2A}" destId="{42834E6C-2715-3941-BB0E-B6C03C9E39ED}" srcOrd="3" destOrd="0" parTransId="{D3F46788-872C-DE42-A3E7-1D48F429EF9C}" sibTransId="{F9708C7B-C23E-B44F-9358-6DD62F5CDB67}"/>
    <dgm:cxn modelId="{53B31AAD-F1D5-224E-A381-E17A64D24B4E}" srcId="{703A3F1A-8AA9-D246-8C26-38957087DE2A}" destId="{01CFC1FA-EEF2-8949-85B9-40CE3E961443}" srcOrd="2" destOrd="0" parTransId="{F77AA824-172B-B645-B0BB-F428DCC021CE}" sibTransId="{B77578FA-F779-4E48-9FB3-6CE8CBAFC6A1}"/>
    <dgm:cxn modelId="{D5743FAD-CD31-D34E-A202-81BEF8A2FC02}" type="presOf" srcId="{5E790233-569B-6E4C-8046-1CC23201B23F}" destId="{31FDEAC7-E0CA-B345-8D2E-E9EB96F4C40A}" srcOrd="0" destOrd="0" presId="urn:microsoft.com/office/officeart/2005/8/layout/cycle5"/>
    <dgm:cxn modelId="{0FDEDEDF-2861-5447-B6A2-268590ACBC02}" type="presOf" srcId="{0885970D-7BFE-D34A-A8C8-ECD0A75C1BB1}" destId="{6B397C1F-8B3F-E24F-8F99-2650DFD17F29}" srcOrd="0" destOrd="0" presId="urn:microsoft.com/office/officeart/2005/8/layout/cycle5"/>
    <dgm:cxn modelId="{683666E0-E9FC-B54C-9076-F03858654ACE}" srcId="{703A3F1A-8AA9-D246-8C26-38957087DE2A}" destId="{0885970D-7BFE-D34A-A8C8-ECD0A75C1BB1}" srcOrd="1" destOrd="0" parTransId="{00178A6D-A72B-AD40-B9A0-C5A0CD843948}" sibTransId="{8BE23543-6AFB-4240-97C1-4D2D98713C6E}"/>
    <dgm:cxn modelId="{FBA33284-5068-684A-85AF-D30F79B15414}" type="presParOf" srcId="{73CDC848-C5DB-8344-BE77-BEC2A08A7DA8}" destId="{70B4F654-FADB-2E4B-B212-884B605DE6CC}" srcOrd="0" destOrd="0" presId="urn:microsoft.com/office/officeart/2005/8/layout/cycle5"/>
    <dgm:cxn modelId="{D39DB1CB-AFD7-444A-97E1-ADFCC4E37763}" type="presParOf" srcId="{73CDC848-C5DB-8344-BE77-BEC2A08A7DA8}" destId="{42A602A7-3B75-C648-A987-04EF40B358E7}" srcOrd="1" destOrd="0" presId="urn:microsoft.com/office/officeart/2005/8/layout/cycle5"/>
    <dgm:cxn modelId="{0B446FA6-661A-6C44-809E-5DBF74263CB2}" type="presParOf" srcId="{73CDC848-C5DB-8344-BE77-BEC2A08A7DA8}" destId="{EB6F1598-2C74-C64B-ACA6-F67FD67F0527}" srcOrd="2" destOrd="0" presId="urn:microsoft.com/office/officeart/2005/8/layout/cycle5"/>
    <dgm:cxn modelId="{0798F683-04F8-504C-9B58-4BBC72EE5954}" type="presParOf" srcId="{73CDC848-C5DB-8344-BE77-BEC2A08A7DA8}" destId="{6B397C1F-8B3F-E24F-8F99-2650DFD17F29}" srcOrd="3" destOrd="0" presId="urn:microsoft.com/office/officeart/2005/8/layout/cycle5"/>
    <dgm:cxn modelId="{E379B21F-7A3C-C94A-B326-3BF1B5832700}" type="presParOf" srcId="{73CDC848-C5DB-8344-BE77-BEC2A08A7DA8}" destId="{7BF5B54A-9058-1B48-8D8D-8C8E5CCCDF1D}" srcOrd="4" destOrd="0" presId="urn:microsoft.com/office/officeart/2005/8/layout/cycle5"/>
    <dgm:cxn modelId="{6E9AA9F2-4A94-4F4B-97BA-D81E81277666}" type="presParOf" srcId="{73CDC848-C5DB-8344-BE77-BEC2A08A7DA8}" destId="{A0AF24B2-66BE-494C-96D3-8E5F824903EE}" srcOrd="5" destOrd="0" presId="urn:microsoft.com/office/officeart/2005/8/layout/cycle5"/>
    <dgm:cxn modelId="{D8686DC7-EE87-5E40-9115-1464E85A4257}" type="presParOf" srcId="{73CDC848-C5DB-8344-BE77-BEC2A08A7DA8}" destId="{F54E5C48-1CFA-AA4A-9B58-E203C968F654}" srcOrd="6" destOrd="0" presId="urn:microsoft.com/office/officeart/2005/8/layout/cycle5"/>
    <dgm:cxn modelId="{42F017CB-7365-8648-B796-7E08F640C543}" type="presParOf" srcId="{73CDC848-C5DB-8344-BE77-BEC2A08A7DA8}" destId="{B9E20098-E8F1-FF40-A296-B984C3C64323}" srcOrd="7" destOrd="0" presId="urn:microsoft.com/office/officeart/2005/8/layout/cycle5"/>
    <dgm:cxn modelId="{AF366433-4307-D34A-889A-1862839BD9D9}" type="presParOf" srcId="{73CDC848-C5DB-8344-BE77-BEC2A08A7DA8}" destId="{EB8D15FD-E340-AE44-87C2-B8EE2F33A92F}" srcOrd="8" destOrd="0" presId="urn:microsoft.com/office/officeart/2005/8/layout/cycle5"/>
    <dgm:cxn modelId="{E7C13AD9-8F2C-7146-A025-FFDB9A734993}" type="presParOf" srcId="{73CDC848-C5DB-8344-BE77-BEC2A08A7DA8}" destId="{284689DC-AEA5-7F47-A4A7-81930BF16C1D}" srcOrd="9" destOrd="0" presId="urn:microsoft.com/office/officeart/2005/8/layout/cycle5"/>
    <dgm:cxn modelId="{96DDA07C-43C1-8349-945D-FBAFC649BB20}" type="presParOf" srcId="{73CDC848-C5DB-8344-BE77-BEC2A08A7DA8}" destId="{4DFE13AA-20C4-F941-AD79-282660BA02F6}" srcOrd="10" destOrd="0" presId="urn:microsoft.com/office/officeart/2005/8/layout/cycle5"/>
    <dgm:cxn modelId="{D0F661FA-4574-1B45-958C-A4EEF54065E9}" type="presParOf" srcId="{73CDC848-C5DB-8344-BE77-BEC2A08A7DA8}" destId="{F17ED37C-5C01-FB40-962E-7BB1526E7F7A}" srcOrd="11" destOrd="0" presId="urn:microsoft.com/office/officeart/2005/8/layout/cycle5"/>
    <dgm:cxn modelId="{48B7C6B1-4FD4-AC47-979D-47739F785C67}" type="presParOf" srcId="{73CDC848-C5DB-8344-BE77-BEC2A08A7DA8}" destId="{FB0403D2-8E9D-B241-8DA8-C7D502B4367C}" srcOrd="12" destOrd="0" presId="urn:microsoft.com/office/officeart/2005/8/layout/cycle5"/>
    <dgm:cxn modelId="{26678F3D-E185-C14E-944C-172A157D48D8}" type="presParOf" srcId="{73CDC848-C5DB-8344-BE77-BEC2A08A7DA8}" destId="{CD0F2761-0C45-B14E-BED0-12497AB04C4D}" srcOrd="13" destOrd="0" presId="urn:microsoft.com/office/officeart/2005/8/layout/cycle5"/>
    <dgm:cxn modelId="{16550F86-B535-B146-B569-2D521FB6FA51}" type="presParOf" srcId="{73CDC848-C5DB-8344-BE77-BEC2A08A7DA8}" destId="{31FDEAC7-E0CA-B345-8D2E-E9EB96F4C40A}" srcOrd="14" destOrd="0" presId="urn:microsoft.com/office/officeart/2005/8/layout/cycle5"/>
  </dgm:cxnLst>
  <dgm:bg>
    <a:noFill/>
  </dgm:bg>
  <dgm:whole>
    <a:ln>
      <a:solidFill>
        <a:schemeClr val="bg1">
          <a:lumMod val="95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3A3F1A-8AA9-D246-8C26-38957087DE2A}" type="doc">
      <dgm:prSet loTypeId="urn:microsoft.com/office/officeart/2005/8/layout/cycle5" loCatId="" qsTypeId="urn:microsoft.com/office/officeart/2005/8/quickstyle/simple1" qsCatId="simple" csTypeId="urn:microsoft.com/office/officeart/2005/8/colors/accent1_2" csCatId="accent1" phldr="1"/>
      <dgm:spPr/>
      <dgm:t>
        <a:bodyPr/>
        <a:lstStyle/>
        <a:p>
          <a:endParaRPr lang="en-US"/>
        </a:p>
      </dgm:t>
    </dgm:pt>
    <dgm:pt modelId="{7FFD1173-370F-BD44-9E1F-A44B466411C9}">
      <dgm:prSet phldrT="[Text]" custT="1"/>
      <dgm:spPr>
        <a:solidFill>
          <a:srgbClr val="92D050"/>
        </a:solidFill>
        <a:ln>
          <a:solidFill>
            <a:schemeClr val="bg1">
              <a:lumMod val="95000"/>
            </a:schemeClr>
          </a:solidFill>
        </a:ln>
      </dgm:spPr>
      <dgm:t>
        <a:bodyPr/>
        <a:lstStyle/>
        <a:p>
          <a:r>
            <a:rPr lang="en-US" sz="1600" b="1" dirty="0">
              <a:solidFill>
                <a:schemeClr val="tx1"/>
              </a:solidFill>
            </a:rPr>
            <a:t>Planning</a:t>
          </a:r>
        </a:p>
        <a:p>
          <a:r>
            <a:rPr lang="en-US" sz="1400" b="0" dirty="0">
              <a:solidFill>
                <a:schemeClr val="tx1"/>
              </a:solidFill>
            </a:rPr>
            <a:t>Chapters 4-5</a:t>
          </a:r>
        </a:p>
      </dgm:t>
    </dgm:pt>
    <dgm:pt modelId="{22C2F6B9-9CBF-7E4F-979D-440D9B3587F9}" type="parTrans" cxnId="{04F7BA04-C788-7A4B-BC30-02104644D17B}">
      <dgm:prSet/>
      <dgm:spPr/>
      <dgm:t>
        <a:bodyPr/>
        <a:lstStyle/>
        <a:p>
          <a:endParaRPr lang="en-US"/>
        </a:p>
      </dgm:t>
    </dgm:pt>
    <dgm:pt modelId="{57277E4B-B285-9C49-9C96-F6718635B518}" type="sibTrans" cxnId="{04F7BA04-C788-7A4B-BC30-02104644D17B}">
      <dgm:prSet/>
      <dgm:spPr>
        <a:ln w="19050">
          <a:solidFill>
            <a:schemeClr val="tx1"/>
          </a:solidFill>
          <a:tailEnd type="arrow" w="lg" len="lg"/>
        </a:ln>
      </dgm:spPr>
      <dgm:t>
        <a:bodyPr/>
        <a:lstStyle/>
        <a:p>
          <a:endParaRPr lang="en-US"/>
        </a:p>
      </dgm:t>
    </dgm:pt>
    <dgm:pt modelId="{0885970D-7BFE-D34A-A8C8-ECD0A75C1BB1}">
      <dgm:prSet phldrT="[Text]" custT="1"/>
      <dgm:spPr>
        <a:solidFill>
          <a:schemeClr val="bg1">
            <a:lumMod val="95000"/>
          </a:schemeClr>
        </a:solidFill>
      </dgm:spPr>
      <dgm:t>
        <a:bodyPr/>
        <a:lstStyle/>
        <a:p>
          <a:r>
            <a:rPr lang="en-US" sz="1600" b="1" dirty="0">
              <a:solidFill>
                <a:schemeClr val="tx1"/>
              </a:solidFill>
            </a:rPr>
            <a:t>Analysis</a:t>
          </a:r>
        </a:p>
        <a:p>
          <a:r>
            <a:rPr lang="en-US" sz="1400" b="0" dirty="0">
              <a:solidFill>
                <a:schemeClr val="tx1"/>
              </a:solidFill>
            </a:rPr>
            <a:t>Chapters 6-8</a:t>
          </a:r>
        </a:p>
      </dgm:t>
    </dgm:pt>
    <dgm:pt modelId="{00178A6D-A72B-AD40-B9A0-C5A0CD843948}" type="parTrans" cxnId="{683666E0-E9FC-B54C-9076-F03858654ACE}">
      <dgm:prSet/>
      <dgm:spPr/>
      <dgm:t>
        <a:bodyPr/>
        <a:lstStyle/>
        <a:p>
          <a:endParaRPr lang="en-US"/>
        </a:p>
      </dgm:t>
    </dgm:pt>
    <dgm:pt modelId="{8BE23543-6AFB-4240-97C1-4D2D98713C6E}" type="sibTrans" cxnId="{683666E0-E9FC-B54C-9076-F03858654ACE}">
      <dgm:prSet/>
      <dgm:spPr>
        <a:ln w="19050">
          <a:solidFill>
            <a:schemeClr val="tx1"/>
          </a:solidFill>
          <a:tailEnd type="arrow" w="lg" len="lg"/>
        </a:ln>
      </dgm:spPr>
      <dgm:t>
        <a:bodyPr/>
        <a:lstStyle/>
        <a:p>
          <a:endParaRPr lang="en-US"/>
        </a:p>
      </dgm:t>
    </dgm:pt>
    <dgm:pt modelId="{01CFC1FA-EEF2-8949-85B9-40CE3E961443}">
      <dgm:prSet phldrT="[Text]" custT="1"/>
      <dgm:spPr>
        <a:solidFill>
          <a:schemeClr val="bg1">
            <a:lumMod val="95000"/>
          </a:schemeClr>
        </a:solidFill>
      </dgm:spPr>
      <dgm:t>
        <a:bodyPr/>
        <a:lstStyle/>
        <a:p>
          <a:r>
            <a:rPr lang="en-US" sz="1600" b="1" dirty="0">
              <a:solidFill>
                <a:schemeClr val="tx1"/>
              </a:solidFill>
            </a:rPr>
            <a:t>Design</a:t>
          </a:r>
        </a:p>
        <a:p>
          <a:r>
            <a:rPr lang="en-US" sz="1400" b="0" dirty="0">
              <a:solidFill>
                <a:schemeClr val="tx1"/>
              </a:solidFill>
            </a:rPr>
            <a:t>Chapters 9-11</a:t>
          </a:r>
        </a:p>
      </dgm:t>
    </dgm:pt>
    <dgm:pt modelId="{F77AA824-172B-B645-B0BB-F428DCC021CE}" type="parTrans" cxnId="{53B31AAD-F1D5-224E-A381-E17A64D24B4E}">
      <dgm:prSet/>
      <dgm:spPr/>
      <dgm:t>
        <a:bodyPr/>
        <a:lstStyle/>
        <a:p>
          <a:endParaRPr lang="en-US"/>
        </a:p>
      </dgm:t>
    </dgm:pt>
    <dgm:pt modelId="{B77578FA-F779-4E48-9FB3-6CE8CBAFC6A1}" type="sibTrans" cxnId="{53B31AAD-F1D5-224E-A381-E17A64D24B4E}">
      <dgm:prSet/>
      <dgm:spPr>
        <a:ln w="19050">
          <a:solidFill>
            <a:schemeClr val="tx1"/>
          </a:solidFill>
          <a:tailEnd type="arrow" w="lg" len="lg"/>
        </a:ln>
      </dgm:spPr>
      <dgm:t>
        <a:bodyPr/>
        <a:lstStyle/>
        <a:p>
          <a:endParaRPr lang="en-US"/>
        </a:p>
      </dgm:t>
    </dgm:pt>
    <dgm:pt modelId="{42834E6C-2715-3941-BB0E-B6C03C9E39ED}">
      <dgm:prSet phldrT="[Text]" custT="1"/>
      <dgm:spPr>
        <a:solidFill>
          <a:schemeClr val="bg1">
            <a:lumMod val="95000"/>
          </a:schemeClr>
        </a:solidFill>
      </dgm:spPr>
      <dgm:t>
        <a:bodyPr lIns="0" rIns="0"/>
        <a:lstStyle/>
        <a:p>
          <a:r>
            <a:rPr lang="en-US" sz="1600" b="1" dirty="0">
              <a:solidFill>
                <a:schemeClr val="tx1"/>
              </a:solidFill>
            </a:rPr>
            <a:t>Implementation</a:t>
          </a:r>
        </a:p>
        <a:p>
          <a:r>
            <a:rPr lang="en-US" sz="1400" b="0" dirty="0">
              <a:solidFill>
                <a:schemeClr val="tx1"/>
              </a:solidFill>
            </a:rPr>
            <a:t>Chapter 12</a:t>
          </a:r>
        </a:p>
      </dgm:t>
    </dgm:pt>
    <dgm:pt modelId="{D3F46788-872C-DE42-A3E7-1D48F429EF9C}" type="parTrans" cxnId="{552FC99F-62AD-8449-B0CF-16FB97BCFC7E}">
      <dgm:prSet/>
      <dgm:spPr/>
      <dgm:t>
        <a:bodyPr/>
        <a:lstStyle/>
        <a:p>
          <a:endParaRPr lang="en-US"/>
        </a:p>
      </dgm:t>
    </dgm:pt>
    <dgm:pt modelId="{F9708C7B-C23E-B44F-9358-6DD62F5CDB67}" type="sibTrans" cxnId="{552FC99F-62AD-8449-B0CF-16FB97BCFC7E}">
      <dgm:prSet/>
      <dgm:spPr>
        <a:ln w="19050">
          <a:solidFill>
            <a:schemeClr val="tx1"/>
          </a:solidFill>
          <a:tailEnd type="arrow" w="lg" len="lg"/>
        </a:ln>
      </dgm:spPr>
      <dgm:t>
        <a:bodyPr/>
        <a:lstStyle/>
        <a:p>
          <a:endParaRPr lang="en-US"/>
        </a:p>
      </dgm:t>
    </dgm:pt>
    <dgm:pt modelId="{97C85C93-31FE-EB42-9DE4-429571997541}">
      <dgm:prSet phldrT="[Text]" custT="1"/>
      <dgm:spPr>
        <a:solidFill>
          <a:schemeClr val="bg1">
            <a:lumMod val="95000"/>
          </a:schemeClr>
        </a:solidFill>
      </dgm:spPr>
      <dgm:t>
        <a:bodyPr/>
        <a:lstStyle/>
        <a:p>
          <a:r>
            <a:rPr lang="en-US" sz="1600" b="1" dirty="0">
              <a:solidFill>
                <a:sysClr val="windowText" lastClr="000000"/>
              </a:solidFill>
            </a:rPr>
            <a:t>Maintenance</a:t>
          </a:r>
        </a:p>
        <a:p>
          <a:r>
            <a:rPr lang="en-US" sz="1400" b="0" dirty="0">
              <a:solidFill>
                <a:sysClr val="windowText" lastClr="000000"/>
              </a:solidFill>
            </a:rPr>
            <a:t>Chapter 12</a:t>
          </a:r>
        </a:p>
      </dgm:t>
    </dgm:pt>
    <dgm:pt modelId="{8DF97C50-6AD3-AD43-A794-EE19A4BCC3C8}" type="parTrans" cxnId="{29097275-2B4E-C049-B59E-A490BA7430E5}">
      <dgm:prSet/>
      <dgm:spPr/>
      <dgm:t>
        <a:bodyPr/>
        <a:lstStyle/>
        <a:p>
          <a:endParaRPr lang="en-US"/>
        </a:p>
      </dgm:t>
    </dgm:pt>
    <dgm:pt modelId="{5E790233-569B-6E4C-8046-1CC23201B23F}" type="sibTrans" cxnId="{29097275-2B4E-C049-B59E-A490BA7430E5}">
      <dgm:prSet/>
      <dgm:spPr>
        <a:ln w="19050">
          <a:solidFill>
            <a:schemeClr val="tx1"/>
          </a:solidFill>
          <a:tailEnd type="arrow" w="lg" len="lg"/>
        </a:ln>
      </dgm:spPr>
      <dgm:t>
        <a:bodyPr/>
        <a:lstStyle/>
        <a:p>
          <a:endParaRPr lang="en-US"/>
        </a:p>
      </dgm:t>
    </dgm:pt>
    <dgm:pt modelId="{73CDC848-C5DB-8344-BE77-BEC2A08A7DA8}" type="pres">
      <dgm:prSet presAssocID="{703A3F1A-8AA9-D246-8C26-38957087DE2A}" presName="cycle" presStyleCnt="0">
        <dgm:presLayoutVars>
          <dgm:dir/>
          <dgm:resizeHandles val="exact"/>
        </dgm:presLayoutVars>
      </dgm:prSet>
      <dgm:spPr/>
    </dgm:pt>
    <dgm:pt modelId="{70B4F654-FADB-2E4B-B212-884B605DE6CC}" type="pres">
      <dgm:prSet presAssocID="{7FFD1173-370F-BD44-9E1F-A44B466411C9}" presName="node" presStyleLbl="node1" presStyleIdx="0" presStyleCnt="5">
        <dgm:presLayoutVars>
          <dgm:bulletEnabled val="1"/>
        </dgm:presLayoutVars>
      </dgm:prSet>
      <dgm:spPr/>
    </dgm:pt>
    <dgm:pt modelId="{42A602A7-3B75-C648-A987-04EF40B358E7}" type="pres">
      <dgm:prSet presAssocID="{7FFD1173-370F-BD44-9E1F-A44B466411C9}" presName="spNode" presStyleCnt="0"/>
      <dgm:spPr/>
    </dgm:pt>
    <dgm:pt modelId="{EB6F1598-2C74-C64B-ACA6-F67FD67F0527}" type="pres">
      <dgm:prSet presAssocID="{57277E4B-B285-9C49-9C96-F6718635B518}" presName="sibTrans" presStyleLbl="sibTrans1D1" presStyleIdx="0" presStyleCnt="5"/>
      <dgm:spPr/>
    </dgm:pt>
    <dgm:pt modelId="{6B397C1F-8B3F-E24F-8F99-2650DFD17F29}" type="pres">
      <dgm:prSet presAssocID="{0885970D-7BFE-D34A-A8C8-ECD0A75C1BB1}" presName="node" presStyleLbl="node1" presStyleIdx="1" presStyleCnt="5">
        <dgm:presLayoutVars>
          <dgm:bulletEnabled val="1"/>
        </dgm:presLayoutVars>
      </dgm:prSet>
      <dgm:spPr/>
    </dgm:pt>
    <dgm:pt modelId="{7BF5B54A-9058-1B48-8D8D-8C8E5CCCDF1D}" type="pres">
      <dgm:prSet presAssocID="{0885970D-7BFE-D34A-A8C8-ECD0A75C1BB1}" presName="spNode" presStyleCnt="0"/>
      <dgm:spPr/>
    </dgm:pt>
    <dgm:pt modelId="{A0AF24B2-66BE-494C-96D3-8E5F824903EE}" type="pres">
      <dgm:prSet presAssocID="{8BE23543-6AFB-4240-97C1-4D2D98713C6E}" presName="sibTrans" presStyleLbl="sibTrans1D1" presStyleIdx="1" presStyleCnt="5"/>
      <dgm:spPr/>
    </dgm:pt>
    <dgm:pt modelId="{F54E5C48-1CFA-AA4A-9B58-E203C968F654}" type="pres">
      <dgm:prSet presAssocID="{01CFC1FA-EEF2-8949-85B9-40CE3E961443}" presName="node" presStyleLbl="node1" presStyleIdx="2" presStyleCnt="5">
        <dgm:presLayoutVars>
          <dgm:bulletEnabled val="1"/>
        </dgm:presLayoutVars>
      </dgm:prSet>
      <dgm:spPr/>
    </dgm:pt>
    <dgm:pt modelId="{B9E20098-E8F1-FF40-A296-B984C3C64323}" type="pres">
      <dgm:prSet presAssocID="{01CFC1FA-EEF2-8949-85B9-40CE3E961443}" presName="spNode" presStyleCnt="0"/>
      <dgm:spPr/>
    </dgm:pt>
    <dgm:pt modelId="{EB8D15FD-E340-AE44-87C2-B8EE2F33A92F}" type="pres">
      <dgm:prSet presAssocID="{B77578FA-F779-4E48-9FB3-6CE8CBAFC6A1}" presName="sibTrans" presStyleLbl="sibTrans1D1" presStyleIdx="2" presStyleCnt="5"/>
      <dgm:spPr/>
    </dgm:pt>
    <dgm:pt modelId="{284689DC-AEA5-7F47-A4A7-81930BF16C1D}" type="pres">
      <dgm:prSet presAssocID="{42834E6C-2715-3941-BB0E-B6C03C9E39ED}" presName="node" presStyleLbl="node1" presStyleIdx="3" presStyleCnt="5" custScaleX="103589">
        <dgm:presLayoutVars>
          <dgm:bulletEnabled val="1"/>
        </dgm:presLayoutVars>
      </dgm:prSet>
      <dgm:spPr/>
    </dgm:pt>
    <dgm:pt modelId="{4DFE13AA-20C4-F941-AD79-282660BA02F6}" type="pres">
      <dgm:prSet presAssocID="{42834E6C-2715-3941-BB0E-B6C03C9E39ED}" presName="spNode" presStyleCnt="0"/>
      <dgm:spPr/>
    </dgm:pt>
    <dgm:pt modelId="{F17ED37C-5C01-FB40-962E-7BB1526E7F7A}" type="pres">
      <dgm:prSet presAssocID="{F9708C7B-C23E-B44F-9358-6DD62F5CDB67}" presName="sibTrans" presStyleLbl="sibTrans1D1" presStyleIdx="3" presStyleCnt="5"/>
      <dgm:spPr/>
    </dgm:pt>
    <dgm:pt modelId="{FB0403D2-8E9D-B241-8DA8-C7D502B4367C}" type="pres">
      <dgm:prSet presAssocID="{97C85C93-31FE-EB42-9DE4-429571997541}" presName="node" presStyleLbl="node1" presStyleIdx="4" presStyleCnt="5">
        <dgm:presLayoutVars>
          <dgm:bulletEnabled val="1"/>
        </dgm:presLayoutVars>
      </dgm:prSet>
      <dgm:spPr/>
    </dgm:pt>
    <dgm:pt modelId="{CD0F2761-0C45-B14E-BED0-12497AB04C4D}" type="pres">
      <dgm:prSet presAssocID="{97C85C93-31FE-EB42-9DE4-429571997541}" presName="spNode" presStyleCnt="0"/>
      <dgm:spPr/>
    </dgm:pt>
    <dgm:pt modelId="{31FDEAC7-E0CA-B345-8D2E-E9EB96F4C40A}" type="pres">
      <dgm:prSet presAssocID="{5E790233-569B-6E4C-8046-1CC23201B23F}" presName="sibTrans" presStyleLbl="sibTrans1D1" presStyleIdx="4" presStyleCnt="5"/>
      <dgm:spPr/>
    </dgm:pt>
  </dgm:ptLst>
  <dgm:cxnLst>
    <dgm:cxn modelId="{04F7BA04-C788-7A4B-BC30-02104644D17B}" srcId="{703A3F1A-8AA9-D246-8C26-38957087DE2A}" destId="{7FFD1173-370F-BD44-9E1F-A44B466411C9}" srcOrd="0" destOrd="0" parTransId="{22C2F6B9-9CBF-7E4F-979D-440D9B3587F9}" sibTransId="{57277E4B-B285-9C49-9C96-F6718635B518}"/>
    <dgm:cxn modelId="{C057F509-E641-AA46-8398-37DB3D392699}" type="presOf" srcId="{8BE23543-6AFB-4240-97C1-4D2D98713C6E}" destId="{A0AF24B2-66BE-494C-96D3-8E5F824903EE}" srcOrd="0" destOrd="0" presId="urn:microsoft.com/office/officeart/2005/8/layout/cycle5"/>
    <dgm:cxn modelId="{7249040C-986B-A74B-9CA9-61F2B644DE90}" type="presOf" srcId="{97C85C93-31FE-EB42-9DE4-429571997541}" destId="{FB0403D2-8E9D-B241-8DA8-C7D502B4367C}" srcOrd="0" destOrd="0" presId="urn:microsoft.com/office/officeart/2005/8/layout/cycle5"/>
    <dgm:cxn modelId="{FB147A10-1586-E04F-85DA-3B483DD71147}" type="presOf" srcId="{01CFC1FA-EEF2-8949-85B9-40CE3E961443}" destId="{F54E5C48-1CFA-AA4A-9B58-E203C968F654}" srcOrd="0" destOrd="0" presId="urn:microsoft.com/office/officeart/2005/8/layout/cycle5"/>
    <dgm:cxn modelId="{1306372A-BB44-2242-87E3-70EB1FCC37CE}" type="presOf" srcId="{F9708C7B-C23E-B44F-9358-6DD62F5CDB67}" destId="{F17ED37C-5C01-FB40-962E-7BB1526E7F7A}" srcOrd="0" destOrd="0" presId="urn:microsoft.com/office/officeart/2005/8/layout/cycle5"/>
    <dgm:cxn modelId="{9F8AFB2F-B9E5-1846-B40F-D52327D4F2D0}" type="presOf" srcId="{42834E6C-2715-3941-BB0E-B6C03C9E39ED}" destId="{284689DC-AEA5-7F47-A4A7-81930BF16C1D}" srcOrd="0" destOrd="0" presId="urn:microsoft.com/office/officeart/2005/8/layout/cycle5"/>
    <dgm:cxn modelId="{E5C54344-F388-9E42-AA5D-ADB3A3490BEA}" type="presOf" srcId="{7FFD1173-370F-BD44-9E1F-A44B466411C9}" destId="{70B4F654-FADB-2E4B-B212-884B605DE6CC}" srcOrd="0" destOrd="0" presId="urn:microsoft.com/office/officeart/2005/8/layout/cycle5"/>
    <dgm:cxn modelId="{AB698A5F-99C4-1042-B877-4519EF34AE6D}" type="presOf" srcId="{57277E4B-B285-9C49-9C96-F6718635B518}" destId="{EB6F1598-2C74-C64B-ACA6-F67FD67F0527}" srcOrd="0" destOrd="0" presId="urn:microsoft.com/office/officeart/2005/8/layout/cycle5"/>
    <dgm:cxn modelId="{D279D06A-B639-C241-9359-97AB0E9771C6}" type="presOf" srcId="{703A3F1A-8AA9-D246-8C26-38957087DE2A}" destId="{73CDC848-C5DB-8344-BE77-BEC2A08A7DA8}" srcOrd="0" destOrd="0" presId="urn:microsoft.com/office/officeart/2005/8/layout/cycle5"/>
    <dgm:cxn modelId="{29097275-2B4E-C049-B59E-A490BA7430E5}" srcId="{703A3F1A-8AA9-D246-8C26-38957087DE2A}" destId="{97C85C93-31FE-EB42-9DE4-429571997541}" srcOrd="4" destOrd="0" parTransId="{8DF97C50-6AD3-AD43-A794-EE19A4BCC3C8}" sibTransId="{5E790233-569B-6E4C-8046-1CC23201B23F}"/>
    <dgm:cxn modelId="{5B44968C-4069-0347-ACB0-4FF2D8A7C70A}" type="presOf" srcId="{B77578FA-F779-4E48-9FB3-6CE8CBAFC6A1}" destId="{EB8D15FD-E340-AE44-87C2-B8EE2F33A92F}" srcOrd="0" destOrd="0" presId="urn:microsoft.com/office/officeart/2005/8/layout/cycle5"/>
    <dgm:cxn modelId="{552FC99F-62AD-8449-B0CF-16FB97BCFC7E}" srcId="{703A3F1A-8AA9-D246-8C26-38957087DE2A}" destId="{42834E6C-2715-3941-BB0E-B6C03C9E39ED}" srcOrd="3" destOrd="0" parTransId="{D3F46788-872C-DE42-A3E7-1D48F429EF9C}" sibTransId="{F9708C7B-C23E-B44F-9358-6DD62F5CDB67}"/>
    <dgm:cxn modelId="{53B31AAD-F1D5-224E-A381-E17A64D24B4E}" srcId="{703A3F1A-8AA9-D246-8C26-38957087DE2A}" destId="{01CFC1FA-EEF2-8949-85B9-40CE3E961443}" srcOrd="2" destOrd="0" parTransId="{F77AA824-172B-B645-B0BB-F428DCC021CE}" sibTransId="{B77578FA-F779-4E48-9FB3-6CE8CBAFC6A1}"/>
    <dgm:cxn modelId="{D5743FAD-CD31-D34E-A202-81BEF8A2FC02}" type="presOf" srcId="{5E790233-569B-6E4C-8046-1CC23201B23F}" destId="{31FDEAC7-E0CA-B345-8D2E-E9EB96F4C40A}" srcOrd="0" destOrd="0" presId="urn:microsoft.com/office/officeart/2005/8/layout/cycle5"/>
    <dgm:cxn modelId="{0FDEDEDF-2861-5447-B6A2-268590ACBC02}" type="presOf" srcId="{0885970D-7BFE-D34A-A8C8-ECD0A75C1BB1}" destId="{6B397C1F-8B3F-E24F-8F99-2650DFD17F29}" srcOrd="0" destOrd="0" presId="urn:microsoft.com/office/officeart/2005/8/layout/cycle5"/>
    <dgm:cxn modelId="{683666E0-E9FC-B54C-9076-F03858654ACE}" srcId="{703A3F1A-8AA9-D246-8C26-38957087DE2A}" destId="{0885970D-7BFE-D34A-A8C8-ECD0A75C1BB1}" srcOrd="1" destOrd="0" parTransId="{00178A6D-A72B-AD40-B9A0-C5A0CD843948}" sibTransId="{8BE23543-6AFB-4240-97C1-4D2D98713C6E}"/>
    <dgm:cxn modelId="{FBA33284-5068-684A-85AF-D30F79B15414}" type="presParOf" srcId="{73CDC848-C5DB-8344-BE77-BEC2A08A7DA8}" destId="{70B4F654-FADB-2E4B-B212-884B605DE6CC}" srcOrd="0" destOrd="0" presId="urn:microsoft.com/office/officeart/2005/8/layout/cycle5"/>
    <dgm:cxn modelId="{D39DB1CB-AFD7-444A-97E1-ADFCC4E37763}" type="presParOf" srcId="{73CDC848-C5DB-8344-BE77-BEC2A08A7DA8}" destId="{42A602A7-3B75-C648-A987-04EF40B358E7}" srcOrd="1" destOrd="0" presId="urn:microsoft.com/office/officeart/2005/8/layout/cycle5"/>
    <dgm:cxn modelId="{0B446FA6-661A-6C44-809E-5DBF74263CB2}" type="presParOf" srcId="{73CDC848-C5DB-8344-BE77-BEC2A08A7DA8}" destId="{EB6F1598-2C74-C64B-ACA6-F67FD67F0527}" srcOrd="2" destOrd="0" presId="urn:microsoft.com/office/officeart/2005/8/layout/cycle5"/>
    <dgm:cxn modelId="{0798F683-04F8-504C-9B58-4BBC72EE5954}" type="presParOf" srcId="{73CDC848-C5DB-8344-BE77-BEC2A08A7DA8}" destId="{6B397C1F-8B3F-E24F-8F99-2650DFD17F29}" srcOrd="3" destOrd="0" presId="urn:microsoft.com/office/officeart/2005/8/layout/cycle5"/>
    <dgm:cxn modelId="{E379B21F-7A3C-C94A-B326-3BF1B5832700}" type="presParOf" srcId="{73CDC848-C5DB-8344-BE77-BEC2A08A7DA8}" destId="{7BF5B54A-9058-1B48-8D8D-8C8E5CCCDF1D}" srcOrd="4" destOrd="0" presId="urn:microsoft.com/office/officeart/2005/8/layout/cycle5"/>
    <dgm:cxn modelId="{6E9AA9F2-4A94-4F4B-97BA-D81E81277666}" type="presParOf" srcId="{73CDC848-C5DB-8344-BE77-BEC2A08A7DA8}" destId="{A0AF24B2-66BE-494C-96D3-8E5F824903EE}" srcOrd="5" destOrd="0" presId="urn:microsoft.com/office/officeart/2005/8/layout/cycle5"/>
    <dgm:cxn modelId="{D8686DC7-EE87-5E40-9115-1464E85A4257}" type="presParOf" srcId="{73CDC848-C5DB-8344-BE77-BEC2A08A7DA8}" destId="{F54E5C48-1CFA-AA4A-9B58-E203C968F654}" srcOrd="6" destOrd="0" presId="urn:microsoft.com/office/officeart/2005/8/layout/cycle5"/>
    <dgm:cxn modelId="{42F017CB-7365-8648-B796-7E08F640C543}" type="presParOf" srcId="{73CDC848-C5DB-8344-BE77-BEC2A08A7DA8}" destId="{B9E20098-E8F1-FF40-A296-B984C3C64323}" srcOrd="7" destOrd="0" presId="urn:microsoft.com/office/officeart/2005/8/layout/cycle5"/>
    <dgm:cxn modelId="{AF366433-4307-D34A-889A-1862839BD9D9}" type="presParOf" srcId="{73CDC848-C5DB-8344-BE77-BEC2A08A7DA8}" destId="{EB8D15FD-E340-AE44-87C2-B8EE2F33A92F}" srcOrd="8" destOrd="0" presId="urn:microsoft.com/office/officeart/2005/8/layout/cycle5"/>
    <dgm:cxn modelId="{E7C13AD9-8F2C-7146-A025-FFDB9A734993}" type="presParOf" srcId="{73CDC848-C5DB-8344-BE77-BEC2A08A7DA8}" destId="{284689DC-AEA5-7F47-A4A7-81930BF16C1D}" srcOrd="9" destOrd="0" presId="urn:microsoft.com/office/officeart/2005/8/layout/cycle5"/>
    <dgm:cxn modelId="{96DDA07C-43C1-8349-945D-FBAFC649BB20}" type="presParOf" srcId="{73CDC848-C5DB-8344-BE77-BEC2A08A7DA8}" destId="{4DFE13AA-20C4-F941-AD79-282660BA02F6}" srcOrd="10" destOrd="0" presId="urn:microsoft.com/office/officeart/2005/8/layout/cycle5"/>
    <dgm:cxn modelId="{D0F661FA-4574-1B45-958C-A4EEF54065E9}" type="presParOf" srcId="{73CDC848-C5DB-8344-BE77-BEC2A08A7DA8}" destId="{F17ED37C-5C01-FB40-962E-7BB1526E7F7A}" srcOrd="11" destOrd="0" presId="urn:microsoft.com/office/officeart/2005/8/layout/cycle5"/>
    <dgm:cxn modelId="{48B7C6B1-4FD4-AC47-979D-47739F785C67}" type="presParOf" srcId="{73CDC848-C5DB-8344-BE77-BEC2A08A7DA8}" destId="{FB0403D2-8E9D-B241-8DA8-C7D502B4367C}" srcOrd="12" destOrd="0" presId="urn:microsoft.com/office/officeart/2005/8/layout/cycle5"/>
    <dgm:cxn modelId="{26678F3D-E185-C14E-944C-172A157D48D8}" type="presParOf" srcId="{73CDC848-C5DB-8344-BE77-BEC2A08A7DA8}" destId="{CD0F2761-0C45-B14E-BED0-12497AB04C4D}" srcOrd="13" destOrd="0" presId="urn:microsoft.com/office/officeart/2005/8/layout/cycle5"/>
    <dgm:cxn modelId="{16550F86-B535-B146-B569-2D521FB6FA51}" type="presParOf" srcId="{73CDC848-C5DB-8344-BE77-BEC2A08A7DA8}" destId="{31FDEAC7-E0CA-B345-8D2E-E9EB96F4C40A}" srcOrd="14" destOrd="0" presId="urn:microsoft.com/office/officeart/2005/8/layout/cycle5"/>
  </dgm:cxnLst>
  <dgm:bg>
    <a:noFill/>
  </dgm:bg>
  <dgm:whole>
    <a:ln>
      <a:solidFill>
        <a:schemeClr val="bg1">
          <a:lumMod val="95000"/>
        </a:schemeClr>
      </a:solid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B4F654-FADB-2E4B-B212-884B605DE6CC}">
      <dsp:nvSpPr>
        <dsp:cNvPr id="0" name=""/>
        <dsp:cNvSpPr/>
      </dsp:nvSpPr>
      <dsp:spPr>
        <a:xfrm>
          <a:off x="3212910" y="560"/>
          <a:ext cx="1598618" cy="1039102"/>
        </a:xfrm>
        <a:prstGeom prst="roundRect">
          <a:avLst/>
        </a:prstGeom>
        <a:solidFill>
          <a:srgbClr val="92D050"/>
        </a:solidFill>
        <a:ln w="12700" cap="flat" cmpd="sng" algn="ctr">
          <a:solidFill>
            <a:schemeClr val="bg1">
              <a:lumMod val="9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solidFill>
            </a:rPr>
            <a:t>Planning</a:t>
          </a:r>
        </a:p>
        <a:p>
          <a:pPr marL="0" lvl="0" indent="0" algn="ctr" defTabSz="711200">
            <a:lnSpc>
              <a:spcPct val="90000"/>
            </a:lnSpc>
            <a:spcBef>
              <a:spcPct val="0"/>
            </a:spcBef>
            <a:spcAft>
              <a:spcPct val="35000"/>
            </a:spcAft>
            <a:buNone/>
          </a:pPr>
          <a:r>
            <a:rPr lang="en-US" sz="1400" b="0" kern="1200" dirty="0">
              <a:solidFill>
                <a:schemeClr val="tx1"/>
              </a:solidFill>
            </a:rPr>
            <a:t>Chapters 4-5</a:t>
          </a:r>
        </a:p>
      </dsp:txBody>
      <dsp:txXfrm>
        <a:off x="3263635" y="51285"/>
        <a:ext cx="1497168" cy="937652"/>
      </dsp:txXfrm>
    </dsp:sp>
    <dsp:sp modelId="{EB6F1598-2C74-C64B-ACA6-F67FD67F0527}">
      <dsp:nvSpPr>
        <dsp:cNvPr id="0" name=""/>
        <dsp:cNvSpPr/>
      </dsp:nvSpPr>
      <dsp:spPr>
        <a:xfrm>
          <a:off x="1933686" y="520111"/>
          <a:ext cx="4157066" cy="4157066"/>
        </a:xfrm>
        <a:custGeom>
          <a:avLst/>
          <a:gdLst/>
          <a:ahLst/>
          <a:cxnLst/>
          <a:rect l="0" t="0" r="0" b="0"/>
          <a:pathLst>
            <a:path>
              <a:moveTo>
                <a:pt x="3092618" y="264165"/>
              </a:moveTo>
              <a:arcTo wR="2078533" hR="2078533" stAng="17952101" swAng="1213657"/>
            </a:path>
          </a:pathLst>
        </a:custGeom>
        <a:noFill/>
        <a:ln w="19050" cap="flat" cmpd="sng" algn="ctr">
          <a:solidFill>
            <a:schemeClr val="tx1"/>
          </a:solidFill>
          <a:prstDash val="solid"/>
          <a:miter lim="800000"/>
          <a:tailEnd type="arrow" w="lg" len="lg"/>
        </a:ln>
        <a:effectLst/>
      </dsp:spPr>
      <dsp:style>
        <a:lnRef idx="1">
          <a:scrgbClr r="0" g="0" b="0"/>
        </a:lnRef>
        <a:fillRef idx="0">
          <a:scrgbClr r="0" g="0" b="0"/>
        </a:fillRef>
        <a:effectRef idx="0">
          <a:scrgbClr r="0" g="0" b="0"/>
        </a:effectRef>
        <a:fontRef idx="minor"/>
      </dsp:style>
    </dsp:sp>
    <dsp:sp modelId="{6B397C1F-8B3F-E24F-8F99-2650DFD17F29}">
      <dsp:nvSpPr>
        <dsp:cNvPr id="0" name=""/>
        <dsp:cNvSpPr/>
      </dsp:nvSpPr>
      <dsp:spPr>
        <a:xfrm>
          <a:off x="5189713" y="1436791"/>
          <a:ext cx="1598618" cy="1039102"/>
        </a:xfrm>
        <a:prstGeom prst="roundRect">
          <a:avLst/>
        </a:prstGeom>
        <a:solidFill>
          <a:schemeClr val="bg1">
            <a:lumMod val="9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solidFill>
            </a:rPr>
            <a:t>Analysis</a:t>
          </a:r>
        </a:p>
        <a:p>
          <a:pPr marL="0" lvl="0" indent="0" algn="ctr" defTabSz="711200">
            <a:lnSpc>
              <a:spcPct val="90000"/>
            </a:lnSpc>
            <a:spcBef>
              <a:spcPct val="0"/>
            </a:spcBef>
            <a:spcAft>
              <a:spcPct val="35000"/>
            </a:spcAft>
            <a:buNone/>
          </a:pPr>
          <a:r>
            <a:rPr lang="en-US" sz="1400" b="0" kern="1200" dirty="0">
              <a:solidFill>
                <a:schemeClr val="tx1"/>
              </a:solidFill>
            </a:rPr>
            <a:t>Chapters 6-8</a:t>
          </a:r>
        </a:p>
      </dsp:txBody>
      <dsp:txXfrm>
        <a:off x="5240438" y="1487516"/>
        <a:ext cx="1497168" cy="937652"/>
      </dsp:txXfrm>
    </dsp:sp>
    <dsp:sp modelId="{A0AF24B2-66BE-494C-96D3-8E5F824903EE}">
      <dsp:nvSpPr>
        <dsp:cNvPr id="0" name=""/>
        <dsp:cNvSpPr/>
      </dsp:nvSpPr>
      <dsp:spPr>
        <a:xfrm>
          <a:off x="1933686" y="520111"/>
          <a:ext cx="4157066" cy="4157066"/>
        </a:xfrm>
        <a:custGeom>
          <a:avLst/>
          <a:gdLst/>
          <a:ahLst/>
          <a:cxnLst/>
          <a:rect l="0" t="0" r="0" b="0"/>
          <a:pathLst>
            <a:path>
              <a:moveTo>
                <a:pt x="4152109" y="2221995"/>
              </a:moveTo>
              <a:arcTo wR="2078533" hR="2078533" stAng="21837465" swAng="1361365"/>
            </a:path>
          </a:pathLst>
        </a:custGeom>
        <a:noFill/>
        <a:ln w="19050" cap="flat" cmpd="sng" algn="ctr">
          <a:solidFill>
            <a:schemeClr val="tx1"/>
          </a:solidFill>
          <a:prstDash val="solid"/>
          <a:miter lim="800000"/>
          <a:tailEnd type="arrow" w="lg" len="lg"/>
        </a:ln>
        <a:effectLst/>
      </dsp:spPr>
      <dsp:style>
        <a:lnRef idx="1">
          <a:scrgbClr r="0" g="0" b="0"/>
        </a:lnRef>
        <a:fillRef idx="0">
          <a:scrgbClr r="0" g="0" b="0"/>
        </a:fillRef>
        <a:effectRef idx="0">
          <a:scrgbClr r="0" g="0" b="0"/>
        </a:effectRef>
        <a:fontRef idx="minor"/>
      </dsp:style>
    </dsp:sp>
    <dsp:sp modelId="{F54E5C48-1CFA-AA4A-9B58-E203C968F654}">
      <dsp:nvSpPr>
        <dsp:cNvPr id="0" name=""/>
        <dsp:cNvSpPr/>
      </dsp:nvSpPr>
      <dsp:spPr>
        <a:xfrm>
          <a:off x="4434641" y="3760662"/>
          <a:ext cx="1598618" cy="1039102"/>
        </a:xfrm>
        <a:prstGeom prst="roundRect">
          <a:avLst/>
        </a:prstGeom>
        <a:solidFill>
          <a:schemeClr val="bg1">
            <a:lumMod val="9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solidFill>
            </a:rPr>
            <a:t>Design</a:t>
          </a:r>
        </a:p>
        <a:p>
          <a:pPr marL="0" lvl="0" indent="0" algn="ctr" defTabSz="711200">
            <a:lnSpc>
              <a:spcPct val="90000"/>
            </a:lnSpc>
            <a:spcBef>
              <a:spcPct val="0"/>
            </a:spcBef>
            <a:spcAft>
              <a:spcPct val="35000"/>
            </a:spcAft>
            <a:buNone/>
          </a:pPr>
          <a:r>
            <a:rPr lang="en-US" sz="1400" b="0" kern="1200" dirty="0">
              <a:solidFill>
                <a:schemeClr val="tx1"/>
              </a:solidFill>
            </a:rPr>
            <a:t>Chapters 9-11</a:t>
          </a:r>
        </a:p>
      </dsp:txBody>
      <dsp:txXfrm>
        <a:off x="4485366" y="3811387"/>
        <a:ext cx="1497168" cy="937652"/>
      </dsp:txXfrm>
    </dsp:sp>
    <dsp:sp modelId="{EB8D15FD-E340-AE44-87C2-B8EE2F33A92F}">
      <dsp:nvSpPr>
        <dsp:cNvPr id="0" name=""/>
        <dsp:cNvSpPr/>
      </dsp:nvSpPr>
      <dsp:spPr>
        <a:xfrm>
          <a:off x="1933686" y="520111"/>
          <a:ext cx="4157066" cy="4157066"/>
        </a:xfrm>
        <a:custGeom>
          <a:avLst/>
          <a:gdLst/>
          <a:ahLst/>
          <a:cxnLst/>
          <a:rect l="0" t="0" r="0" b="0"/>
          <a:pathLst>
            <a:path>
              <a:moveTo>
                <a:pt x="2339988" y="4140556"/>
              </a:moveTo>
              <a:arcTo wR="2078533" hR="2078533" stAng="4966423" swAng="818765"/>
            </a:path>
          </a:pathLst>
        </a:custGeom>
        <a:noFill/>
        <a:ln w="19050" cap="flat" cmpd="sng" algn="ctr">
          <a:solidFill>
            <a:schemeClr val="tx1"/>
          </a:solidFill>
          <a:prstDash val="solid"/>
          <a:miter lim="800000"/>
          <a:tailEnd type="arrow" w="lg" len="lg"/>
        </a:ln>
        <a:effectLst/>
      </dsp:spPr>
      <dsp:style>
        <a:lnRef idx="1">
          <a:scrgbClr r="0" g="0" b="0"/>
        </a:lnRef>
        <a:fillRef idx="0">
          <a:scrgbClr r="0" g="0" b="0"/>
        </a:fillRef>
        <a:effectRef idx="0">
          <a:scrgbClr r="0" g="0" b="0"/>
        </a:effectRef>
        <a:fontRef idx="minor"/>
      </dsp:style>
    </dsp:sp>
    <dsp:sp modelId="{284689DC-AEA5-7F47-A4A7-81930BF16C1D}">
      <dsp:nvSpPr>
        <dsp:cNvPr id="0" name=""/>
        <dsp:cNvSpPr/>
      </dsp:nvSpPr>
      <dsp:spPr>
        <a:xfrm>
          <a:off x="1962492" y="3760662"/>
          <a:ext cx="1655993" cy="1039102"/>
        </a:xfrm>
        <a:prstGeom prst="roundRect">
          <a:avLst/>
        </a:prstGeom>
        <a:solidFill>
          <a:schemeClr val="bg1">
            <a:lumMod val="9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0960" rIns="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solidFill>
            </a:rPr>
            <a:t>Implementation</a:t>
          </a:r>
        </a:p>
        <a:p>
          <a:pPr marL="0" lvl="0" indent="0" algn="ctr" defTabSz="711200">
            <a:lnSpc>
              <a:spcPct val="90000"/>
            </a:lnSpc>
            <a:spcBef>
              <a:spcPct val="0"/>
            </a:spcBef>
            <a:spcAft>
              <a:spcPct val="35000"/>
            </a:spcAft>
            <a:buNone/>
          </a:pPr>
          <a:r>
            <a:rPr lang="en-US" sz="1400" b="0" kern="1200" dirty="0">
              <a:solidFill>
                <a:schemeClr val="tx1"/>
              </a:solidFill>
            </a:rPr>
            <a:t>Chapter 12</a:t>
          </a:r>
        </a:p>
      </dsp:txBody>
      <dsp:txXfrm>
        <a:off x="2013217" y="3811387"/>
        <a:ext cx="1554543" cy="937652"/>
      </dsp:txXfrm>
    </dsp:sp>
    <dsp:sp modelId="{F17ED37C-5C01-FB40-962E-7BB1526E7F7A}">
      <dsp:nvSpPr>
        <dsp:cNvPr id="0" name=""/>
        <dsp:cNvSpPr/>
      </dsp:nvSpPr>
      <dsp:spPr>
        <a:xfrm>
          <a:off x="1933686" y="520111"/>
          <a:ext cx="4157066" cy="4157066"/>
        </a:xfrm>
        <a:custGeom>
          <a:avLst/>
          <a:gdLst/>
          <a:ahLst/>
          <a:cxnLst/>
          <a:rect l="0" t="0" r="0" b="0"/>
          <a:pathLst>
            <a:path>
              <a:moveTo>
                <a:pt x="220770" y="3010745"/>
              </a:moveTo>
              <a:arcTo wR="2078533" hR="2078533" stAng="9201170" swAng="1361365"/>
            </a:path>
          </a:pathLst>
        </a:custGeom>
        <a:noFill/>
        <a:ln w="19050" cap="flat" cmpd="sng" algn="ctr">
          <a:solidFill>
            <a:schemeClr val="tx1"/>
          </a:solidFill>
          <a:prstDash val="solid"/>
          <a:miter lim="800000"/>
          <a:tailEnd type="arrow" w="lg" len="lg"/>
        </a:ln>
        <a:effectLst/>
      </dsp:spPr>
      <dsp:style>
        <a:lnRef idx="1">
          <a:scrgbClr r="0" g="0" b="0"/>
        </a:lnRef>
        <a:fillRef idx="0">
          <a:scrgbClr r="0" g="0" b="0"/>
        </a:fillRef>
        <a:effectRef idx="0">
          <a:scrgbClr r="0" g="0" b="0"/>
        </a:effectRef>
        <a:fontRef idx="minor"/>
      </dsp:style>
    </dsp:sp>
    <dsp:sp modelId="{FB0403D2-8E9D-B241-8DA8-C7D502B4367C}">
      <dsp:nvSpPr>
        <dsp:cNvPr id="0" name=""/>
        <dsp:cNvSpPr/>
      </dsp:nvSpPr>
      <dsp:spPr>
        <a:xfrm>
          <a:off x="1236107" y="1436791"/>
          <a:ext cx="1598618" cy="1039102"/>
        </a:xfrm>
        <a:prstGeom prst="roundRect">
          <a:avLst/>
        </a:prstGeom>
        <a:solidFill>
          <a:schemeClr val="bg1">
            <a:lumMod val="9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ysClr val="windowText" lastClr="000000"/>
              </a:solidFill>
            </a:rPr>
            <a:t>Maintenance</a:t>
          </a:r>
        </a:p>
        <a:p>
          <a:pPr marL="0" lvl="0" indent="0" algn="ctr" defTabSz="711200">
            <a:lnSpc>
              <a:spcPct val="90000"/>
            </a:lnSpc>
            <a:spcBef>
              <a:spcPct val="0"/>
            </a:spcBef>
            <a:spcAft>
              <a:spcPct val="35000"/>
            </a:spcAft>
            <a:buNone/>
          </a:pPr>
          <a:r>
            <a:rPr lang="en-US" sz="1400" b="0" kern="1200" dirty="0">
              <a:solidFill>
                <a:sysClr val="windowText" lastClr="000000"/>
              </a:solidFill>
            </a:rPr>
            <a:t>Chapter 12</a:t>
          </a:r>
        </a:p>
      </dsp:txBody>
      <dsp:txXfrm>
        <a:off x="1286832" y="1487516"/>
        <a:ext cx="1497168" cy="937652"/>
      </dsp:txXfrm>
    </dsp:sp>
    <dsp:sp modelId="{31FDEAC7-E0CA-B345-8D2E-E9EB96F4C40A}">
      <dsp:nvSpPr>
        <dsp:cNvPr id="0" name=""/>
        <dsp:cNvSpPr/>
      </dsp:nvSpPr>
      <dsp:spPr>
        <a:xfrm>
          <a:off x="1933686" y="520111"/>
          <a:ext cx="4157066" cy="4157066"/>
        </a:xfrm>
        <a:custGeom>
          <a:avLst/>
          <a:gdLst/>
          <a:ahLst/>
          <a:cxnLst/>
          <a:rect l="0" t="0" r="0" b="0"/>
          <a:pathLst>
            <a:path>
              <a:moveTo>
                <a:pt x="499671" y="726684"/>
              </a:moveTo>
              <a:arcTo wR="2078533" hR="2078533" stAng="13234242" swAng="1213657"/>
            </a:path>
          </a:pathLst>
        </a:custGeom>
        <a:noFill/>
        <a:ln w="19050" cap="flat" cmpd="sng" algn="ctr">
          <a:solidFill>
            <a:schemeClr val="tx1"/>
          </a:solidFill>
          <a:prstDash val="solid"/>
          <a:miter lim="800000"/>
          <a:tailEnd type="arrow" w="lg" len="lg"/>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B4F654-FADB-2E4B-B212-884B605DE6CC}">
      <dsp:nvSpPr>
        <dsp:cNvPr id="0" name=""/>
        <dsp:cNvSpPr/>
      </dsp:nvSpPr>
      <dsp:spPr>
        <a:xfrm>
          <a:off x="3212910" y="560"/>
          <a:ext cx="1598618" cy="1039102"/>
        </a:xfrm>
        <a:prstGeom prst="roundRect">
          <a:avLst/>
        </a:prstGeom>
        <a:solidFill>
          <a:srgbClr val="92D050"/>
        </a:solidFill>
        <a:ln w="12700" cap="flat" cmpd="sng" algn="ctr">
          <a:solidFill>
            <a:schemeClr val="bg1">
              <a:lumMod val="95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solidFill>
            </a:rPr>
            <a:t>Planning</a:t>
          </a:r>
        </a:p>
        <a:p>
          <a:pPr marL="0" lvl="0" indent="0" algn="ctr" defTabSz="711200">
            <a:lnSpc>
              <a:spcPct val="90000"/>
            </a:lnSpc>
            <a:spcBef>
              <a:spcPct val="0"/>
            </a:spcBef>
            <a:spcAft>
              <a:spcPct val="35000"/>
            </a:spcAft>
            <a:buNone/>
          </a:pPr>
          <a:r>
            <a:rPr lang="en-US" sz="1400" b="0" kern="1200" dirty="0">
              <a:solidFill>
                <a:schemeClr val="tx1"/>
              </a:solidFill>
            </a:rPr>
            <a:t>Chapters 4-5</a:t>
          </a:r>
        </a:p>
      </dsp:txBody>
      <dsp:txXfrm>
        <a:off x="3263635" y="51285"/>
        <a:ext cx="1497168" cy="937652"/>
      </dsp:txXfrm>
    </dsp:sp>
    <dsp:sp modelId="{EB6F1598-2C74-C64B-ACA6-F67FD67F0527}">
      <dsp:nvSpPr>
        <dsp:cNvPr id="0" name=""/>
        <dsp:cNvSpPr/>
      </dsp:nvSpPr>
      <dsp:spPr>
        <a:xfrm>
          <a:off x="1933686" y="520111"/>
          <a:ext cx="4157066" cy="4157066"/>
        </a:xfrm>
        <a:custGeom>
          <a:avLst/>
          <a:gdLst/>
          <a:ahLst/>
          <a:cxnLst/>
          <a:rect l="0" t="0" r="0" b="0"/>
          <a:pathLst>
            <a:path>
              <a:moveTo>
                <a:pt x="3092618" y="264165"/>
              </a:moveTo>
              <a:arcTo wR="2078533" hR="2078533" stAng="17952101" swAng="1213657"/>
            </a:path>
          </a:pathLst>
        </a:custGeom>
        <a:noFill/>
        <a:ln w="19050" cap="flat" cmpd="sng" algn="ctr">
          <a:solidFill>
            <a:schemeClr val="tx1"/>
          </a:solidFill>
          <a:prstDash val="solid"/>
          <a:miter lim="800000"/>
          <a:tailEnd type="arrow" w="lg" len="lg"/>
        </a:ln>
        <a:effectLst/>
      </dsp:spPr>
      <dsp:style>
        <a:lnRef idx="1">
          <a:scrgbClr r="0" g="0" b="0"/>
        </a:lnRef>
        <a:fillRef idx="0">
          <a:scrgbClr r="0" g="0" b="0"/>
        </a:fillRef>
        <a:effectRef idx="0">
          <a:scrgbClr r="0" g="0" b="0"/>
        </a:effectRef>
        <a:fontRef idx="minor"/>
      </dsp:style>
    </dsp:sp>
    <dsp:sp modelId="{6B397C1F-8B3F-E24F-8F99-2650DFD17F29}">
      <dsp:nvSpPr>
        <dsp:cNvPr id="0" name=""/>
        <dsp:cNvSpPr/>
      </dsp:nvSpPr>
      <dsp:spPr>
        <a:xfrm>
          <a:off x="5189713" y="1436791"/>
          <a:ext cx="1598618" cy="1039102"/>
        </a:xfrm>
        <a:prstGeom prst="roundRect">
          <a:avLst/>
        </a:prstGeom>
        <a:solidFill>
          <a:schemeClr val="bg1">
            <a:lumMod val="9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solidFill>
            </a:rPr>
            <a:t>Analysis</a:t>
          </a:r>
        </a:p>
        <a:p>
          <a:pPr marL="0" lvl="0" indent="0" algn="ctr" defTabSz="711200">
            <a:lnSpc>
              <a:spcPct val="90000"/>
            </a:lnSpc>
            <a:spcBef>
              <a:spcPct val="0"/>
            </a:spcBef>
            <a:spcAft>
              <a:spcPct val="35000"/>
            </a:spcAft>
            <a:buNone/>
          </a:pPr>
          <a:r>
            <a:rPr lang="en-US" sz="1400" b="0" kern="1200" dirty="0">
              <a:solidFill>
                <a:schemeClr val="tx1"/>
              </a:solidFill>
            </a:rPr>
            <a:t>Chapters 6-8</a:t>
          </a:r>
        </a:p>
      </dsp:txBody>
      <dsp:txXfrm>
        <a:off x="5240438" y="1487516"/>
        <a:ext cx="1497168" cy="937652"/>
      </dsp:txXfrm>
    </dsp:sp>
    <dsp:sp modelId="{A0AF24B2-66BE-494C-96D3-8E5F824903EE}">
      <dsp:nvSpPr>
        <dsp:cNvPr id="0" name=""/>
        <dsp:cNvSpPr/>
      </dsp:nvSpPr>
      <dsp:spPr>
        <a:xfrm>
          <a:off x="1933686" y="520111"/>
          <a:ext cx="4157066" cy="4157066"/>
        </a:xfrm>
        <a:custGeom>
          <a:avLst/>
          <a:gdLst/>
          <a:ahLst/>
          <a:cxnLst/>
          <a:rect l="0" t="0" r="0" b="0"/>
          <a:pathLst>
            <a:path>
              <a:moveTo>
                <a:pt x="4152109" y="2221995"/>
              </a:moveTo>
              <a:arcTo wR="2078533" hR="2078533" stAng="21837465" swAng="1361365"/>
            </a:path>
          </a:pathLst>
        </a:custGeom>
        <a:noFill/>
        <a:ln w="19050" cap="flat" cmpd="sng" algn="ctr">
          <a:solidFill>
            <a:schemeClr val="tx1"/>
          </a:solidFill>
          <a:prstDash val="solid"/>
          <a:miter lim="800000"/>
          <a:tailEnd type="arrow" w="lg" len="lg"/>
        </a:ln>
        <a:effectLst/>
      </dsp:spPr>
      <dsp:style>
        <a:lnRef idx="1">
          <a:scrgbClr r="0" g="0" b="0"/>
        </a:lnRef>
        <a:fillRef idx="0">
          <a:scrgbClr r="0" g="0" b="0"/>
        </a:fillRef>
        <a:effectRef idx="0">
          <a:scrgbClr r="0" g="0" b="0"/>
        </a:effectRef>
        <a:fontRef idx="minor"/>
      </dsp:style>
    </dsp:sp>
    <dsp:sp modelId="{F54E5C48-1CFA-AA4A-9B58-E203C968F654}">
      <dsp:nvSpPr>
        <dsp:cNvPr id="0" name=""/>
        <dsp:cNvSpPr/>
      </dsp:nvSpPr>
      <dsp:spPr>
        <a:xfrm>
          <a:off x="4434641" y="3760662"/>
          <a:ext cx="1598618" cy="1039102"/>
        </a:xfrm>
        <a:prstGeom prst="roundRect">
          <a:avLst/>
        </a:prstGeom>
        <a:solidFill>
          <a:schemeClr val="bg1">
            <a:lumMod val="9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solidFill>
            </a:rPr>
            <a:t>Design</a:t>
          </a:r>
        </a:p>
        <a:p>
          <a:pPr marL="0" lvl="0" indent="0" algn="ctr" defTabSz="711200">
            <a:lnSpc>
              <a:spcPct val="90000"/>
            </a:lnSpc>
            <a:spcBef>
              <a:spcPct val="0"/>
            </a:spcBef>
            <a:spcAft>
              <a:spcPct val="35000"/>
            </a:spcAft>
            <a:buNone/>
          </a:pPr>
          <a:r>
            <a:rPr lang="en-US" sz="1400" b="0" kern="1200" dirty="0">
              <a:solidFill>
                <a:schemeClr val="tx1"/>
              </a:solidFill>
            </a:rPr>
            <a:t>Chapters 9-11</a:t>
          </a:r>
        </a:p>
      </dsp:txBody>
      <dsp:txXfrm>
        <a:off x="4485366" y="3811387"/>
        <a:ext cx="1497168" cy="937652"/>
      </dsp:txXfrm>
    </dsp:sp>
    <dsp:sp modelId="{EB8D15FD-E340-AE44-87C2-B8EE2F33A92F}">
      <dsp:nvSpPr>
        <dsp:cNvPr id="0" name=""/>
        <dsp:cNvSpPr/>
      </dsp:nvSpPr>
      <dsp:spPr>
        <a:xfrm>
          <a:off x="1933686" y="520111"/>
          <a:ext cx="4157066" cy="4157066"/>
        </a:xfrm>
        <a:custGeom>
          <a:avLst/>
          <a:gdLst/>
          <a:ahLst/>
          <a:cxnLst/>
          <a:rect l="0" t="0" r="0" b="0"/>
          <a:pathLst>
            <a:path>
              <a:moveTo>
                <a:pt x="2339988" y="4140556"/>
              </a:moveTo>
              <a:arcTo wR="2078533" hR="2078533" stAng="4966423" swAng="818765"/>
            </a:path>
          </a:pathLst>
        </a:custGeom>
        <a:noFill/>
        <a:ln w="19050" cap="flat" cmpd="sng" algn="ctr">
          <a:solidFill>
            <a:schemeClr val="tx1"/>
          </a:solidFill>
          <a:prstDash val="solid"/>
          <a:miter lim="800000"/>
          <a:tailEnd type="arrow" w="lg" len="lg"/>
        </a:ln>
        <a:effectLst/>
      </dsp:spPr>
      <dsp:style>
        <a:lnRef idx="1">
          <a:scrgbClr r="0" g="0" b="0"/>
        </a:lnRef>
        <a:fillRef idx="0">
          <a:scrgbClr r="0" g="0" b="0"/>
        </a:fillRef>
        <a:effectRef idx="0">
          <a:scrgbClr r="0" g="0" b="0"/>
        </a:effectRef>
        <a:fontRef idx="minor"/>
      </dsp:style>
    </dsp:sp>
    <dsp:sp modelId="{284689DC-AEA5-7F47-A4A7-81930BF16C1D}">
      <dsp:nvSpPr>
        <dsp:cNvPr id="0" name=""/>
        <dsp:cNvSpPr/>
      </dsp:nvSpPr>
      <dsp:spPr>
        <a:xfrm>
          <a:off x="1962492" y="3760662"/>
          <a:ext cx="1655993" cy="1039102"/>
        </a:xfrm>
        <a:prstGeom prst="roundRect">
          <a:avLst/>
        </a:prstGeom>
        <a:solidFill>
          <a:schemeClr val="bg1">
            <a:lumMod val="9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0960" rIns="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solidFill>
            </a:rPr>
            <a:t>Implementation</a:t>
          </a:r>
        </a:p>
        <a:p>
          <a:pPr marL="0" lvl="0" indent="0" algn="ctr" defTabSz="711200">
            <a:lnSpc>
              <a:spcPct val="90000"/>
            </a:lnSpc>
            <a:spcBef>
              <a:spcPct val="0"/>
            </a:spcBef>
            <a:spcAft>
              <a:spcPct val="35000"/>
            </a:spcAft>
            <a:buNone/>
          </a:pPr>
          <a:r>
            <a:rPr lang="en-US" sz="1400" b="0" kern="1200" dirty="0">
              <a:solidFill>
                <a:schemeClr val="tx1"/>
              </a:solidFill>
            </a:rPr>
            <a:t>Chapter 12</a:t>
          </a:r>
        </a:p>
      </dsp:txBody>
      <dsp:txXfrm>
        <a:off x="2013217" y="3811387"/>
        <a:ext cx="1554543" cy="937652"/>
      </dsp:txXfrm>
    </dsp:sp>
    <dsp:sp modelId="{F17ED37C-5C01-FB40-962E-7BB1526E7F7A}">
      <dsp:nvSpPr>
        <dsp:cNvPr id="0" name=""/>
        <dsp:cNvSpPr/>
      </dsp:nvSpPr>
      <dsp:spPr>
        <a:xfrm>
          <a:off x="1933686" y="520111"/>
          <a:ext cx="4157066" cy="4157066"/>
        </a:xfrm>
        <a:custGeom>
          <a:avLst/>
          <a:gdLst/>
          <a:ahLst/>
          <a:cxnLst/>
          <a:rect l="0" t="0" r="0" b="0"/>
          <a:pathLst>
            <a:path>
              <a:moveTo>
                <a:pt x="220770" y="3010745"/>
              </a:moveTo>
              <a:arcTo wR="2078533" hR="2078533" stAng="9201170" swAng="1361365"/>
            </a:path>
          </a:pathLst>
        </a:custGeom>
        <a:noFill/>
        <a:ln w="19050" cap="flat" cmpd="sng" algn="ctr">
          <a:solidFill>
            <a:schemeClr val="tx1"/>
          </a:solidFill>
          <a:prstDash val="solid"/>
          <a:miter lim="800000"/>
          <a:tailEnd type="arrow" w="lg" len="lg"/>
        </a:ln>
        <a:effectLst/>
      </dsp:spPr>
      <dsp:style>
        <a:lnRef idx="1">
          <a:scrgbClr r="0" g="0" b="0"/>
        </a:lnRef>
        <a:fillRef idx="0">
          <a:scrgbClr r="0" g="0" b="0"/>
        </a:fillRef>
        <a:effectRef idx="0">
          <a:scrgbClr r="0" g="0" b="0"/>
        </a:effectRef>
        <a:fontRef idx="minor"/>
      </dsp:style>
    </dsp:sp>
    <dsp:sp modelId="{FB0403D2-8E9D-B241-8DA8-C7D502B4367C}">
      <dsp:nvSpPr>
        <dsp:cNvPr id="0" name=""/>
        <dsp:cNvSpPr/>
      </dsp:nvSpPr>
      <dsp:spPr>
        <a:xfrm>
          <a:off x="1236107" y="1436791"/>
          <a:ext cx="1598618" cy="1039102"/>
        </a:xfrm>
        <a:prstGeom prst="roundRect">
          <a:avLst/>
        </a:prstGeom>
        <a:solidFill>
          <a:schemeClr val="bg1">
            <a:lumMod val="9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ysClr val="windowText" lastClr="000000"/>
              </a:solidFill>
            </a:rPr>
            <a:t>Maintenance</a:t>
          </a:r>
        </a:p>
        <a:p>
          <a:pPr marL="0" lvl="0" indent="0" algn="ctr" defTabSz="711200">
            <a:lnSpc>
              <a:spcPct val="90000"/>
            </a:lnSpc>
            <a:spcBef>
              <a:spcPct val="0"/>
            </a:spcBef>
            <a:spcAft>
              <a:spcPct val="35000"/>
            </a:spcAft>
            <a:buNone/>
          </a:pPr>
          <a:r>
            <a:rPr lang="en-US" sz="1400" b="0" kern="1200" dirty="0">
              <a:solidFill>
                <a:sysClr val="windowText" lastClr="000000"/>
              </a:solidFill>
            </a:rPr>
            <a:t>Chapter 12</a:t>
          </a:r>
        </a:p>
      </dsp:txBody>
      <dsp:txXfrm>
        <a:off x="1286832" y="1487516"/>
        <a:ext cx="1497168" cy="937652"/>
      </dsp:txXfrm>
    </dsp:sp>
    <dsp:sp modelId="{31FDEAC7-E0CA-B345-8D2E-E9EB96F4C40A}">
      <dsp:nvSpPr>
        <dsp:cNvPr id="0" name=""/>
        <dsp:cNvSpPr/>
      </dsp:nvSpPr>
      <dsp:spPr>
        <a:xfrm>
          <a:off x="1933686" y="520111"/>
          <a:ext cx="4157066" cy="4157066"/>
        </a:xfrm>
        <a:custGeom>
          <a:avLst/>
          <a:gdLst/>
          <a:ahLst/>
          <a:cxnLst/>
          <a:rect l="0" t="0" r="0" b="0"/>
          <a:pathLst>
            <a:path>
              <a:moveTo>
                <a:pt x="499671" y="726684"/>
              </a:moveTo>
              <a:arcTo wR="2078533" hR="2078533" stAng="13234242" swAng="1213657"/>
            </a:path>
          </a:pathLst>
        </a:custGeom>
        <a:noFill/>
        <a:ln w="19050" cap="flat" cmpd="sng" algn="ctr">
          <a:solidFill>
            <a:schemeClr val="tx1"/>
          </a:solidFill>
          <a:prstDash val="solid"/>
          <a:miter lim="800000"/>
          <a:tailEnd type="arrow" w="lg" len="lg"/>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F9F47A-0AF4-43BD-9C92-38CF9AB2CC65}" type="datetimeFigureOut">
              <a:rPr lang="ko-KR" altLang="en-US" smtClean="0"/>
              <a:t>2026. 3. 5.</a:t>
            </a:fld>
            <a:endParaRPr lang="ko-KR" altLang="en-US"/>
          </a:p>
        </p:txBody>
      </p:sp>
      <p:sp>
        <p:nvSpPr>
          <p:cNvPr id="4" name="슬라이드 이미지 개체 틀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F1827B2-03B7-439D-9E62-BFE4631412E3}" type="slidenum">
              <a:rPr lang="ko-KR" altLang="en-US" smtClean="0"/>
              <a:t>‹#›</a:t>
            </a:fld>
            <a:endParaRPr lang="ko-KR" altLang="en-US"/>
          </a:p>
        </p:txBody>
      </p:sp>
    </p:spTree>
    <p:extLst>
      <p:ext uri="{BB962C8B-B14F-4D97-AF65-F5344CB8AC3E}">
        <p14:creationId xmlns:p14="http://schemas.microsoft.com/office/powerpoint/2010/main" val="12380280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6913"/>
            <a:ext cx="6197600" cy="3486150"/>
          </a:xfrm>
        </p:spPr>
      </p:sp>
      <p:sp>
        <p:nvSpPr>
          <p:cNvPr id="3" name="Notes Placeholder 2"/>
          <p:cNvSpPr>
            <a:spLocks noGrp="1"/>
          </p:cNvSpPr>
          <p:nvPr>
            <p:ph type="body" idx="1"/>
          </p:nvPr>
        </p:nvSpPr>
        <p:spPr/>
        <p:txBody>
          <a:bodyPr/>
          <a:lstStyle/>
          <a:p>
            <a:r>
              <a:rPr lang="en-US" dirty="0"/>
              <a:t>1986</a:t>
            </a:r>
            <a:r>
              <a:rPr lang="ko-KR" altLang="en-US" dirty="0"/>
              <a:t>년 </a:t>
            </a:r>
            <a:r>
              <a:rPr lang="en-US" altLang="ko-KR" dirty="0"/>
              <a:t>Challenge</a:t>
            </a:r>
            <a:r>
              <a:rPr lang="ko-KR" altLang="en-US" dirty="0"/>
              <a:t>호 </a:t>
            </a:r>
            <a:r>
              <a:rPr lang="en-US" altLang="ko-KR" dirty="0"/>
              <a:t>take-off</a:t>
            </a:r>
            <a:r>
              <a:rPr lang="ko-KR" altLang="en-US" dirty="0"/>
              <a:t>시에 폭발</a:t>
            </a:r>
            <a:endParaRPr lang="en-US" altLang="ko-KR" dirty="0"/>
          </a:p>
          <a:p>
            <a:r>
              <a:rPr lang="en-US" dirty="0"/>
              <a:t>2003</a:t>
            </a:r>
            <a:r>
              <a:rPr lang="ko-KR" altLang="en-US" dirty="0"/>
              <a:t>년 </a:t>
            </a:r>
            <a:r>
              <a:rPr lang="en-US" altLang="ko-KR" dirty="0"/>
              <a:t>Columbia</a:t>
            </a:r>
            <a:r>
              <a:rPr lang="ko-KR" altLang="en-US" dirty="0"/>
              <a:t>호 </a:t>
            </a:r>
            <a:r>
              <a:rPr lang="en-US" altLang="ko-KR" dirty="0"/>
              <a:t>Landing</a:t>
            </a:r>
            <a:r>
              <a:rPr lang="ko-KR" altLang="en-US" dirty="0"/>
              <a:t>시에 폭발</a:t>
            </a:r>
            <a:endParaRPr lang="en-US" altLang="ko-KR" dirty="0"/>
          </a:p>
          <a:p>
            <a:r>
              <a:rPr lang="en-US" dirty="0">
                <a:sym typeface="Wingdings" pitchFamily="2" charset="2"/>
              </a:rPr>
              <a:t> Politics</a:t>
            </a:r>
            <a:endParaRPr lang="en-US" dirty="0"/>
          </a:p>
        </p:txBody>
      </p:sp>
      <p:sp>
        <p:nvSpPr>
          <p:cNvPr id="4" name="Slide Number Placeholder 3"/>
          <p:cNvSpPr>
            <a:spLocks noGrp="1"/>
          </p:cNvSpPr>
          <p:nvPr>
            <p:ph type="sldNum" sz="quarter" idx="10"/>
          </p:nvPr>
        </p:nvSpPr>
        <p:spPr/>
        <p:txBody>
          <a:bodyPr/>
          <a:lstStyle/>
          <a:p>
            <a:fld id="{123FE4B5-2F8B-42B0-B941-7FBA2165B60F}" type="slidenum">
              <a:rPr lang="ko-KR" altLang="en-US" smtClean="0"/>
              <a:t>3</a:t>
            </a:fld>
            <a:endParaRPr lang="ko-KR" altLang="en-US"/>
          </a:p>
        </p:txBody>
      </p:sp>
    </p:spTree>
    <p:extLst>
      <p:ext uri="{BB962C8B-B14F-4D97-AF65-F5344CB8AC3E}">
        <p14:creationId xmlns:p14="http://schemas.microsoft.com/office/powerpoint/2010/main" val="1020188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6913"/>
            <a:ext cx="6197600" cy="3486150"/>
          </a:xfrm>
        </p:spPr>
      </p:sp>
      <p:sp>
        <p:nvSpPr>
          <p:cNvPr id="3" name="Notes Placeholder 2"/>
          <p:cNvSpPr>
            <a:spLocks noGrp="1"/>
          </p:cNvSpPr>
          <p:nvPr>
            <p:ph type="body" idx="1"/>
          </p:nvPr>
        </p:nvSpPr>
        <p:spPr/>
        <p:txBody>
          <a:bodyPr/>
          <a:lstStyle/>
          <a:p>
            <a:r>
              <a:rPr lang="ko-KR" altLang="en-US" dirty="0"/>
              <a:t>프로젝트와 </a:t>
            </a:r>
            <a:r>
              <a:rPr lang="en-US" altLang="ko-KR" dirty="0"/>
              <a:t>Operation</a:t>
            </a:r>
            <a:r>
              <a:rPr lang="ko-KR" altLang="en-US" dirty="0"/>
              <a:t>의 차이 이해</a:t>
            </a:r>
            <a:endParaRPr lang="en-US" dirty="0"/>
          </a:p>
        </p:txBody>
      </p:sp>
      <p:sp>
        <p:nvSpPr>
          <p:cNvPr id="4" name="Slide Number Placeholder 3"/>
          <p:cNvSpPr>
            <a:spLocks noGrp="1"/>
          </p:cNvSpPr>
          <p:nvPr>
            <p:ph type="sldNum" sz="quarter" idx="10"/>
          </p:nvPr>
        </p:nvSpPr>
        <p:spPr/>
        <p:txBody>
          <a:bodyPr/>
          <a:lstStyle/>
          <a:p>
            <a:fld id="{123FE4B5-2F8B-42B0-B941-7FBA2165B60F}" type="slidenum">
              <a:rPr lang="ko-KR" altLang="en-US" smtClean="0"/>
              <a:t>4</a:t>
            </a:fld>
            <a:endParaRPr lang="ko-KR" altLang="en-US"/>
          </a:p>
        </p:txBody>
      </p:sp>
    </p:spTree>
    <p:extLst>
      <p:ext uri="{BB962C8B-B14F-4D97-AF65-F5344CB8AC3E}">
        <p14:creationId xmlns:p14="http://schemas.microsoft.com/office/powerpoint/2010/main" val="37758849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AC637-B7A9-A09B-E4D7-05C1B5CBE1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5FA35-4484-4036-E41C-A0D0D3D961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AD3931-0661-11D9-F6B2-491D5C7034AA}"/>
              </a:ext>
            </a:extLst>
          </p:cNvPr>
          <p:cNvSpPr>
            <a:spLocks noGrp="1"/>
          </p:cNvSpPr>
          <p:nvPr>
            <p:ph type="body" idx="1"/>
          </p:nvPr>
        </p:nvSpPr>
        <p:spPr/>
        <p:txBody>
          <a:bodyPr/>
          <a:lstStyle/>
          <a:p>
            <a:endParaRPr lang="en-KR" dirty="0"/>
          </a:p>
        </p:txBody>
      </p:sp>
      <p:sp>
        <p:nvSpPr>
          <p:cNvPr id="4" name="Slide Number Placeholder 3">
            <a:extLst>
              <a:ext uri="{FF2B5EF4-FFF2-40B4-BE49-F238E27FC236}">
                <a16:creationId xmlns:a16="http://schemas.microsoft.com/office/drawing/2014/main" id="{7D1B7736-8EC0-D2DA-AF35-ED8FAD6B71AF}"/>
              </a:ext>
            </a:extLst>
          </p:cNvPr>
          <p:cNvSpPr>
            <a:spLocks noGrp="1"/>
          </p:cNvSpPr>
          <p:nvPr>
            <p:ph type="sldNum" sz="quarter" idx="5"/>
          </p:nvPr>
        </p:nvSpPr>
        <p:spPr/>
        <p:txBody>
          <a:bodyPr/>
          <a:lstStyle/>
          <a:p>
            <a:fld id="{9F1827B2-03B7-439D-9E62-BFE4631412E3}" type="slidenum">
              <a:rPr lang="ko-KR" altLang="en-US" smtClean="0"/>
              <a:t>5</a:t>
            </a:fld>
            <a:endParaRPr lang="ko-KR" altLang="en-US"/>
          </a:p>
        </p:txBody>
      </p:sp>
    </p:spTree>
    <p:extLst>
      <p:ext uri="{BB962C8B-B14F-4D97-AF65-F5344CB8AC3E}">
        <p14:creationId xmlns:p14="http://schemas.microsoft.com/office/powerpoint/2010/main" val="101583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3FE4B5-2F8B-42B0-B941-7FBA2165B60F}" type="slidenum">
              <a:rPr lang="ko-KR" altLang="en-US" smtClean="0"/>
              <a:t>7</a:t>
            </a:fld>
            <a:endParaRPr lang="ko-KR" altLang="en-US"/>
          </a:p>
        </p:txBody>
      </p:sp>
    </p:spTree>
    <p:extLst>
      <p:ext uri="{BB962C8B-B14F-4D97-AF65-F5344CB8AC3E}">
        <p14:creationId xmlns:p14="http://schemas.microsoft.com/office/powerpoint/2010/main" val="1467148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학생들에게 </a:t>
            </a:r>
            <a:r>
              <a:rPr lang="en-US" altLang="ko-KR" dirty="0"/>
              <a:t>3</a:t>
            </a:r>
            <a:r>
              <a:rPr lang="ko-KR" altLang="en-US" dirty="0"/>
              <a:t>분 정도의 시간을 주고 </a:t>
            </a:r>
            <a:r>
              <a:rPr lang="en-US" altLang="ko-KR" dirty="0"/>
              <a:t>Project Manager</a:t>
            </a:r>
            <a:r>
              <a:rPr lang="ko-KR" altLang="en-US" dirty="0"/>
              <a:t>가 해야 할 </a:t>
            </a:r>
            <a:r>
              <a:rPr lang="en-US" altLang="ko-KR" dirty="0"/>
              <a:t>Activity</a:t>
            </a:r>
            <a:r>
              <a:rPr lang="ko-KR" altLang="en-US" dirty="0" err="1"/>
              <a:t>를</a:t>
            </a:r>
            <a:r>
              <a:rPr lang="ko-KR" altLang="en-US" dirty="0"/>
              <a:t> 하나씩 마음 속에 정리하라고 한다</a:t>
            </a:r>
            <a:r>
              <a:rPr lang="en-US" altLang="ko-KR" dirty="0"/>
              <a:t>.</a:t>
            </a:r>
          </a:p>
          <a:p>
            <a:r>
              <a:rPr lang="ko-KR" altLang="en-US" dirty="0"/>
              <a:t>각 학생들이 앞으로 나와서 칠판에 쓰도록 한다</a:t>
            </a:r>
            <a:endParaRPr lang="en-US" altLang="ko-KR" dirty="0"/>
          </a:p>
          <a:p>
            <a:r>
              <a:rPr lang="ko-KR" altLang="en-US" dirty="0"/>
              <a:t>학생들이 쓴 활동을 우선 </a:t>
            </a:r>
            <a:r>
              <a:rPr lang="ko-KR" altLang="en-US" dirty="0" err="1"/>
              <a:t>비슷한것</a:t>
            </a:r>
            <a:r>
              <a:rPr lang="ko-KR" altLang="en-US" dirty="0"/>
              <a:t> 끼리 모은 다음</a:t>
            </a:r>
            <a:r>
              <a:rPr lang="en-US" altLang="ko-KR" dirty="0"/>
              <a:t>,</a:t>
            </a:r>
            <a:r>
              <a:rPr lang="ko-KR" altLang="en-US" dirty="0"/>
              <a:t> 시간 순으로 나열해 본다</a:t>
            </a:r>
            <a:endParaRPr lang="en-US" altLang="ko-KR" dirty="0"/>
          </a:p>
          <a:p>
            <a:r>
              <a:rPr lang="ko-KR" altLang="en-US" dirty="0"/>
              <a:t>지금 어느 단계에 </a:t>
            </a:r>
            <a:r>
              <a:rPr lang="ko-KR" altLang="en-US" dirty="0" err="1"/>
              <a:t>있니라고</a:t>
            </a:r>
            <a:r>
              <a:rPr lang="ko-KR" altLang="en-US" dirty="0"/>
              <a:t> 질문을 받을 때</a:t>
            </a:r>
            <a:r>
              <a:rPr lang="en-US" altLang="ko-KR" dirty="0"/>
              <a:t>,</a:t>
            </a:r>
            <a:r>
              <a:rPr lang="ko-KR" altLang="en-US" dirty="0"/>
              <a:t> 이렇게 자세한 활동을 이야기 하면 </a:t>
            </a:r>
            <a:r>
              <a:rPr lang="en-US" altLang="ko-KR" dirty="0"/>
              <a:t>Communication</a:t>
            </a:r>
            <a:r>
              <a:rPr lang="ko-KR" altLang="en-US" dirty="0"/>
              <a:t>이 어려우니 이 활동들을 </a:t>
            </a:r>
            <a:r>
              <a:rPr lang="ko-KR" altLang="en-US" dirty="0" err="1"/>
              <a:t>그루핑한다</a:t>
            </a:r>
            <a:r>
              <a:rPr lang="en-US" altLang="ko-KR" dirty="0"/>
              <a:t>.</a:t>
            </a:r>
            <a:r>
              <a:rPr lang="ko-KR" altLang="en-US" dirty="0"/>
              <a:t> </a:t>
            </a:r>
            <a:r>
              <a:rPr lang="en-US" altLang="ko-KR" dirty="0"/>
              <a:t>(</a:t>
            </a:r>
            <a:r>
              <a:rPr lang="ko-KR" altLang="en-US" dirty="0"/>
              <a:t>주로 표준으로 제정</a:t>
            </a:r>
            <a:r>
              <a:rPr lang="en-US" altLang="ko-KR" dirty="0"/>
              <a:t>)</a:t>
            </a:r>
          </a:p>
          <a:p>
            <a:r>
              <a:rPr lang="ko-KR" altLang="en-US" dirty="0"/>
              <a:t>다섯개의 그룹을 만들어 이름을 부친다</a:t>
            </a:r>
            <a:r>
              <a:rPr lang="en-US" altLang="ko-KR" dirty="0"/>
              <a:t> (initiating, Planning, Execution, Monitoring, Closing)</a:t>
            </a:r>
          </a:p>
          <a:p>
            <a:endParaRPr lang="en-KR" dirty="0"/>
          </a:p>
        </p:txBody>
      </p:sp>
      <p:sp>
        <p:nvSpPr>
          <p:cNvPr id="4" name="Slide Number Placeholder 3"/>
          <p:cNvSpPr>
            <a:spLocks noGrp="1"/>
          </p:cNvSpPr>
          <p:nvPr>
            <p:ph type="sldNum" sz="quarter" idx="5"/>
          </p:nvPr>
        </p:nvSpPr>
        <p:spPr/>
        <p:txBody>
          <a:bodyPr/>
          <a:lstStyle/>
          <a:p>
            <a:fld id="{4BEF8D38-A5B4-4F6D-A1F2-FF557897FE47}" type="slidenum">
              <a:rPr lang="en-US" smtClean="0"/>
              <a:pPr/>
              <a:t>8</a:t>
            </a:fld>
            <a:endParaRPr lang="en-US" dirty="0"/>
          </a:p>
        </p:txBody>
      </p:sp>
    </p:spTree>
    <p:extLst>
      <p:ext uri="{BB962C8B-B14F-4D97-AF65-F5344CB8AC3E}">
        <p14:creationId xmlns:p14="http://schemas.microsoft.com/office/powerpoint/2010/main" val="3220578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23FE4B5-2F8B-42B0-B941-7FBA2165B60F}" type="slidenum">
              <a:rPr lang="ko-KR" altLang="en-US" smtClean="0"/>
              <a:t>9</a:t>
            </a:fld>
            <a:endParaRPr lang="ko-KR" altLang="en-US"/>
          </a:p>
        </p:txBody>
      </p:sp>
    </p:spTree>
    <p:extLst>
      <p:ext uri="{BB962C8B-B14F-4D97-AF65-F5344CB8AC3E}">
        <p14:creationId xmlns:p14="http://schemas.microsoft.com/office/powerpoint/2010/main" val="4264485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R" dirty="0"/>
          </a:p>
        </p:txBody>
      </p:sp>
      <p:sp>
        <p:nvSpPr>
          <p:cNvPr id="4" name="Slide Number Placeholder 3"/>
          <p:cNvSpPr>
            <a:spLocks noGrp="1"/>
          </p:cNvSpPr>
          <p:nvPr>
            <p:ph type="sldNum" sz="quarter" idx="5"/>
          </p:nvPr>
        </p:nvSpPr>
        <p:spPr/>
        <p:txBody>
          <a:bodyPr/>
          <a:lstStyle/>
          <a:p>
            <a:fld id="{9F1827B2-03B7-439D-9E62-BFE4631412E3}" type="slidenum">
              <a:rPr lang="ko-KR" altLang="en-US" smtClean="0"/>
              <a:t>10</a:t>
            </a:fld>
            <a:endParaRPr lang="ko-KR" altLang="en-US"/>
          </a:p>
        </p:txBody>
      </p:sp>
    </p:spTree>
    <p:extLst>
      <p:ext uri="{BB962C8B-B14F-4D97-AF65-F5344CB8AC3E}">
        <p14:creationId xmlns:p14="http://schemas.microsoft.com/office/powerpoint/2010/main" val="1856660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Background:</a:t>
            </a:r>
            <a:r>
              <a:rPr lang="en-US" sz="1200" b="0" i="0" kern="1200" dirty="0">
                <a:solidFill>
                  <a:schemeClr val="tx1"/>
                </a:solidFill>
                <a:effectLst/>
                <a:latin typeface="+mn-lt"/>
                <a:ea typeface="+mn-ea"/>
                <a:cs typeface="+mn-cs"/>
              </a:rPr>
              <a:t> The text notes that assigning a single task type to a worker (specialization) ensures they become efficient at that task. However, it also warns that specialization can lead to boredom and lowered morale, whereas variety can keep workers engaged but potentially lower efficiency. The debate centers on whether efficiency or team morale/skill-redundancy should be the primary driver of assignment strategy.</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Debate Arguments: Task Specialization vs. Task Variety</a:t>
            </a:r>
          </a:p>
          <a:p>
            <a:r>
              <a:rPr lang="en-US" sz="1200" b="1" i="0" kern="1200" dirty="0">
                <a:solidFill>
                  <a:schemeClr val="tx1"/>
                </a:solidFill>
                <a:effectLst/>
                <a:latin typeface="+mn-lt"/>
                <a:ea typeface="+mn-ea"/>
                <a:cs typeface="+mn-cs"/>
              </a:rPr>
              <a:t>YES: Project managers should strictly prioritize task specialization.</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It creates maximum efficiency:</a:t>
            </a:r>
            <a:r>
              <a:rPr lang="en-US" sz="1200" b="0" i="0" kern="1200" dirty="0">
                <a:solidFill>
                  <a:schemeClr val="tx1"/>
                </a:solidFill>
                <a:effectLst/>
                <a:latin typeface="+mn-lt"/>
                <a:ea typeface="+mn-ea"/>
                <a:cs typeface="+mn-cs"/>
              </a:rPr>
              <a:t> Assigning a single task type (or very few) to a worker ensures that they become highly efficient at that particular activity because they repeat it constantly.</a:t>
            </a:r>
          </a:p>
          <a:p>
            <a:r>
              <a:rPr lang="en-US" sz="1200" b="1" i="0" kern="1200" dirty="0">
                <a:solidFill>
                  <a:schemeClr val="tx1"/>
                </a:solidFill>
                <a:effectLst/>
                <a:latin typeface="+mn-lt"/>
                <a:ea typeface="+mn-ea"/>
                <a:cs typeface="+mn-cs"/>
              </a:rPr>
              <a:t>It optimizes for speed and quality:</a:t>
            </a:r>
            <a:r>
              <a:rPr lang="en-US" sz="1200" b="0" i="0" kern="1200" dirty="0">
                <a:solidFill>
                  <a:schemeClr val="tx1"/>
                </a:solidFill>
                <a:effectLst/>
                <a:latin typeface="+mn-lt"/>
                <a:ea typeface="+mn-ea"/>
                <a:cs typeface="+mn-cs"/>
              </a:rPr>
              <a:t> Managers can assign tasks based on specific personality traits or skills. For example, a meticulous worker can be assigned all quality-critical tasks, while a fast worker is assigned all time-critical tasks, ensuring the best outcome for every part of the project.</a:t>
            </a:r>
          </a:p>
          <a:p>
            <a:r>
              <a:rPr lang="en-US" sz="1200" b="1" i="0" kern="1200" dirty="0">
                <a:solidFill>
                  <a:schemeClr val="tx1"/>
                </a:solidFill>
                <a:effectLst/>
                <a:latin typeface="+mn-lt"/>
                <a:ea typeface="+mn-ea"/>
                <a:cs typeface="+mn-cs"/>
              </a:rPr>
              <a:t>It reduces "Switching Costs":</a:t>
            </a:r>
            <a:r>
              <a:rPr lang="en-US" sz="1200" b="0" i="0" kern="1200" dirty="0">
                <a:solidFill>
                  <a:schemeClr val="tx1"/>
                </a:solidFill>
                <a:effectLst/>
                <a:latin typeface="+mn-lt"/>
                <a:ea typeface="+mn-ea"/>
                <a:cs typeface="+mn-cs"/>
              </a:rPr>
              <a:t> By keeping a team member on one type of task (e.g., creating all system reports), they do not lose time mentally switching between different types of work or tools.</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NO: Project managers should NOT strictly prioritize specialization (Prioritize Variety).</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It leads to boredom and low morale:</a:t>
            </a:r>
            <a:r>
              <a:rPr lang="en-US" sz="1200" b="0" i="0" kern="1200" dirty="0">
                <a:solidFill>
                  <a:schemeClr val="tx1"/>
                </a:solidFill>
                <a:effectLst/>
                <a:latin typeface="+mn-lt"/>
                <a:ea typeface="+mn-ea"/>
                <a:cs typeface="+mn-cs"/>
              </a:rPr>
              <a:t> The text warns that a worker may become bored if a task is too specialized or continues for a long duration, which can negatively affect the work environment.</a:t>
            </a:r>
          </a:p>
          <a:p>
            <a:r>
              <a:rPr lang="en-US" sz="1200" b="1" i="0" kern="1200" dirty="0">
                <a:solidFill>
                  <a:schemeClr val="tx1"/>
                </a:solidFill>
                <a:effectLst/>
                <a:latin typeface="+mn-lt"/>
                <a:ea typeface="+mn-ea"/>
                <a:cs typeface="+mn-cs"/>
              </a:rPr>
              <a:t>It hinders skill development:</a:t>
            </a:r>
            <a:r>
              <a:rPr lang="en-US" sz="1200" b="0" i="0" kern="1200" dirty="0">
                <a:solidFill>
                  <a:schemeClr val="tx1"/>
                </a:solidFill>
                <a:effectLst/>
                <a:latin typeface="+mn-lt"/>
                <a:ea typeface="+mn-ea"/>
                <a:cs typeface="+mn-cs"/>
              </a:rPr>
              <a:t> It is important to give people tasks that allow them to learn new skills. Strict specialization prevents team members from growing and learning new parts of the system.</a:t>
            </a:r>
          </a:p>
          <a:p>
            <a:r>
              <a:rPr lang="en-US" sz="1200" b="1" i="0" kern="1200" dirty="0">
                <a:solidFill>
                  <a:schemeClr val="tx1"/>
                </a:solidFill>
                <a:effectLst/>
                <a:latin typeface="+mn-lt"/>
                <a:ea typeface="+mn-ea"/>
                <a:cs typeface="+mn-cs"/>
              </a:rPr>
              <a:t>A "Middle Ground" is safer:</a:t>
            </a:r>
            <a:r>
              <a:rPr lang="en-US" sz="1200" b="0" i="0" kern="1200" dirty="0">
                <a:solidFill>
                  <a:schemeClr val="tx1"/>
                </a:solidFill>
                <a:effectLst/>
                <a:latin typeface="+mn-lt"/>
                <a:ea typeface="+mn-ea"/>
                <a:cs typeface="+mn-cs"/>
              </a:rPr>
              <a:t> While variety might lower raw efficiency slightly, a balanced approach avoids the burnout of specialization while still getting work done. The text suggests the best approach is often a "middle ground" rather than strict specialization.</a:t>
            </a:r>
          </a:p>
          <a:p>
            <a:endParaRPr lang="en-US" dirty="0"/>
          </a:p>
          <a:p>
            <a:endParaRPr lang="en-KR" dirty="0"/>
          </a:p>
          <a:p>
            <a:endParaRPr lang="en-US" sz="1200" b="0" i="0" kern="1200" dirty="0">
              <a:solidFill>
                <a:schemeClr val="tx1"/>
              </a:solidFill>
              <a:effectLst/>
              <a:latin typeface="+mn-lt"/>
              <a:ea typeface="+mn-ea"/>
              <a:cs typeface="+mn-cs"/>
            </a:endParaRPr>
          </a:p>
          <a:p>
            <a:endParaRPr lang="en-KR" dirty="0"/>
          </a:p>
        </p:txBody>
      </p:sp>
      <p:sp>
        <p:nvSpPr>
          <p:cNvPr id="4" name="Slide Number Placeholder 3"/>
          <p:cNvSpPr>
            <a:spLocks noGrp="1"/>
          </p:cNvSpPr>
          <p:nvPr>
            <p:ph type="sldNum" sz="quarter" idx="5"/>
          </p:nvPr>
        </p:nvSpPr>
        <p:spPr/>
        <p:txBody>
          <a:bodyPr/>
          <a:lstStyle/>
          <a:p>
            <a:fld id="{9F1827B2-03B7-439D-9E62-BFE4631412E3}" type="slidenum">
              <a:rPr lang="ko-KR" altLang="en-US" smtClean="0"/>
              <a:t>12</a:t>
            </a:fld>
            <a:endParaRPr lang="ko-KR" altLang="en-US"/>
          </a:p>
        </p:txBody>
      </p:sp>
    </p:spTree>
    <p:extLst>
      <p:ext uri="{BB962C8B-B14F-4D97-AF65-F5344CB8AC3E}">
        <p14:creationId xmlns:p14="http://schemas.microsoft.com/office/powerpoint/2010/main" val="2708188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i="1" dirty="0"/>
              <a:t>Background:</a:t>
            </a:r>
            <a:r>
              <a:rPr lang="en-US" dirty="0"/>
              <a:t> Table 3-1 highlights leadership, conflict management, communication, and customer relations as core project manager skills, many of which are non-technical. This raises debate over whether technical mastery or people management ultimately determines outcomes in complex systems projects.  </a:t>
            </a:r>
          </a:p>
          <a:p>
            <a:endParaRPr lang="en-KR" dirty="0"/>
          </a:p>
          <a:p>
            <a:r>
              <a:rPr lang="en-US" dirty="0"/>
              <a:t>The outlines are explicitly grounded in </a:t>
            </a:r>
            <a:r>
              <a:rPr lang="en-US" i="1" dirty="0"/>
              <a:t>Managing the Information Systems Project</a:t>
            </a:r>
            <a:r>
              <a:rPr lang="en-US" dirty="0"/>
              <a:t> and are designed so that </a:t>
            </a:r>
            <a:r>
              <a:rPr lang="en-US" b="1" dirty="0"/>
              <a:t>strong arguments require deep engagement with the chapter’s concepts, not generic opinions</a:t>
            </a:r>
            <a:r>
              <a:rPr lang="en-US" dirty="0"/>
              <a:t>.</a:t>
            </a:r>
          </a:p>
          <a:p>
            <a:br>
              <a:rPr lang="en-US" dirty="0"/>
            </a:br>
            <a:endParaRPr lang="en-US" dirty="0"/>
          </a:p>
          <a:p>
            <a:r>
              <a:rPr lang="en-US" sz="1200" b="1" i="0" kern="1200" dirty="0">
                <a:solidFill>
                  <a:schemeClr val="tx1"/>
                </a:solidFill>
                <a:effectLst/>
                <a:latin typeface="+mn-lt"/>
                <a:ea typeface="+mn-ea"/>
                <a:cs typeface="+mn-cs"/>
              </a:rPr>
              <a:t>YES: Leadership and Interpersonal Skills are More Critical.</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Project Management is primarily about people, not code:</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The text explicitly notes that "many of the skills are related to personnel or general management, not simply technical skills".</a:t>
            </a:r>
          </a:p>
          <a:p>
            <a:pPr lvl="1"/>
            <a:r>
              <a:rPr lang="en-US" sz="1200" b="0" i="0" kern="1200" dirty="0">
                <a:solidFill>
                  <a:schemeClr val="tx1"/>
                </a:solidFill>
                <a:effectLst/>
                <a:latin typeface="+mn-lt"/>
                <a:ea typeface="+mn-ea"/>
                <a:cs typeface="+mn-cs"/>
              </a:rPr>
              <a:t>The project manager is described as a "juggler" who must handle customer expectations, organizational change, and contractor relations, all of which are interpersonal tasks rather than technical ones.</a:t>
            </a:r>
          </a:p>
          <a:p>
            <a:r>
              <a:rPr lang="en-US" sz="1200" b="1" i="0" kern="1200" dirty="0">
                <a:solidFill>
                  <a:schemeClr val="tx1"/>
                </a:solidFill>
                <a:effectLst/>
                <a:latin typeface="+mn-lt"/>
                <a:ea typeface="+mn-ea"/>
                <a:cs typeface="+mn-cs"/>
              </a:rPr>
              <a:t>Conflict and Team Management determine stability:</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A key activity for project managers is "Conflict management," specifically ensuring that conflict within a team is not too high, which requires strong interpersonal skills rather than technical ones.</a:t>
            </a:r>
          </a:p>
          <a:p>
            <a:pPr lvl="1"/>
            <a:r>
              <a:rPr lang="en-US" sz="1200" b="0" i="0" kern="1200" dirty="0">
                <a:solidFill>
                  <a:schemeClr val="tx1"/>
                </a:solidFill>
                <a:effectLst/>
                <a:latin typeface="+mn-lt"/>
                <a:ea typeface="+mn-ea"/>
                <a:cs typeface="+mn-cs"/>
              </a:rPr>
              <a:t>"Team management" involves managing the project team for effective performance, including peer evaluations and team building, which are leadership functions.</a:t>
            </a:r>
          </a:p>
          <a:p>
            <a:r>
              <a:rPr lang="en-US" sz="1200" b="1" i="0" kern="1200" dirty="0">
                <a:solidFill>
                  <a:schemeClr val="tx1"/>
                </a:solidFill>
                <a:effectLst/>
                <a:latin typeface="+mn-lt"/>
                <a:ea typeface="+mn-ea"/>
                <a:cs typeface="+mn-cs"/>
              </a:rPr>
              <a:t>Customer Relations drive project alignment:</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"Customer relations" is listed as a critical skill, requiring the manager to interpret system requests and act as a contact point for customers.</a:t>
            </a:r>
          </a:p>
          <a:p>
            <a:pPr lvl="1"/>
            <a:r>
              <a:rPr lang="en-US" sz="1200" b="0" i="0" kern="1200" dirty="0">
                <a:solidFill>
                  <a:schemeClr val="tx1"/>
                </a:solidFill>
                <a:effectLst/>
                <a:latin typeface="+mn-lt"/>
                <a:ea typeface="+mn-ea"/>
                <a:cs typeface="+mn-cs"/>
              </a:rPr>
              <a:t>Establishing a relationship with the customer is a specific initiation activity designed to build "stronger partnerships and higher levels of trust," which is essential for success regardless of technical prowess.</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NO: Technical Expertise is Equally or More Critical (or the Foundation).</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The Project Manager is defined as a Technical Analyst:</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The text defines a project manager as "a systems analyst with a diverse set of skills," implying that technical competence (the analyst role) is the prerequisite foundation for the position.</a:t>
            </a:r>
          </a:p>
          <a:p>
            <a:pPr lvl="1"/>
            <a:r>
              <a:rPr lang="en-US" sz="1200" b="0" i="0" kern="1200" dirty="0">
                <a:solidFill>
                  <a:schemeClr val="tx1"/>
                </a:solidFill>
                <a:effectLst/>
                <a:latin typeface="+mn-lt"/>
                <a:ea typeface="+mn-ea"/>
                <a:cs typeface="+mn-cs"/>
              </a:rPr>
              <a:t>In many organizations, the project manager is explicitly a "very experienced systems analyst".</a:t>
            </a:r>
          </a:p>
          <a:p>
            <a:r>
              <a:rPr lang="en-US" sz="1200" b="1" i="0" kern="1200" dirty="0">
                <a:solidFill>
                  <a:schemeClr val="tx1"/>
                </a:solidFill>
                <a:effectLst/>
                <a:latin typeface="+mn-lt"/>
                <a:ea typeface="+mn-ea"/>
                <a:cs typeface="+mn-cs"/>
              </a:rPr>
              <a:t>Technical Problem Solving is a required core skill:</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Table 3-1 lists "Technical problem solving" as a core skill, requiring the manager to interpret specifications and "design solutions to problems".</a:t>
            </a:r>
          </a:p>
          <a:p>
            <a:pPr lvl="1"/>
            <a:r>
              <a:rPr lang="en-US" sz="1200" b="0" i="0" kern="1200" dirty="0">
                <a:solidFill>
                  <a:schemeClr val="tx1"/>
                </a:solidFill>
                <a:effectLst/>
                <a:latin typeface="+mn-lt"/>
                <a:ea typeface="+mn-ea"/>
                <a:cs typeface="+mn-cs"/>
              </a:rPr>
              <a:t>Without technical expertise, a manager cannot effectively define and sequence the detailed technical activities required for the "Work breakdown structure".</a:t>
            </a:r>
          </a:p>
          <a:p>
            <a:r>
              <a:rPr lang="en-US" sz="1200" b="1" i="0" kern="1200" dirty="0">
                <a:solidFill>
                  <a:schemeClr val="tx1"/>
                </a:solidFill>
                <a:effectLst/>
                <a:latin typeface="+mn-lt"/>
                <a:ea typeface="+mn-ea"/>
                <a:cs typeface="+mn-cs"/>
              </a:rPr>
              <a:t>Resource and Risk Estimation requires technical insight:</a:t>
            </a:r>
            <a:endParaRPr lang="en-US" sz="1200" b="0" i="0" kern="1200" dirty="0">
              <a:solidFill>
                <a:schemeClr val="tx1"/>
              </a:solidFill>
              <a:effectLst/>
              <a:latin typeface="+mn-lt"/>
              <a:ea typeface="+mn-ea"/>
              <a:cs typeface="+mn-cs"/>
            </a:endParaRPr>
          </a:p>
          <a:p>
            <a:pPr lvl="1"/>
            <a:r>
              <a:rPr lang="en-US" sz="1200" b="0" i="0" kern="1200" dirty="0">
                <a:solidFill>
                  <a:schemeClr val="tx1"/>
                </a:solidFill>
                <a:effectLst/>
                <a:latin typeface="+mn-lt"/>
                <a:ea typeface="+mn-ea"/>
                <a:cs typeface="+mn-cs"/>
              </a:rPr>
              <a:t>Managers must use technical models like COCOMO to estimate the size and cost of software, which requires understanding "project characteristics" and complexity.</a:t>
            </a:r>
          </a:p>
          <a:p>
            <a:pPr lvl="1"/>
            <a:r>
              <a:rPr lang="en-US" sz="1200" b="0" i="0" kern="1200" dirty="0">
                <a:solidFill>
                  <a:schemeClr val="tx1"/>
                </a:solidFill>
                <a:effectLst/>
                <a:latin typeface="+mn-lt"/>
                <a:ea typeface="+mn-ea"/>
                <a:cs typeface="+mn-cs"/>
              </a:rPr>
              <a:t>Identifying risks involves assessing "new technology" or "team member inexperience with technology," judgments that require deep technical understanding to make accurately</a:t>
            </a:r>
          </a:p>
          <a:p>
            <a:endParaRPr lang="en-KR" dirty="0"/>
          </a:p>
        </p:txBody>
      </p:sp>
      <p:sp>
        <p:nvSpPr>
          <p:cNvPr id="4" name="Slide Number Placeholder 3"/>
          <p:cNvSpPr>
            <a:spLocks noGrp="1"/>
          </p:cNvSpPr>
          <p:nvPr>
            <p:ph type="sldNum" sz="quarter" idx="5"/>
          </p:nvPr>
        </p:nvSpPr>
        <p:spPr/>
        <p:txBody>
          <a:bodyPr/>
          <a:lstStyle/>
          <a:p>
            <a:fld id="{9F1827B2-03B7-439D-9E62-BFE4631412E3}" type="slidenum">
              <a:rPr lang="ko-KR" altLang="en-US" smtClean="0"/>
              <a:t>13</a:t>
            </a:fld>
            <a:endParaRPr lang="ko-KR" altLang="en-US"/>
          </a:p>
        </p:txBody>
      </p:sp>
    </p:spTree>
    <p:extLst>
      <p:ext uri="{BB962C8B-B14F-4D97-AF65-F5344CB8AC3E}">
        <p14:creationId xmlns:p14="http://schemas.microsoft.com/office/powerpoint/2010/main" val="40952205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R" dirty="0"/>
          </a:p>
        </p:txBody>
      </p:sp>
    </p:spTree>
    <p:extLst>
      <p:ext uri="{BB962C8B-B14F-4D97-AF65-F5344CB8AC3E}">
        <p14:creationId xmlns:p14="http://schemas.microsoft.com/office/powerpoint/2010/main" val="1979375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R" dirty="0"/>
          </a:p>
        </p:txBody>
      </p:sp>
      <p:sp>
        <p:nvSpPr>
          <p:cNvPr id="4" name="Slide Number Placeholder 3"/>
          <p:cNvSpPr>
            <a:spLocks noGrp="1"/>
          </p:cNvSpPr>
          <p:nvPr>
            <p:ph type="sldNum" sz="quarter" idx="5"/>
          </p:nvPr>
        </p:nvSpPr>
        <p:spPr/>
        <p:txBody>
          <a:bodyPr/>
          <a:lstStyle/>
          <a:p>
            <a:fld id="{9F1827B2-03B7-439D-9E62-BFE4631412E3}" type="slidenum">
              <a:rPr lang="ko-KR" altLang="en-US" smtClean="0"/>
              <a:t>22</a:t>
            </a:fld>
            <a:endParaRPr lang="ko-KR" altLang="en-US"/>
          </a:p>
        </p:txBody>
      </p:sp>
    </p:spTree>
    <p:extLst>
      <p:ext uri="{BB962C8B-B14F-4D97-AF65-F5344CB8AC3E}">
        <p14:creationId xmlns:p14="http://schemas.microsoft.com/office/powerpoint/2010/main" val="35996085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6913"/>
            <a:ext cx="6197600" cy="34861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3FE4B5-2F8B-42B0-B941-7FBA2165B60F}" type="slidenum">
              <a:rPr lang="ko-KR" altLang="en-US" smtClean="0"/>
              <a:t>24</a:t>
            </a:fld>
            <a:endParaRPr lang="ko-KR" altLang="en-US"/>
          </a:p>
        </p:txBody>
      </p:sp>
    </p:spTree>
    <p:extLst>
      <p:ext uri="{BB962C8B-B14F-4D97-AF65-F5344CB8AC3E}">
        <p14:creationId xmlns:p14="http://schemas.microsoft.com/office/powerpoint/2010/main" val="14671488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6913"/>
            <a:ext cx="6197600" cy="3486150"/>
          </a:xfrm>
        </p:spPr>
      </p:sp>
      <p:sp>
        <p:nvSpPr>
          <p:cNvPr id="3" name="Notes Placeholder 2"/>
          <p:cNvSpPr>
            <a:spLocks noGrp="1"/>
          </p:cNvSpPr>
          <p:nvPr>
            <p:ph type="body" idx="1"/>
          </p:nvPr>
        </p:nvSpPr>
        <p:spPr/>
        <p:txBody>
          <a:bodyPr/>
          <a:lstStyle/>
          <a:p>
            <a:r>
              <a:rPr lang="ko-KR" altLang="en-US" dirty="0"/>
              <a:t>글로벌 경쟁</a:t>
            </a:r>
            <a:r>
              <a:rPr lang="en-US" altLang="ko-KR" dirty="0"/>
              <a:t>, </a:t>
            </a:r>
            <a:r>
              <a:rPr lang="ko-KR" altLang="en-US" dirty="0"/>
              <a:t>파괴적 혁신에 따르는  기업경쟁력 확보를 위한 사업화 </a:t>
            </a:r>
            <a:r>
              <a:rPr lang="en-US" altLang="ko-KR" dirty="0"/>
              <a:t>(Business Model)</a:t>
            </a:r>
            <a:r>
              <a:rPr lang="ko-KR" altLang="en-US" dirty="0"/>
              <a:t>의 발굴이 중요해지고 있음</a:t>
            </a:r>
            <a:endParaRPr lang="en-US" dirty="0"/>
          </a:p>
        </p:txBody>
      </p:sp>
      <p:sp>
        <p:nvSpPr>
          <p:cNvPr id="4" name="Slide Number Placeholder 3"/>
          <p:cNvSpPr>
            <a:spLocks noGrp="1"/>
          </p:cNvSpPr>
          <p:nvPr>
            <p:ph type="sldNum" sz="quarter" idx="10"/>
          </p:nvPr>
        </p:nvSpPr>
        <p:spPr/>
        <p:txBody>
          <a:bodyPr/>
          <a:lstStyle/>
          <a:p>
            <a:fld id="{123FE4B5-2F8B-42B0-B941-7FBA2165B60F}" type="slidenum">
              <a:rPr lang="ko-KR" altLang="en-US" smtClean="0"/>
              <a:t>25</a:t>
            </a:fld>
            <a:endParaRPr lang="ko-KR" altLang="en-US"/>
          </a:p>
        </p:txBody>
      </p:sp>
    </p:spTree>
    <p:extLst>
      <p:ext uri="{BB962C8B-B14F-4D97-AF65-F5344CB8AC3E}">
        <p14:creationId xmlns:p14="http://schemas.microsoft.com/office/powerpoint/2010/main" val="36964710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6913"/>
            <a:ext cx="6197600" cy="3486150"/>
          </a:xfrm>
        </p:spPr>
      </p:sp>
      <p:sp>
        <p:nvSpPr>
          <p:cNvPr id="3" name="Notes Placeholder 2"/>
          <p:cNvSpPr>
            <a:spLocks noGrp="1"/>
          </p:cNvSpPr>
          <p:nvPr>
            <p:ph type="body" idx="1"/>
          </p:nvPr>
        </p:nvSpPr>
        <p:spPr/>
        <p:txBody>
          <a:bodyPr/>
          <a:lstStyle/>
          <a:p>
            <a:r>
              <a:rPr lang="ko-KR" altLang="en-US" dirty="0"/>
              <a:t>프로젝트와 </a:t>
            </a:r>
            <a:r>
              <a:rPr lang="en-US" altLang="ko-KR" dirty="0"/>
              <a:t>Operation</a:t>
            </a:r>
            <a:r>
              <a:rPr lang="ko-KR" altLang="en-US" dirty="0"/>
              <a:t>의 차이 이해</a:t>
            </a:r>
            <a:endParaRPr lang="en-US" dirty="0"/>
          </a:p>
        </p:txBody>
      </p:sp>
      <p:sp>
        <p:nvSpPr>
          <p:cNvPr id="4" name="Slide Number Placeholder 3"/>
          <p:cNvSpPr>
            <a:spLocks noGrp="1"/>
          </p:cNvSpPr>
          <p:nvPr>
            <p:ph type="sldNum" sz="quarter" idx="10"/>
          </p:nvPr>
        </p:nvSpPr>
        <p:spPr/>
        <p:txBody>
          <a:bodyPr/>
          <a:lstStyle/>
          <a:p>
            <a:fld id="{123FE4B5-2F8B-42B0-B941-7FBA2165B60F}" type="slidenum">
              <a:rPr lang="ko-KR" altLang="en-US" smtClean="0"/>
              <a:t>26</a:t>
            </a:fld>
            <a:endParaRPr lang="ko-KR" altLang="en-US"/>
          </a:p>
        </p:txBody>
      </p:sp>
    </p:spTree>
    <p:extLst>
      <p:ext uri="{BB962C8B-B14F-4D97-AF65-F5344CB8AC3E}">
        <p14:creationId xmlns:p14="http://schemas.microsoft.com/office/powerpoint/2010/main" val="37758849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30200" y="696913"/>
            <a:ext cx="6197600" cy="3486150"/>
          </a:xfrm>
        </p:spPr>
      </p:sp>
      <p:sp>
        <p:nvSpPr>
          <p:cNvPr id="3" name="슬라이드 노트 개체 틀 2"/>
          <p:cNvSpPr>
            <a:spLocks noGrp="1"/>
          </p:cNvSpPr>
          <p:nvPr>
            <p:ph type="body" idx="1"/>
          </p:nvPr>
        </p:nvSpPr>
        <p:spPr/>
        <p:txBody>
          <a:bodyPr>
            <a:normAutofit/>
          </a:bodyPr>
          <a:lstStyle/>
          <a:p>
            <a:endParaRPr lang="ko-KR" altLang="en-US" sz="1000" dirty="0"/>
          </a:p>
        </p:txBody>
      </p:sp>
      <p:sp>
        <p:nvSpPr>
          <p:cNvPr id="4" name="슬라이드 번호 개체 틀 3"/>
          <p:cNvSpPr>
            <a:spLocks noGrp="1"/>
          </p:cNvSpPr>
          <p:nvPr>
            <p:ph type="sldNum" sz="quarter" idx="10"/>
          </p:nvPr>
        </p:nvSpPr>
        <p:spPr/>
        <p:txBody>
          <a:bodyPr/>
          <a:lstStyle/>
          <a:p>
            <a:fld id="{4D5B5AD0-A8CB-4304-9299-184867A0AF40}" type="slidenum">
              <a:rPr lang="ko-KR" altLang="en-US" smtClean="0"/>
              <a:pPr/>
              <a:t>27</a:t>
            </a:fld>
            <a:endParaRPr lang="ko-KR"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58073B-9C72-45A4-B9E0-653F32B7693A}" type="slidenum">
              <a:rPr lang="ko-KR" altLang="en-US" smtClean="0"/>
              <a:pPr/>
              <a:t>38</a:t>
            </a:fld>
            <a:endParaRPr lang="ko-KR" altLang="en-US"/>
          </a:p>
        </p:txBody>
      </p:sp>
    </p:spTree>
    <p:extLst>
      <p:ext uri="{BB962C8B-B14F-4D97-AF65-F5344CB8AC3E}">
        <p14:creationId xmlns:p14="http://schemas.microsoft.com/office/powerpoint/2010/main" val="9994425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ko-KR" altLang="en-US" dirty="0"/>
          </a:p>
        </p:txBody>
      </p:sp>
      <p:sp>
        <p:nvSpPr>
          <p:cNvPr id="4" name="Slide Number Placeholder 3"/>
          <p:cNvSpPr>
            <a:spLocks noGrp="1"/>
          </p:cNvSpPr>
          <p:nvPr>
            <p:ph type="sldNum" sz="quarter" idx="10"/>
          </p:nvPr>
        </p:nvSpPr>
        <p:spPr/>
        <p:txBody>
          <a:bodyPr/>
          <a:lstStyle/>
          <a:p>
            <a:fld id="{AE58073B-9C72-45A4-B9E0-653F32B7693A}" type="slidenum">
              <a:rPr lang="ko-KR" altLang="en-US" smtClean="0"/>
              <a:pPr/>
              <a:t>39</a:t>
            </a:fld>
            <a:endParaRPr lang="ko-KR" altLang="en-US"/>
          </a:p>
        </p:txBody>
      </p:sp>
    </p:spTree>
    <p:extLst>
      <p:ext uri="{BB962C8B-B14F-4D97-AF65-F5344CB8AC3E}">
        <p14:creationId xmlns:p14="http://schemas.microsoft.com/office/powerpoint/2010/main" val="17864785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30200" y="696913"/>
            <a:ext cx="6197600" cy="3486150"/>
          </a:xfrm>
        </p:spPr>
      </p:sp>
      <p:sp>
        <p:nvSpPr>
          <p:cNvPr id="3" name="슬라이드 노트 개체 틀 2"/>
          <p:cNvSpPr>
            <a:spLocks noGrp="1"/>
          </p:cNvSpPr>
          <p:nvPr>
            <p:ph type="body" idx="1"/>
          </p:nvPr>
        </p:nvSpPr>
        <p:spPr/>
        <p:txBody>
          <a:bodyPr/>
          <a:lstStyle/>
          <a:p>
            <a:pPr eaLnBrk="1" hangingPunct="1">
              <a:buNone/>
            </a:pPr>
            <a:r>
              <a:rPr lang="ko-KR" altLang="en-US" sz="1400" b="1" dirty="0">
                <a:latin typeface="맑은 고딕" pitchFamily="50" charset="-127"/>
                <a:ea typeface="맑은 고딕" pitchFamily="50" charset="-127"/>
              </a:rPr>
              <a:t>가장 빠른 시작시간 </a:t>
            </a:r>
            <a:r>
              <a:rPr lang="en-US" altLang="ko-KR" sz="1400" b="1" dirty="0">
                <a:latin typeface="맑은 고딕" pitchFamily="50" charset="-127"/>
                <a:ea typeface="맑은 고딕" pitchFamily="50" charset="-127"/>
              </a:rPr>
              <a:t>(ES)</a:t>
            </a:r>
            <a:endParaRPr lang="ko-KR" altLang="en-US" sz="1400" b="1" dirty="0">
              <a:latin typeface="맑은 고딕" pitchFamily="50" charset="-127"/>
              <a:ea typeface="맑은 고딕" pitchFamily="50" charset="-127"/>
            </a:endParaRPr>
          </a:p>
          <a:p>
            <a:pPr eaLnBrk="1" hangingPunct="1"/>
            <a:r>
              <a:rPr lang="ko-KR" altLang="ko-KR" sz="1200" dirty="0">
                <a:latin typeface="맑은 고딕" pitchFamily="50" charset="-127"/>
                <a:ea typeface="맑은 고딕" pitchFamily="50" charset="-127"/>
              </a:rPr>
              <a:t>프로젝트의 개시 시간을 기준점으로 하여 어느 작업을 시작할 수 있는 가장 빠른 시점을 뜻한다</a:t>
            </a:r>
            <a:r>
              <a:rPr lang="en-US" altLang="ko-KR" sz="1200" dirty="0">
                <a:latin typeface="맑은 고딕" pitchFamily="50" charset="-127"/>
                <a:ea typeface="맑은 고딕" pitchFamily="50" charset="-127"/>
              </a:rPr>
              <a:t>. </a:t>
            </a:r>
          </a:p>
          <a:p>
            <a:pPr eaLnBrk="1" hangingPunct="1"/>
            <a:r>
              <a:rPr lang="ko-KR" altLang="ko-KR" sz="1200" dirty="0">
                <a:latin typeface="맑은 고딕" pitchFamily="50" charset="-127"/>
                <a:ea typeface="맑은 고딕" pitchFamily="50" charset="-127"/>
              </a:rPr>
              <a:t>선행작업의 완료시간을 기준으로 이벤트에서의 경과시간을 더하여 후속작업의 빠른 시작시간을 계산한다</a:t>
            </a:r>
            <a:r>
              <a:rPr lang="en-US" altLang="ko-KR" sz="1200" dirty="0">
                <a:latin typeface="맑은 고딕" pitchFamily="50" charset="-127"/>
                <a:ea typeface="맑은 고딕" pitchFamily="50" charset="-127"/>
              </a:rPr>
              <a:t>. </a:t>
            </a:r>
          </a:p>
          <a:p>
            <a:pPr eaLnBrk="1" hangingPunct="1">
              <a:buNone/>
            </a:pPr>
            <a:endParaRPr lang="en-US" altLang="ko-KR" sz="1400" dirty="0">
              <a:latin typeface="맑은 고딕" pitchFamily="50" charset="-127"/>
              <a:ea typeface="맑은 고딕" pitchFamily="50" charset="-127"/>
            </a:endParaRPr>
          </a:p>
          <a:p>
            <a:pPr eaLnBrk="1" hangingPunct="1">
              <a:buNone/>
            </a:pPr>
            <a:r>
              <a:rPr lang="ko-KR" altLang="en-US" sz="1400" b="1" dirty="0">
                <a:latin typeface="맑은 고딕" pitchFamily="50" charset="-127"/>
                <a:ea typeface="맑은 고딕" pitchFamily="50" charset="-127"/>
              </a:rPr>
              <a:t>가장 빠른 완료시간 </a:t>
            </a:r>
            <a:r>
              <a:rPr lang="en-US" altLang="ko-KR" sz="1400" b="1" dirty="0">
                <a:latin typeface="맑은 고딕" pitchFamily="50" charset="-127"/>
                <a:ea typeface="맑은 고딕" pitchFamily="50" charset="-127"/>
              </a:rPr>
              <a:t>(EF)</a:t>
            </a:r>
            <a:endParaRPr lang="ko-KR" altLang="en-US" sz="1400" b="1" dirty="0">
              <a:latin typeface="맑은 고딕" pitchFamily="50" charset="-127"/>
              <a:ea typeface="맑은 고딕" pitchFamily="50" charset="-127"/>
            </a:endParaRPr>
          </a:p>
          <a:p>
            <a:pPr eaLnBrk="1" hangingPunct="1"/>
            <a:r>
              <a:rPr lang="ko-KR" altLang="ko-KR" sz="1200" dirty="0">
                <a:latin typeface="맑은 고딕" pitchFamily="50" charset="-127"/>
                <a:ea typeface="맑은 고딕" pitchFamily="50" charset="-127"/>
              </a:rPr>
              <a:t>어느 작업을 끝낼 수 있는 가장 빠른 시점으로서 그 작업의 가장 빠른 시작시간에 작업기간을 더하여 계산한다</a:t>
            </a:r>
            <a:r>
              <a:rPr lang="en-US" altLang="ko-KR" sz="1200" dirty="0">
                <a:latin typeface="맑은 고딕" pitchFamily="50" charset="-127"/>
                <a:ea typeface="맑은 고딕" pitchFamily="50" charset="-127"/>
              </a:rPr>
              <a:t>. </a:t>
            </a:r>
          </a:p>
          <a:p>
            <a:endParaRPr lang="ko-KR" altLang="en-US" dirty="0"/>
          </a:p>
          <a:p>
            <a:endParaRPr lang="ko-KR" altLang="en-US" dirty="0"/>
          </a:p>
        </p:txBody>
      </p:sp>
      <p:sp>
        <p:nvSpPr>
          <p:cNvPr id="4" name="슬라이드 번호 개체 틀 3"/>
          <p:cNvSpPr>
            <a:spLocks noGrp="1"/>
          </p:cNvSpPr>
          <p:nvPr>
            <p:ph type="sldNum" sz="quarter" idx="10"/>
          </p:nvPr>
        </p:nvSpPr>
        <p:spPr/>
        <p:txBody>
          <a:bodyPr/>
          <a:lstStyle/>
          <a:p>
            <a:fld id="{AE58073B-9C72-45A4-B9E0-653F32B7693A}" type="slidenum">
              <a:rPr lang="ko-KR" altLang="en-US" smtClean="0"/>
              <a:pPr/>
              <a:t>41</a:t>
            </a:fld>
            <a:endParaRPr lang="ko-KR" altLang="en-US"/>
          </a:p>
        </p:txBody>
      </p:sp>
    </p:spTree>
    <p:extLst>
      <p:ext uri="{BB962C8B-B14F-4D97-AF65-F5344CB8AC3E}">
        <p14:creationId xmlns:p14="http://schemas.microsoft.com/office/powerpoint/2010/main" val="2364297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58073B-9C72-45A4-B9E0-653F32B7693A}" type="slidenum">
              <a:rPr lang="ko-KR" altLang="en-US" smtClean="0"/>
              <a:pPr/>
              <a:t>42</a:t>
            </a:fld>
            <a:endParaRPr lang="ko-KR" altLang="en-US"/>
          </a:p>
        </p:txBody>
      </p:sp>
    </p:spTree>
    <p:extLst>
      <p:ext uri="{BB962C8B-B14F-4D97-AF65-F5344CB8AC3E}">
        <p14:creationId xmlns:p14="http://schemas.microsoft.com/office/powerpoint/2010/main" val="18748394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58073B-9C72-45A4-B9E0-653F32B7693A}" type="slidenum">
              <a:rPr lang="ko-KR" altLang="en-US" smtClean="0"/>
              <a:pPr/>
              <a:t>44</a:t>
            </a:fld>
            <a:endParaRPr lang="ko-KR" altLang="en-US"/>
          </a:p>
        </p:txBody>
      </p:sp>
    </p:spTree>
    <p:extLst>
      <p:ext uri="{BB962C8B-B14F-4D97-AF65-F5344CB8AC3E}">
        <p14:creationId xmlns:p14="http://schemas.microsoft.com/office/powerpoint/2010/main" val="298369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58073B-9C72-45A4-B9E0-653F32B7693A}" type="slidenum">
              <a:rPr lang="ko-KR" altLang="en-US" smtClean="0"/>
              <a:pPr/>
              <a:t>46</a:t>
            </a:fld>
            <a:endParaRPr lang="ko-KR" altLang="en-US"/>
          </a:p>
        </p:txBody>
      </p:sp>
    </p:spTree>
    <p:extLst>
      <p:ext uri="{BB962C8B-B14F-4D97-AF65-F5344CB8AC3E}">
        <p14:creationId xmlns:p14="http://schemas.microsoft.com/office/powerpoint/2010/main" val="13057225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02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58073B-9C72-45A4-B9E0-653F32B7693A}" type="slidenum">
              <a:rPr lang="ko-KR" altLang="en-US" smtClean="0"/>
              <a:pPr/>
              <a:t>47</a:t>
            </a:fld>
            <a:endParaRPr lang="ko-KR" altLang="en-US"/>
          </a:p>
        </p:txBody>
      </p:sp>
    </p:spTree>
    <p:extLst>
      <p:ext uri="{BB962C8B-B14F-4D97-AF65-F5344CB8AC3E}">
        <p14:creationId xmlns:p14="http://schemas.microsoft.com/office/powerpoint/2010/main" val="10190250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_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FD49-C258-4333-9422-358C976A341C}"/>
              </a:ext>
            </a:extLst>
          </p:cNvPr>
          <p:cNvSpPr>
            <a:spLocks noGrp="1"/>
          </p:cNvSpPr>
          <p:nvPr>
            <p:ph type="ctrTitle" hasCustomPrompt="1"/>
          </p:nvPr>
        </p:nvSpPr>
        <p:spPr>
          <a:xfrm>
            <a:off x="2651760" y="525294"/>
            <a:ext cx="8707120" cy="2903706"/>
          </a:xfrm>
          <a:prstGeom prst="rect">
            <a:avLst/>
          </a:prstGeom>
        </p:spPr>
        <p:txBody>
          <a:bodyPr anchor="b">
            <a:noAutofit/>
          </a:bodyPr>
          <a:lstStyle>
            <a:lvl1pPr algn="ctr" latinLnBrk="0">
              <a:defRPr sz="4800" b="1" i="1" cap="none" baseline="0">
                <a:solidFill>
                  <a:schemeClr val="accent1"/>
                </a:solidFill>
                <a:latin typeface="맑은 고딕" panose="020B0503020000020004" pitchFamily="50" charset="-127"/>
                <a:ea typeface="맑은 고딕" panose="020B0503020000020004" pitchFamily="50" charset="-127"/>
              </a:defRPr>
            </a:lvl1pPr>
          </a:lstStyle>
          <a:p>
            <a:r>
              <a:rPr lang="en-US" noProof="0" dirty="0"/>
              <a:t>Presentation Title</a:t>
            </a:r>
          </a:p>
        </p:txBody>
      </p:sp>
      <p:grpSp>
        <p:nvGrpSpPr>
          <p:cNvPr id="14" name="Group 13">
            <a:extLst>
              <a:ext uri="{FF2B5EF4-FFF2-40B4-BE49-F238E27FC236}">
                <a16:creationId xmlns:a16="http://schemas.microsoft.com/office/drawing/2014/main" id="{0DC2055F-AE3F-46BE-B57E-A0F1A86D1C36}"/>
              </a:ext>
            </a:extLst>
          </p:cNvPr>
          <p:cNvGrpSpPr/>
          <p:nvPr/>
        </p:nvGrpSpPr>
        <p:grpSpPr>
          <a:xfrm>
            <a:off x="182880" y="0"/>
            <a:ext cx="6190433" cy="6857999"/>
            <a:chOff x="11114088" y="2143908"/>
            <a:chExt cx="1905000" cy="2549547"/>
          </a:xfrm>
          <a:solidFill>
            <a:schemeClr val="bg2">
              <a:alpha val="91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143908"/>
              <a:ext cx="1905000" cy="2549547"/>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483848"/>
              <a:ext cx="835025" cy="1880999"/>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11" name="Rectangle 6">
            <a:extLst>
              <a:ext uri="{FF2B5EF4-FFF2-40B4-BE49-F238E27FC236}">
                <a16:creationId xmlns:a16="http://schemas.microsoft.com/office/drawing/2014/main" id="{BF372EA7-D13E-4E35-B71D-F975D8A8711B}"/>
              </a:ext>
            </a:extLst>
          </p:cNvPr>
          <p:cNvSpPr/>
          <p:nvPr/>
        </p:nvSpPr>
        <p:spPr>
          <a:xfrm rot="10800000">
            <a:off x="2651760" y="3514073"/>
            <a:ext cx="8809118" cy="8552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Tree>
    <p:extLst>
      <p:ext uri="{BB962C8B-B14F-4D97-AF65-F5344CB8AC3E}">
        <p14:creationId xmlns:p14="http://schemas.microsoft.com/office/powerpoint/2010/main" val="23072187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ection Header with Image">
    <p:bg>
      <p:bgPr>
        <a:solidFill>
          <a:schemeClr val="accent6">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A70B7-7ADE-4E0B-B956-363B0B1AA613}"/>
              </a:ext>
            </a:extLst>
          </p:cNvPr>
          <p:cNvSpPr>
            <a:spLocks noGrp="1"/>
          </p:cNvSpPr>
          <p:nvPr>
            <p:ph type="title"/>
          </p:nvPr>
        </p:nvSpPr>
        <p:spPr>
          <a:xfrm>
            <a:off x="838200" y="2711302"/>
            <a:ext cx="10515600" cy="1435396"/>
          </a:xfrm>
          <a:prstGeom prst="rect">
            <a:avLst/>
          </a:prstGeom>
        </p:spPr>
        <p:txBody>
          <a:bodyPr anchor="ctr">
            <a:noAutofit/>
          </a:bodyPr>
          <a:lstStyle>
            <a:lvl1pPr algn="ctr" latinLnBrk="0">
              <a:defRPr sz="4400" b="1" i="1" cap="none" baseline="0">
                <a:solidFill>
                  <a:schemeClr val="bg1"/>
                </a:solidFill>
                <a:latin typeface="맑은 고딕" panose="020B0503020000020004" pitchFamily="50" charset="-127"/>
                <a:ea typeface="맑은 고딕" panose="020B0503020000020004" pitchFamily="50" charset="-127"/>
              </a:defRPr>
            </a:lvl1pPr>
          </a:lstStyle>
          <a:p>
            <a:r>
              <a:rPr lang="en-US" altLang="ko-KR" noProof="0"/>
              <a:t>Click to edit Master title style</a:t>
            </a:r>
            <a:endParaRPr lang="en-US" noProof="0" dirty="0"/>
          </a:p>
        </p:txBody>
      </p:sp>
    </p:spTree>
    <p:extLst>
      <p:ext uri="{BB962C8B-B14F-4D97-AF65-F5344CB8AC3E}">
        <p14:creationId xmlns:p14="http://schemas.microsoft.com/office/powerpoint/2010/main" val="40397107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with Image">
    <p:bg>
      <p:bgPr>
        <a:gradFill>
          <a:gsLst>
            <a:gs pos="0">
              <a:schemeClr val="accent6">
                <a:lumMod val="75000"/>
                <a:alpha val="10000"/>
              </a:schemeClr>
            </a:gs>
            <a:gs pos="100000">
              <a:schemeClr val="accent6">
                <a:lumMod val="75000"/>
              </a:schemeClr>
            </a:gs>
          </a:gsLst>
          <a:lin ang="5400000" scaled="1"/>
        </a:gra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E59206F-29B6-B110-B00C-EE0D084C193D}"/>
              </a:ext>
            </a:extLst>
          </p:cNvPr>
          <p:cNvSpPr>
            <a:spLocks noGrp="1"/>
          </p:cNvSpPr>
          <p:nvPr>
            <p:ph type="title"/>
          </p:nvPr>
        </p:nvSpPr>
        <p:spPr>
          <a:xfrm>
            <a:off x="838200" y="2711302"/>
            <a:ext cx="10515600" cy="1435396"/>
          </a:xfrm>
          <a:prstGeom prst="rect">
            <a:avLst/>
          </a:prstGeom>
        </p:spPr>
        <p:txBody>
          <a:bodyPr anchor="ctr">
            <a:noAutofit/>
          </a:bodyPr>
          <a:lstStyle>
            <a:lvl1pPr algn="ctr" latinLnBrk="0">
              <a:defRPr sz="4400" b="1" i="1" cap="none" baseline="0">
                <a:solidFill>
                  <a:schemeClr val="tx1"/>
                </a:solidFill>
                <a:latin typeface="맑은 고딕" panose="020B0503020000020004" pitchFamily="50" charset="-127"/>
                <a:ea typeface="맑은 고딕" panose="020B0503020000020004" pitchFamily="50" charset="-127"/>
              </a:defRPr>
            </a:lvl1pPr>
          </a:lstStyle>
          <a:p>
            <a:r>
              <a:rPr lang="en-US" altLang="ko-KR" noProof="0"/>
              <a:t>Click to edit Master title style</a:t>
            </a:r>
            <a:endParaRPr lang="en-US" noProof="0" dirty="0"/>
          </a:p>
        </p:txBody>
      </p:sp>
    </p:spTree>
    <p:extLst>
      <p:ext uri="{BB962C8B-B14F-4D97-AF65-F5344CB8AC3E}">
        <p14:creationId xmlns:p14="http://schemas.microsoft.com/office/powerpoint/2010/main" val="15733465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_Section Header with Image">
    <p:bg>
      <p:bgPr>
        <a:solidFill>
          <a:schemeClr val="accent6">
            <a:lumMod val="75000"/>
            <a:alpha val="20496"/>
          </a:schemeClr>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96D8069-4EF8-1023-69EF-66A1C4A91621}"/>
              </a:ext>
            </a:extLst>
          </p:cNvPr>
          <p:cNvSpPr>
            <a:spLocks noGrp="1"/>
          </p:cNvSpPr>
          <p:nvPr>
            <p:ph type="title"/>
          </p:nvPr>
        </p:nvSpPr>
        <p:spPr>
          <a:xfrm>
            <a:off x="838200" y="2711302"/>
            <a:ext cx="10515600" cy="1435396"/>
          </a:xfrm>
          <a:prstGeom prst="rect">
            <a:avLst/>
          </a:prstGeom>
        </p:spPr>
        <p:txBody>
          <a:bodyPr anchor="ctr">
            <a:noAutofit/>
          </a:bodyPr>
          <a:lstStyle>
            <a:lvl1pPr algn="ctr" latinLnBrk="0">
              <a:defRPr sz="4400" b="1" i="1" cap="none" baseline="0">
                <a:solidFill>
                  <a:schemeClr val="tx1"/>
                </a:solidFill>
                <a:latin typeface="맑은 고딕" panose="020B0503020000020004" pitchFamily="50" charset="-127"/>
                <a:ea typeface="맑은 고딕" panose="020B0503020000020004" pitchFamily="50" charset="-127"/>
              </a:defRPr>
            </a:lvl1pPr>
          </a:lstStyle>
          <a:p>
            <a:r>
              <a:rPr lang="en-US" altLang="ko-KR" noProof="0"/>
              <a:t>Click to edit Master title style</a:t>
            </a:r>
            <a:endParaRPr lang="en-US" noProof="0" dirty="0"/>
          </a:p>
        </p:txBody>
      </p:sp>
    </p:spTree>
    <p:extLst>
      <p:ext uri="{BB962C8B-B14F-4D97-AF65-F5344CB8AC3E}">
        <p14:creationId xmlns:p14="http://schemas.microsoft.com/office/powerpoint/2010/main" val="34307584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제목만">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FCDDC-FA73-D0FF-8641-5A1C6E971640}"/>
              </a:ext>
            </a:extLst>
          </p:cNvPr>
          <p:cNvSpPr>
            <a:spLocks noGrp="1"/>
          </p:cNvSpPr>
          <p:nvPr>
            <p:ph type="title"/>
          </p:nvPr>
        </p:nvSpPr>
        <p:spPr/>
        <p:txBody>
          <a:bodyPr/>
          <a:lstStyle/>
          <a:p>
            <a:r>
              <a:rPr lang="en-US"/>
              <a:t>Click to edit Master title style</a:t>
            </a:r>
            <a:endParaRPr lang="en-KR" dirty="0"/>
          </a:p>
        </p:txBody>
      </p:sp>
    </p:spTree>
    <p:extLst>
      <p:ext uri="{BB962C8B-B14F-4D97-AF65-F5344CB8AC3E}">
        <p14:creationId xmlns:p14="http://schemas.microsoft.com/office/powerpoint/2010/main" val="20752181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37E45-48A5-A7DA-5BF0-BAADC3BB42BA}"/>
              </a:ext>
            </a:extLst>
          </p:cNvPr>
          <p:cNvSpPr>
            <a:spLocks noGrp="1"/>
          </p:cNvSpPr>
          <p:nvPr>
            <p:ph type="title"/>
          </p:nvPr>
        </p:nvSpPr>
        <p:spPr/>
        <p:txBody>
          <a:bodyPr/>
          <a:lstStyle/>
          <a:p>
            <a:r>
              <a:rPr lang="en-US"/>
              <a:t>Click to edit Master title style</a:t>
            </a:r>
            <a:endParaRPr lang="en-KR"/>
          </a:p>
        </p:txBody>
      </p:sp>
      <p:sp>
        <p:nvSpPr>
          <p:cNvPr id="4" name="Text Placeholder 3">
            <a:extLst>
              <a:ext uri="{FF2B5EF4-FFF2-40B4-BE49-F238E27FC236}">
                <a16:creationId xmlns:a16="http://schemas.microsoft.com/office/drawing/2014/main" id="{1E68D1D8-2DBA-7A63-3EF8-163B79895713}"/>
              </a:ext>
            </a:extLst>
          </p:cNvPr>
          <p:cNvSpPr>
            <a:spLocks noGrp="1"/>
          </p:cNvSpPr>
          <p:nvPr>
            <p:ph type="body" sz="quarter" idx="10"/>
          </p:nvPr>
        </p:nvSpPr>
        <p:spPr>
          <a:xfrm>
            <a:off x="525463" y="1198563"/>
            <a:ext cx="11141075" cy="5232400"/>
          </a:xfrm>
          <a:prstGeom prst="rect">
            <a:avLst/>
          </a:prstGeom>
        </p:spPr>
        <p:txBody>
          <a:bodyPr/>
          <a:lstStyle>
            <a:lvl1pPr marL="538163" indent="-528638" latinLnBrk="0">
              <a:lnSpc>
                <a:spcPct val="100000"/>
              </a:lnSpc>
              <a:spcBef>
                <a:spcPts val="0"/>
              </a:spcBef>
              <a:spcAft>
                <a:spcPts val="600"/>
              </a:spcAft>
              <a:buFont typeface="Wingdings" pitchFamily="2" charset="2"/>
              <a:buChar char="q"/>
              <a:tabLst/>
              <a:defRPr sz="2000">
                <a:latin typeface="Malgun Gothic" panose="020B0503020000020004" pitchFamily="34" charset="-127"/>
                <a:ea typeface="Malgun Gothic" panose="020B0503020000020004" pitchFamily="34" charset="-127"/>
              </a:defRPr>
            </a:lvl1pPr>
            <a:lvl2pPr marL="852488" indent="-406400" latinLnBrk="0">
              <a:lnSpc>
                <a:spcPct val="100000"/>
              </a:lnSpc>
              <a:spcBef>
                <a:spcPts val="0"/>
              </a:spcBef>
              <a:spcAft>
                <a:spcPts val="600"/>
              </a:spcAft>
              <a:buFont typeface="Wingdings" pitchFamily="2" charset="2"/>
              <a:buChar char="§"/>
              <a:tabLst/>
              <a:defRPr sz="1800">
                <a:latin typeface="Malgun Gothic" panose="020B0503020000020004" pitchFamily="34" charset="-127"/>
                <a:ea typeface="Malgun Gothic" panose="020B0503020000020004" pitchFamily="34" charset="-127"/>
              </a:defRPr>
            </a:lvl2pPr>
            <a:lvl3pPr latinLnBrk="0">
              <a:lnSpc>
                <a:spcPct val="100000"/>
              </a:lnSpc>
              <a:spcBef>
                <a:spcPts val="0"/>
              </a:spcBef>
              <a:spcAft>
                <a:spcPts val="600"/>
              </a:spcAft>
              <a:defRPr sz="1600">
                <a:latin typeface="Malgun Gothic" panose="020B0503020000020004" pitchFamily="34" charset="-127"/>
                <a:ea typeface="Malgun Gothic" panose="020B0503020000020004" pitchFamily="34" charset="-127"/>
              </a:defRPr>
            </a:lvl3pPr>
            <a:lvl4pPr latinLnBrk="0">
              <a:lnSpc>
                <a:spcPct val="100000"/>
              </a:lnSpc>
              <a:spcBef>
                <a:spcPts val="0"/>
              </a:spcBef>
              <a:spcAft>
                <a:spcPts val="600"/>
              </a:spcAft>
              <a:defRPr sz="1400">
                <a:latin typeface="Malgun Gothic" panose="020B0503020000020004" pitchFamily="34" charset="-127"/>
                <a:ea typeface="Malgun Gothic" panose="020B0503020000020004" pitchFamily="34" charset="-127"/>
              </a:defRPr>
            </a:lvl4pPr>
            <a:lvl5pPr latinLnBrk="0">
              <a:lnSpc>
                <a:spcPct val="100000"/>
              </a:lnSpc>
              <a:spcBef>
                <a:spcPts val="0"/>
              </a:spcBef>
              <a:spcAft>
                <a:spcPts val="600"/>
              </a:spcAft>
              <a:defRPr sz="1200">
                <a:latin typeface="Malgun Gothic" panose="020B0503020000020004" pitchFamily="34" charset="-127"/>
                <a:ea typeface="Malgun Gothic" panose="020B0503020000020004" pitchFamily="34" charset="-12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dirty="0"/>
          </a:p>
        </p:txBody>
      </p:sp>
    </p:spTree>
    <p:extLst>
      <p:ext uri="{BB962C8B-B14F-4D97-AF65-F5344CB8AC3E}">
        <p14:creationId xmlns:p14="http://schemas.microsoft.com/office/powerpoint/2010/main" val="3587882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cSld name="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37E45-48A5-A7DA-5BF0-BAADC3BB42BA}"/>
              </a:ext>
            </a:extLst>
          </p:cNvPr>
          <p:cNvSpPr>
            <a:spLocks noGrp="1"/>
          </p:cNvSpPr>
          <p:nvPr>
            <p:ph type="title"/>
          </p:nvPr>
        </p:nvSpPr>
        <p:spPr/>
        <p:txBody>
          <a:bodyPr/>
          <a:lstStyle/>
          <a:p>
            <a:r>
              <a:rPr lang="en-US"/>
              <a:t>Click to edit Master title style</a:t>
            </a:r>
            <a:endParaRPr lang="en-KR"/>
          </a:p>
        </p:txBody>
      </p:sp>
      <p:sp>
        <p:nvSpPr>
          <p:cNvPr id="4" name="Text Placeholder 3">
            <a:extLst>
              <a:ext uri="{FF2B5EF4-FFF2-40B4-BE49-F238E27FC236}">
                <a16:creationId xmlns:a16="http://schemas.microsoft.com/office/drawing/2014/main" id="{1E68D1D8-2DBA-7A63-3EF8-163B79895713}"/>
              </a:ext>
            </a:extLst>
          </p:cNvPr>
          <p:cNvSpPr>
            <a:spLocks noGrp="1"/>
          </p:cNvSpPr>
          <p:nvPr>
            <p:ph type="body" sz="quarter" idx="10"/>
          </p:nvPr>
        </p:nvSpPr>
        <p:spPr>
          <a:xfrm>
            <a:off x="525463" y="1198563"/>
            <a:ext cx="5570537" cy="5232400"/>
          </a:xfrm>
          <a:prstGeom prst="rect">
            <a:avLst/>
          </a:prstGeom>
        </p:spPr>
        <p:txBody>
          <a:bodyPr/>
          <a:lstStyle>
            <a:lvl1pPr marL="538163" indent="-528638" latinLnBrk="0">
              <a:lnSpc>
                <a:spcPct val="100000"/>
              </a:lnSpc>
              <a:spcBef>
                <a:spcPts val="0"/>
              </a:spcBef>
              <a:spcAft>
                <a:spcPts val="600"/>
              </a:spcAft>
              <a:buFont typeface="Wingdings" pitchFamily="2" charset="2"/>
              <a:buChar char="q"/>
              <a:tabLst/>
              <a:defRPr sz="2000">
                <a:latin typeface="Malgun Gothic" panose="020B0503020000020004" pitchFamily="34" charset="-127"/>
                <a:ea typeface="Malgun Gothic" panose="020B0503020000020004" pitchFamily="34" charset="-127"/>
              </a:defRPr>
            </a:lvl1pPr>
            <a:lvl2pPr marL="852488" indent="-406400" latinLnBrk="0">
              <a:lnSpc>
                <a:spcPct val="100000"/>
              </a:lnSpc>
              <a:spcBef>
                <a:spcPts val="0"/>
              </a:spcBef>
              <a:spcAft>
                <a:spcPts val="600"/>
              </a:spcAft>
              <a:buFont typeface="Wingdings" pitchFamily="2" charset="2"/>
              <a:buChar char="§"/>
              <a:tabLst/>
              <a:defRPr sz="1800">
                <a:latin typeface="Malgun Gothic" panose="020B0503020000020004" pitchFamily="34" charset="-127"/>
                <a:ea typeface="Malgun Gothic" panose="020B0503020000020004" pitchFamily="34" charset="-127"/>
              </a:defRPr>
            </a:lvl2pPr>
            <a:lvl3pPr latinLnBrk="0">
              <a:lnSpc>
                <a:spcPct val="100000"/>
              </a:lnSpc>
              <a:spcBef>
                <a:spcPts val="0"/>
              </a:spcBef>
              <a:spcAft>
                <a:spcPts val="600"/>
              </a:spcAft>
              <a:defRPr sz="1600">
                <a:latin typeface="Malgun Gothic" panose="020B0503020000020004" pitchFamily="34" charset="-127"/>
                <a:ea typeface="Malgun Gothic" panose="020B0503020000020004" pitchFamily="34" charset="-127"/>
              </a:defRPr>
            </a:lvl3pPr>
            <a:lvl4pPr latinLnBrk="0">
              <a:lnSpc>
                <a:spcPct val="100000"/>
              </a:lnSpc>
              <a:spcBef>
                <a:spcPts val="0"/>
              </a:spcBef>
              <a:spcAft>
                <a:spcPts val="600"/>
              </a:spcAft>
              <a:defRPr sz="1400">
                <a:latin typeface="Malgun Gothic" panose="020B0503020000020004" pitchFamily="34" charset="-127"/>
                <a:ea typeface="Malgun Gothic" panose="020B0503020000020004" pitchFamily="34" charset="-127"/>
              </a:defRPr>
            </a:lvl4pPr>
            <a:lvl5pPr latinLnBrk="0">
              <a:lnSpc>
                <a:spcPct val="100000"/>
              </a:lnSpc>
              <a:spcBef>
                <a:spcPts val="0"/>
              </a:spcBef>
              <a:spcAft>
                <a:spcPts val="600"/>
              </a:spcAft>
              <a:defRPr sz="1200">
                <a:latin typeface="Malgun Gothic" panose="020B0503020000020004" pitchFamily="34" charset="-127"/>
                <a:ea typeface="Malgun Gothic" panose="020B0503020000020004" pitchFamily="34" charset="-12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dirty="0"/>
          </a:p>
        </p:txBody>
      </p:sp>
      <p:sp>
        <p:nvSpPr>
          <p:cNvPr id="3" name="Text Placeholder 3">
            <a:extLst>
              <a:ext uri="{FF2B5EF4-FFF2-40B4-BE49-F238E27FC236}">
                <a16:creationId xmlns:a16="http://schemas.microsoft.com/office/drawing/2014/main" id="{D1EF980A-15C6-8430-7862-94FABEB89251}"/>
              </a:ext>
            </a:extLst>
          </p:cNvPr>
          <p:cNvSpPr>
            <a:spLocks noGrp="1"/>
          </p:cNvSpPr>
          <p:nvPr>
            <p:ph type="body" sz="quarter" idx="11"/>
          </p:nvPr>
        </p:nvSpPr>
        <p:spPr>
          <a:xfrm>
            <a:off x="6096000" y="1198563"/>
            <a:ext cx="5570537" cy="5232400"/>
          </a:xfrm>
          <a:prstGeom prst="rect">
            <a:avLst/>
          </a:prstGeom>
        </p:spPr>
        <p:txBody>
          <a:bodyPr/>
          <a:lstStyle>
            <a:lvl1pPr marL="538163" indent="-528638" latinLnBrk="0">
              <a:lnSpc>
                <a:spcPct val="100000"/>
              </a:lnSpc>
              <a:spcBef>
                <a:spcPts val="0"/>
              </a:spcBef>
              <a:spcAft>
                <a:spcPts val="600"/>
              </a:spcAft>
              <a:buFont typeface="Wingdings" pitchFamily="2" charset="2"/>
              <a:buChar char="q"/>
              <a:tabLst/>
              <a:defRPr sz="2000">
                <a:latin typeface="Malgun Gothic" panose="020B0503020000020004" pitchFamily="34" charset="-127"/>
                <a:ea typeface="Malgun Gothic" panose="020B0503020000020004" pitchFamily="34" charset="-127"/>
              </a:defRPr>
            </a:lvl1pPr>
            <a:lvl2pPr marL="852488" indent="-406400" latinLnBrk="0">
              <a:lnSpc>
                <a:spcPct val="100000"/>
              </a:lnSpc>
              <a:spcBef>
                <a:spcPts val="0"/>
              </a:spcBef>
              <a:spcAft>
                <a:spcPts val="600"/>
              </a:spcAft>
              <a:buFont typeface="Wingdings" pitchFamily="2" charset="2"/>
              <a:buChar char="§"/>
              <a:tabLst/>
              <a:defRPr sz="1800">
                <a:latin typeface="Malgun Gothic" panose="020B0503020000020004" pitchFamily="34" charset="-127"/>
                <a:ea typeface="Malgun Gothic" panose="020B0503020000020004" pitchFamily="34" charset="-127"/>
              </a:defRPr>
            </a:lvl2pPr>
            <a:lvl3pPr latinLnBrk="0">
              <a:lnSpc>
                <a:spcPct val="100000"/>
              </a:lnSpc>
              <a:spcBef>
                <a:spcPts val="0"/>
              </a:spcBef>
              <a:spcAft>
                <a:spcPts val="600"/>
              </a:spcAft>
              <a:defRPr sz="1600">
                <a:latin typeface="Malgun Gothic" panose="020B0503020000020004" pitchFamily="34" charset="-127"/>
                <a:ea typeface="Malgun Gothic" panose="020B0503020000020004" pitchFamily="34" charset="-127"/>
              </a:defRPr>
            </a:lvl3pPr>
            <a:lvl4pPr latinLnBrk="0">
              <a:lnSpc>
                <a:spcPct val="100000"/>
              </a:lnSpc>
              <a:spcBef>
                <a:spcPts val="0"/>
              </a:spcBef>
              <a:spcAft>
                <a:spcPts val="600"/>
              </a:spcAft>
              <a:defRPr sz="1400">
                <a:latin typeface="Malgun Gothic" panose="020B0503020000020004" pitchFamily="34" charset="-127"/>
                <a:ea typeface="Malgun Gothic" panose="020B0503020000020004" pitchFamily="34" charset="-127"/>
              </a:defRPr>
            </a:lvl4pPr>
            <a:lvl5pPr latinLnBrk="0">
              <a:lnSpc>
                <a:spcPct val="100000"/>
              </a:lnSpc>
              <a:spcBef>
                <a:spcPts val="0"/>
              </a:spcBef>
              <a:spcAft>
                <a:spcPts val="600"/>
              </a:spcAft>
              <a:defRPr sz="1200">
                <a:latin typeface="Malgun Gothic" panose="020B0503020000020004" pitchFamily="34" charset="-127"/>
                <a:ea typeface="Malgun Gothic" panose="020B0503020000020004" pitchFamily="34" charset="-12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dirty="0"/>
          </a:p>
        </p:txBody>
      </p:sp>
    </p:spTree>
    <p:extLst>
      <p:ext uri="{BB962C8B-B14F-4D97-AF65-F5344CB8AC3E}">
        <p14:creationId xmlns:p14="http://schemas.microsoft.com/office/powerpoint/2010/main" val="19364180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37E45-48A5-A7DA-5BF0-BAADC3BB42BA}"/>
              </a:ext>
            </a:extLst>
          </p:cNvPr>
          <p:cNvSpPr>
            <a:spLocks noGrp="1"/>
          </p:cNvSpPr>
          <p:nvPr>
            <p:ph type="title"/>
          </p:nvPr>
        </p:nvSpPr>
        <p:spPr/>
        <p:txBody>
          <a:bodyPr/>
          <a:lstStyle/>
          <a:p>
            <a:r>
              <a:rPr lang="en-US"/>
              <a:t>Click to edit Master title style</a:t>
            </a:r>
            <a:endParaRPr lang="en-KR"/>
          </a:p>
        </p:txBody>
      </p:sp>
      <p:sp>
        <p:nvSpPr>
          <p:cNvPr id="4" name="Text Placeholder 3">
            <a:extLst>
              <a:ext uri="{FF2B5EF4-FFF2-40B4-BE49-F238E27FC236}">
                <a16:creationId xmlns:a16="http://schemas.microsoft.com/office/drawing/2014/main" id="{1E68D1D8-2DBA-7A63-3EF8-163B79895713}"/>
              </a:ext>
            </a:extLst>
          </p:cNvPr>
          <p:cNvSpPr>
            <a:spLocks noGrp="1"/>
          </p:cNvSpPr>
          <p:nvPr>
            <p:ph type="body" sz="quarter" idx="10"/>
          </p:nvPr>
        </p:nvSpPr>
        <p:spPr>
          <a:xfrm>
            <a:off x="525463" y="1198563"/>
            <a:ext cx="5570537" cy="5232400"/>
          </a:xfrm>
          <a:prstGeom prst="rect">
            <a:avLst/>
          </a:prstGeom>
        </p:spPr>
        <p:txBody>
          <a:bodyPr/>
          <a:lstStyle>
            <a:lvl1pPr marL="538163" indent="-528638" latinLnBrk="0">
              <a:lnSpc>
                <a:spcPct val="100000"/>
              </a:lnSpc>
              <a:spcBef>
                <a:spcPts val="0"/>
              </a:spcBef>
              <a:spcAft>
                <a:spcPts val="600"/>
              </a:spcAft>
              <a:buFont typeface="Wingdings" pitchFamily="2" charset="2"/>
              <a:buChar char="q"/>
              <a:tabLst/>
              <a:defRPr sz="2000">
                <a:latin typeface="Malgun Gothic" panose="020B0503020000020004" pitchFamily="34" charset="-127"/>
                <a:ea typeface="Malgun Gothic" panose="020B0503020000020004" pitchFamily="34" charset="-127"/>
              </a:defRPr>
            </a:lvl1pPr>
            <a:lvl2pPr marL="852488" indent="-406400" latinLnBrk="0">
              <a:lnSpc>
                <a:spcPct val="100000"/>
              </a:lnSpc>
              <a:spcBef>
                <a:spcPts val="0"/>
              </a:spcBef>
              <a:spcAft>
                <a:spcPts val="600"/>
              </a:spcAft>
              <a:buFont typeface="Wingdings" pitchFamily="2" charset="2"/>
              <a:buChar char="§"/>
              <a:tabLst/>
              <a:defRPr sz="1800">
                <a:latin typeface="Malgun Gothic" panose="020B0503020000020004" pitchFamily="34" charset="-127"/>
                <a:ea typeface="Malgun Gothic" panose="020B0503020000020004" pitchFamily="34" charset="-127"/>
              </a:defRPr>
            </a:lvl2pPr>
            <a:lvl3pPr latinLnBrk="0">
              <a:lnSpc>
                <a:spcPct val="100000"/>
              </a:lnSpc>
              <a:spcBef>
                <a:spcPts val="0"/>
              </a:spcBef>
              <a:spcAft>
                <a:spcPts val="600"/>
              </a:spcAft>
              <a:defRPr sz="1600">
                <a:latin typeface="Malgun Gothic" panose="020B0503020000020004" pitchFamily="34" charset="-127"/>
                <a:ea typeface="Malgun Gothic" panose="020B0503020000020004" pitchFamily="34" charset="-127"/>
              </a:defRPr>
            </a:lvl3pPr>
            <a:lvl4pPr latinLnBrk="0">
              <a:lnSpc>
                <a:spcPct val="100000"/>
              </a:lnSpc>
              <a:spcBef>
                <a:spcPts val="0"/>
              </a:spcBef>
              <a:spcAft>
                <a:spcPts val="600"/>
              </a:spcAft>
              <a:defRPr sz="1400">
                <a:latin typeface="Malgun Gothic" panose="020B0503020000020004" pitchFamily="34" charset="-127"/>
                <a:ea typeface="Malgun Gothic" panose="020B0503020000020004" pitchFamily="34" charset="-127"/>
              </a:defRPr>
            </a:lvl4pPr>
            <a:lvl5pPr latinLnBrk="0">
              <a:lnSpc>
                <a:spcPct val="100000"/>
              </a:lnSpc>
              <a:spcBef>
                <a:spcPts val="0"/>
              </a:spcBef>
              <a:spcAft>
                <a:spcPts val="600"/>
              </a:spcAft>
              <a:defRPr sz="1200">
                <a:latin typeface="Malgun Gothic" panose="020B0503020000020004" pitchFamily="34" charset="-127"/>
                <a:ea typeface="Malgun Gothic" panose="020B0503020000020004" pitchFamily="34" charset="-12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dirty="0"/>
          </a:p>
        </p:txBody>
      </p:sp>
    </p:spTree>
    <p:extLst>
      <p:ext uri="{BB962C8B-B14F-4D97-AF65-F5344CB8AC3E}">
        <p14:creationId xmlns:p14="http://schemas.microsoft.com/office/powerpoint/2010/main" val="24745295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37E45-48A5-A7DA-5BF0-BAADC3BB42BA}"/>
              </a:ext>
            </a:extLst>
          </p:cNvPr>
          <p:cNvSpPr>
            <a:spLocks noGrp="1"/>
          </p:cNvSpPr>
          <p:nvPr>
            <p:ph type="title"/>
          </p:nvPr>
        </p:nvSpPr>
        <p:spPr/>
        <p:txBody>
          <a:bodyPr/>
          <a:lstStyle/>
          <a:p>
            <a:r>
              <a:rPr lang="en-US"/>
              <a:t>Click to edit Master title style</a:t>
            </a:r>
            <a:endParaRPr lang="en-KR"/>
          </a:p>
        </p:txBody>
      </p:sp>
      <p:sp>
        <p:nvSpPr>
          <p:cNvPr id="4" name="Text Placeholder 3">
            <a:extLst>
              <a:ext uri="{FF2B5EF4-FFF2-40B4-BE49-F238E27FC236}">
                <a16:creationId xmlns:a16="http://schemas.microsoft.com/office/drawing/2014/main" id="{1E68D1D8-2DBA-7A63-3EF8-163B79895713}"/>
              </a:ext>
            </a:extLst>
          </p:cNvPr>
          <p:cNvSpPr>
            <a:spLocks noGrp="1"/>
          </p:cNvSpPr>
          <p:nvPr>
            <p:ph type="body" sz="quarter" idx="10"/>
          </p:nvPr>
        </p:nvSpPr>
        <p:spPr>
          <a:xfrm>
            <a:off x="6096000" y="1198563"/>
            <a:ext cx="5570538" cy="5232400"/>
          </a:xfrm>
          <a:prstGeom prst="rect">
            <a:avLst/>
          </a:prstGeom>
        </p:spPr>
        <p:txBody>
          <a:bodyPr/>
          <a:lstStyle>
            <a:lvl1pPr marL="538163" indent="-528638" latinLnBrk="0">
              <a:lnSpc>
                <a:spcPct val="100000"/>
              </a:lnSpc>
              <a:spcBef>
                <a:spcPts val="0"/>
              </a:spcBef>
              <a:spcAft>
                <a:spcPts val="600"/>
              </a:spcAft>
              <a:buFont typeface="Wingdings" pitchFamily="2" charset="2"/>
              <a:buChar char="q"/>
              <a:tabLst/>
              <a:defRPr sz="2000">
                <a:latin typeface="Malgun Gothic" panose="020B0503020000020004" pitchFamily="34" charset="-127"/>
                <a:ea typeface="Malgun Gothic" panose="020B0503020000020004" pitchFamily="34" charset="-127"/>
              </a:defRPr>
            </a:lvl1pPr>
            <a:lvl2pPr marL="852488" indent="-406400" latinLnBrk="0">
              <a:lnSpc>
                <a:spcPct val="100000"/>
              </a:lnSpc>
              <a:spcBef>
                <a:spcPts val="0"/>
              </a:spcBef>
              <a:spcAft>
                <a:spcPts val="600"/>
              </a:spcAft>
              <a:buFont typeface="Wingdings" pitchFamily="2" charset="2"/>
              <a:buChar char="§"/>
              <a:tabLst/>
              <a:defRPr sz="1800">
                <a:latin typeface="Malgun Gothic" panose="020B0503020000020004" pitchFamily="34" charset="-127"/>
                <a:ea typeface="Malgun Gothic" panose="020B0503020000020004" pitchFamily="34" charset="-127"/>
              </a:defRPr>
            </a:lvl2pPr>
            <a:lvl3pPr latinLnBrk="0">
              <a:lnSpc>
                <a:spcPct val="100000"/>
              </a:lnSpc>
              <a:spcBef>
                <a:spcPts val="0"/>
              </a:spcBef>
              <a:spcAft>
                <a:spcPts val="600"/>
              </a:spcAft>
              <a:defRPr sz="1600">
                <a:latin typeface="Malgun Gothic" panose="020B0503020000020004" pitchFamily="34" charset="-127"/>
                <a:ea typeface="Malgun Gothic" panose="020B0503020000020004" pitchFamily="34" charset="-127"/>
              </a:defRPr>
            </a:lvl3pPr>
            <a:lvl4pPr latinLnBrk="0">
              <a:lnSpc>
                <a:spcPct val="100000"/>
              </a:lnSpc>
              <a:spcBef>
                <a:spcPts val="0"/>
              </a:spcBef>
              <a:spcAft>
                <a:spcPts val="600"/>
              </a:spcAft>
              <a:defRPr sz="1400">
                <a:latin typeface="Malgun Gothic" panose="020B0503020000020004" pitchFamily="34" charset="-127"/>
                <a:ea typeface="Malgun Gothic" panose="020B0503020000020004" pitchFamily="34" charset="-127"/>
              </a:defRPr>
            </a:lvl4pPr>
            <a:lvl5pPr latinLnBrk="0">
              <a:lnSpc>
                <a:spcPct val="100000"/>
              </a:lnSpc>
              <a:spcBef>
                <a:spcPts val="0"/>
              </a:spcBef>
              <a:spcAft>
                <a:spcPts val="600"/>
              </a:spcAft>
              <a:defRPr sz="1200">
                <a:latin typeface="Malgun Gothic" panose="020B0503020000020004" pitchFamily="34" charset="-127"/>
                <a:ea typeface="Malgun Gothic" panose="020B0503020000020004" pitchFamily="34" charset="-12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dirty="0"/>
          </a:p>
        </p:txBody>
      </p:sp>
    </p:spTree>
    <p:extLst>
      <p:ext uri="{BB962C8B-B14F-4D97-AF65-F5344CB8AC3E}">
        <p14:creationId xmlns:p14="http://schemas.microsoft.com/office/powerpoint/2010/main" val="925261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제목만">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FCDDC-FA73-D0FF-8641-5A1C6E971640}"/>
              </a:ext>
            </a:extLst>
          </p:cNvPr>
          <p:cNvSpPr>
            <a:spLocks noGrp="1"/>
          </p:cNvSpPr>
          <p:nvPr>
            <p:ph type="title"/>
          </p:nvPr>
        </p:nvSpPr>
        <p:spPr/>
        <p:txBody>
          <a:bodyPr/>
          <a:lstStyle/>
          <a:p>
            <a:r>
              <a:rPr lang="en-US"/>
              <a:t>Click to edit Master title style</a:t>
            </a:r>
            <a:endParaRPr lang="en-KR" dirty="0"/>
          </a:p>
        </p:txBody>
      </p:sp>
      <p:sp>
        <p:nvSpPr>
          <p:cNvPr id="7" name="Text Placeholder 6">
            <a:extLst>
              <a:ext uri="{FF2B5EF4-FFF2-40B4-BE49-F238E27FC236}">
                <a16:creationId xmlns:a16="http://schemas.microsoft.com/office/drawing/2014/main" id="{0264E48F-3223-CD63-1E47-6F53F8363185}"/>
              </a:ext>
            </a:extLst>
          </p:cNvPr>
          <p:cNvSpPr>
            <a:spLocks noGrp="1"/>
          </p:cNvSpPr>
          <p:nvPr>
            <p:ph type="body" sz="quarter" idx="10"/>
          </p:nvPr>
        </p:nvSpPr>
        <p:spPr>
          <a:xfrm>
            <a:off x="525463" y="1119188"/>
            <a:ext cx="11141069" cy="806450"/>
          </a:xfrm>
          <a:prstGeom prst="rect">
            <a:avLst/>
          </a:prstGeom>
        </p:spPr>
        <p:txBody>
          <a:bodyPr/>
          <a:lstStyle>
            <a:lvl1pPr marL="0" indent="0" latinLnBrk="0">
              <a:lnSpc>
                <a:spcPct val="100000"/>
              </a:lnSpc>
              <a:spcBef>
                <a:spcPts val="0"/>
              </a:spcBef>
              <a:spcAft>
                <a:spcPts val="600"/>
              </a:spcAft>
              <a:buFontTx/>
              <a:buNone/>
              <a:defRPr sz="2000">
                <a:latin typeface="Malgun Gothic" panose="020B0503020000020004" pitchFamily="34" charset="-127"/>
                <a:ea typeface="Malgun Gothic" panose="020B0503020000020004" pitchFamily="34" charset="-12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20991119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37E45-48A5-A7DA-5BF0-BAADC3BB42BA}"/>
              </a:ext>
            </a:extLst>
          </p:cNvPr>
          <p:cNvSpPr>
            <a:spLocks noGrp="1"/>
          </p:cNvSpPr>
          <p:nvPr>
            <p:ph type="title"/>
          </p:nvPr>
        </p:nvSpPr>
        <p:spPr/>
        <p:txBody>
          <a:bodyPr/>
          <a:lstStyle/>
          <a:p>
            <a:r>
              <a:rPr lang="en-US"/>
              <a:t>Click to edit Master title style</a:t>
            </a:r>
            <a:endParaRPr lang="en-KR"/>
          </a:p>
        </p:txBody>
      </p:sp>
      <p:sp>
        <p:nvSpPr>
          <p:cNvPr id="4" name="Text Placeholder 3">
            <a:extLst>
              <a:ext uri="{FF2B5EF4-FFF2-40B4-BE49-F238E27FC236}">
                <a16:creationId xmlns:a16="http://schemas.microsoft.com/office/drawing/2014/main" id="{1E68D1D8-2DBA-7A63-3EF8-163B79895713}"/>
              </a:ext>
            </a:extLst>
          </p:cNvPr>
          <p:cNvSpPr>
            <a:spLocks noGrp="1"/>
          </p:cNvSpPr>
          <p:nvPr>
            <p:ph type="body" sz="quarter" idx="10"/>
          </p:nvPr>
        </p:nvSpPr>
        <p:spPr>
          <a:xfrm>
            <a:off x="525463" y="2153653"/>
            <a:ext cx="11141075" cy="4277310"/>
          </a:xfrm>
          <a:prstGeom prst="rect">
            <a:avLst/>
          </a:prstGeom>
        </p:spPr>
        <p:txBody>
          <a:bodyPr/>
          <a:lstStyle>
            <a:lvl1pPr marL="538163" indent="-528638" latinLnBrk="0">
              <a:lnSpc>
                <a:spcPct val="100000"/>
              </a:lnSpc>
              <a:spcBef>
                <a:spcPts val="0"/>
              </a:spcBef>
              <a:spcAft>
                <a:spcPts val="600"/>
              </a:spcAft>
              <a:buFont typeface="Wingdings" pitchFamily="2" charset="2"/>
              <a:buChar char="q"/>
              <a:tabLst/>
              <a:defRPr sz="2000">
                <a:latin typeface="Malgun Gothic" panose="020B0503020000020004" pitchFamily="34" charset="-127"/>
                <a:ea typeface="Malgun Gothic" panose="020B0503020000020004" pitchFamily="34" charset="-127"/>
              </a:defRPr>
            </a:lvl1pPr>
            <a:lvl2pPr marL="852488" indent="-406400" latinLnBrk="0">
              <a:lnSpc>
                <a:spcPct val="100000"/>
              </a:lnSpc>
              <a:spcBef>
                <a:spcPts val="0"/>
              </a:spcBef>
              <a:spcAft>
                <a:spcPts val="600"/>
              </a:spcAft>
              <a:buFont typeface="Wingdings" pitchFamily="2" charset="2"/>
              <a:buChar char="§"/>
              <a:tabLst/>
              <a:defRPr sz="1800">
                <a:latin typeface="Malgun Gothic" panose="020B0503020000020004" pitchFamily="34" charset="-127"/>
                <a:ea typeface="Malgun Gothic" panose="020B0503020000020004" pitchFamily="34" charset="-127"/>
              </a:defRPr>
            </a:lvl2pPr>
            <a:lvl3pPr latinLnBrk="0">
              <a:lnSpc>
                <a:spcPct val="100000"/>
              </a:lnSpc>
              <a:spcBef>
                <a:spcPts val="0"/>
              </a:spcBef>
              <a:spcAft>
                <a:spcPts val="600"/>
              </a:spcAft>
              <a:defRPr sz="1600">
                <a:latin typeface="Malgun Gothic" panose="020B0503020000020004" pitchFamily="34" charset="-127"/>
                <a:ea typeface="Malgun Gothic" panose="020B0503020000020004" pitchFamily="34" charset="-127"/>
              </a:defRPr>
            </a:lvl3pPr>
            <a:lvl4pPr latinLnBrk="0">
              <a:lnSpc>
                <a:spcPct val="100000"/>
              </a:lnSpc>
              <a:spcBef>
                <a:spcPts val="0"/>
              </a:spcBef>
              <a:spcAft>
                <a:spcPts val="600"/>
              </a:spcAft>
              <a:defRPr sz="1400">
                <a:latin typeface="Malgun Gothic" panose="020B0503020000020004" pitchFamily="34" charset="-127"/>
                <a:ea typeface="Malgun Gothic" panose="020B0503020000020004" pitchFamily="34" charset="-127"/>
              </a:defRPr>
            </a:lvl4pPr>
            <a:lvl5pPr latinLnBrk="0">
              <a:lnSpc>
                <a:spcPct val="100000"/>
              </a:lnSpc>
              <a:spcBef>
                <a:spcPts val="0"/>
              </a:spcBef>
              <a:spcAft>
                <a:spcPts val="600"/>
              </a:spcAft>
              <a:defRPr sz="1200">
                <a:latin typeface="Malgun Gothic" panose="020B0503020000020004" pitchFamily="34" charset="-127"/>
                <a:ea typeface="Malgun Gothic" panose="020B0503020000020004" pitchFamily="34" charset="-12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dirty="0"/>
          </a:p>
        </p:txBody>
      </p:sp>
      <p:sp>
        <p:nvSpPr>
          <p:cNvPr id="3" name="Text Placeholder 6">
            <a:extLst>
              <a:ext uri="{FF2B5EF4-FFF2-40B4-BE49-F238E27FC236}">
                <a16:creationId xmlns:a16="http://schemas.microsoft.com/office/drawing/2014/main" id="{59B5019A-6521-45CC-B5E4-84D49AD398F8}"/>
              </a:ext>
            </a:extLst>
          </p:cNvPr>
          <p:cNvSpPr>
            <a:spLocks noGrp="1"/>
          </p:cNvSpPr>
          <p:nvPr>
            <p:ph type="body" sz="quarter" idx="11"/>
          </p:nvPr>
        </p:nvSpPr>
        <p:spPr>
          <a:xfrm>
            <a:off x="525463" y="1119188"/>
            <a:ext cx="11141069" cy="806450"/>
          </a:xfrm>
          <a:prstGeom prst="rect">
            <a:avLst/>
          </a:prstGeom>
        </p:spPr>
        <p:txBody>
          <a:bodyPr/>
          <a:lstStyle>
            <a:lvl1pPr marL="0" indent="0" latinLnBrk="0">
              <a:lnSpc>
                <a:spcPct val="100000"/>
              </a:lnSpc>
              <a:spcBef>
                <a:spcPts val="0"/>
              </a:spcBef>
              <a:spcAft>
                <a:spcPts val="600"/>
              </a:spcAft>
              <a:buFontTx/>
              <a:buNone/>
              <a:defRPr sz="2000">
                <a:latin typeface="Malgun Gothic" panose="020B0503020000020004" pitchFamily="34" charset="-127"/>
                <a:ea typeface="Malgun Gothic" panose="020B0503020000020004" pitchFamily="34" charset="-12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31161182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37E45-48A5-A7DA-5BF0-BAADC3BB42BA}"/>
              </a:ext>
            </a:extLst>
          </p:cNvPr>
          <p:cNvSpPr>
            <a:spLocks noGrp="1"/>
          </p:cNvSpPr>
          <p:nvPr>
            <p:ph type="title"/>
          </p:nvPr>
        </p:nvSpPr>
        <p:spPr/>
        <p:txBody>
          <a:bodyPr/>
          <a:lstStyle/>
          <a:p>
            <a:r>
              <a:rPr lang="en-US"/>
              <a:t>Click to edit Master title style</a:t>
            </a:r>
            <a:endParaRPr lang="en-KR"/>
          </a:p>
        </p:txBody>
      </p:sp>
      <p:sp>
        <p:nvSpPr>
          <p:cNvPr id="4" name="Text Placeholder 3">
            <a:extLst>
              <a:ext uri="{FF2B5EF4-FFF2-40B4-BE49-F238E27FC236}">
                <a16:creationId xmlns:a16="http://schemas.microsoft.com/office/drawing/2014/main" id="{1E68D1D8-2DBA-7A63-3EF8-163B79895713}"/>
              </a:ext>
            </a:extLst>
          </p:cNvPr>
          <p:cNvSpPr>
            <a:spLocks noGrp="1"/>
          </p:cNvSpPr>
          <p:nvPr>
            <p:ph type="body" sz="quarter" idx="10"/>
          </p:nvPr>
        </p:nvSpPr>
        <p:spPr>
          <a:xfrm>
            <a:off x="525463" y="2153653"/>
            <a:ext cx="5570537" cy="4277310"/>
          </a:xfrm>
          <a:prstGeom prst="rect">
            <a:avLst/>
          </a:prstGeom>
        </p:spPr>
        <p:txBody>
          <a:bodyPr/>
          <a:lstStyle>
            <a:lvl1pPr marL="538163" indent="-528638" latinLnBrk="0">
              <a:lnSpc>
                <a:spcPct val="100000"/>
              </a:lnSpc>
              <a:spcBef>
                <a:spcPts val="0"/>
              </a:spcBef>
              <a:spcAft>
                <a:spcPts val="600"/>
              </a:spcAft>
              <a:buFont typeface="Wingdings" pitchFamily="2" charset="2"/>
              <a:buChar char="q"/>
              <a:tabLst/>
              <a:defRPr sz="2000">
                <a:latin typeface="Malgun Gothic" panose="020B0503020000020004" pitchFamily="34" charset="-127"/>
                <a:ea typeface="Malgun Gothic" panose="020B0503020000020004" pitchFamily="34" charset="-127"/>
              </a:defRPr>
            </a:lvl1pPr>
            <a:lvl2pPr marL="852488" indent="-406400" latinLnBrk="0">
              <a:lnSpc>
                <a:spcPct val="100000"/>
              </a:lnSpc>
              <a:spcBef>
                <a:spcPts val="0"/>
              </a:spcBef>
              <a:spcAft>
                <a:spcPts val="600"/>
              </a:spcAft>
              <a:buFont typeface="Wingdings" pitchFamily="2" charset="2"/>
              <a:buChar char="§"/>
              <a:tabLst/>
              <a:defRPr sz="1800">
                <a:latin typeface="Malgun Gothic" panose="020B0503020000020004" pitchFamily="34" charset="-127"/>
                <a:ea typeface="Malgun Gothic" panose="020B0503020000020004" pitchFamily="34" charset="-127"/>
              </a:defRPr>
            </a:lvl2pPr>
            <a:lvl3pPr latinLnBrk="0">
              <a:lnSpc>
                <a:spcPct val="100000"/>
              </a:lnSpc>
              <a:spcBef>
                <a:spcPts val="0"/>
              </a:spcBef>
              <a:spcAft>
                <a:spcPts val="600"/>
              </a:spcAft>
              <a:defRPr sz="1600">
                <a:latin typeface="Malgun Gothic" panose="020B0503020000020004" pitchFamily="34" charset="-127"/>
                <a:ea typeface="Malgun Gothic" panose="020B0503020000020004" pitchFamily="34" charset="-127"/>
              </a:defRPr>
            </a:lvl3pPr>
            <a:lvl4pPr latinLnBrk="0">
              <a:lnSpc>
                <a:spcPct val="100000"/>
              </a:lnSpc>
              <a:spcBef>
                <a:spcPts val="0"/>
              </a:spcBef>
              <a:spcAft>
                <a:spcPts val="600"/>
              </a:spcAft>
              <a:defRPr sz="1400">
                <a:latin typeface="Malgun Gothic" panose="020B0503020000020004" pitchFamily="34" charset="-127"/>
                <a:ea typeface="Malgun Gothic" panose="020B0503020000020004" pitchFamily="34" charset="-127"/>
              </a:defRPr>
            </a:lvl4pPr>
            <a:lvl5pPr latinLnBrk="0">
              <a:lnSpc>
                <a:spcPct val="100000"/>
              </a:lnSpc>
              <a:spcBef>
                <a:spcPts val="0"/>
              </a:spcBef>
              <a:spcAft>
                <a:spcPts val="600"/>
              </a:spcAft>
              <a:defRPr sz="1200">
                <a:latin typeface="Malgun Gothic" panose="020B0503020000020004" pitchFamily="34" charset="-127"/>
                <a:ea typeface="Malgun Gothic" panose="020B0503020000020004" pitchFamily="34" charset="-12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dirty="0"/>
          </a:p>
        </p:txBody>
      </p:sp>
      <p:sp>
        <p:nvSpPr>
          <p:cNvPr id="3" name="Text Placeholder 6">
            <a:extLst>
              <a:ext uri="{FF2B5EF4-FFF2-40B4-BE49-F238E27FC236}">
                <a16:creationId xmlns:a16="http://schemas.microsoft.com/office/drawing/2014/main" id="{59B5019A-6521-45CC-B5E4-84D49AD398F8}"/>
              </a:ext>
            </a:extLst>
          </p:cNvPr>
          <p:cNvSpPr>
            <a:spLocks noGrp="1"/>
          </p:cNvSpPr>
          <p:nvPr>
            <p:ph type="body" sz="quarter" idx="11"/>
          </p:nvPr>
        </p:nvSpPr>
        <p:spPr>
          <a:xfrm>
            <a:off x="525463" y="1119188"/>
            <a:ext cx="11141069" cy="806450"/>
          </a:xfrm>
          <a:prstGeom prst="rect">
            <a:avLst/>
          </a:prstGeom>
        </p:spPr>
        <p:txBody>
          <a:bodyPr/>
          <a:lstStyle>
            <a:lvl1pPr marL="0" indent="0" latinLnBrk="0">
              <a:lnSpc>
                <a:spcPct val="100000"/>
              </a:lnSpc>
              <a:spcBef>
                <a:spcPts val="0"/>
              </a:spcBef>
              <a:spcAft>
                <a:spcPts val="600"/>
              </a:spcAft>
              <a:buFontTx/>
              <a:buNone/>
              <a:defRPr sz="2000">
                <a:latin typeface="Malgun Gothic" panose="020B0503020000020004" pitchFamily="34" charset="-127"/>
                <a:ea typeface="Malgun Gothic" panose="020B0503020000020004" pitchFamily="34" charset="-12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5294874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37E45-48A5-A7DA-5BF0-BAADC3BB42BA}"/>
              </a:ext>
            </a:extLst>
          </p:cNvPr>
          <p:cNvSpPr>
            <a:spLocks noGrp="1"/>
          </p:cNvSpPr>
          <p:nvPr>
            <p:ph type="title"/>
          </p:nvPr>
        </p:nvSpPr>
        <p:spPr/>
        <p:txBody>
          <a:bodyPr/>
          <a:lstStyle/>
          <a:p>
            <a:r>
              <a:rPr lang="en-US"/>
              <a:t>Click to edit Master title style</a:t>
            </a:r>
            <a:endParaRPr lang="en-KR"/>
          </a:p>
        </p:txBody>
      </p:sp>
      <p:sp>
        <p:nvSpPr>
          <p:cNvPr id="4" name="Text Placeholder 3">
            <a:extLst>
              <a:ext uri="{FF2B5EF4-FFF2-40B4-BE49-F238E27FC236}">
                <a16:creationId xmlns:a16="http://schemas.microsoft.com/office/drawing/2014/main" id="{1E68D1D8-2DBA-7A63-3EF8-163B79895713}"/>
              </a:ext>
            </a:extLst>
          </p:cNvPr>
          <p:cNvSpPr>
            <a:spLocks noGrp="1"/>
          </p:cNvSpPr>
          <p:nvPr>
            <p:ph type="body" sz="quarter" idx="10"/>
          </p:nvPr>
        </p:nvSpPr>
        <p:spPr>
          <a:xfrm>
            <a:off x="6096000" y="2153653"/>
            <a:ext cx="5570538" cy="4277310"/>
          </a:xfrm>
          <a:prstGeom prst="rect">
            <a:avLst/>
          </a:prstGeom>
        </p:spPr>
        <p:txBody>
          <a:bodyPr/>
          <a:lstStyle>
            <a:lvl1pPr marL="538163" indent="-528638" latinLnBrk="0">
              <a:lnSpc>
                <a:spcPct val="100000"/>
              </a:lnSpc>
              <a:spcBef>
                <a:spcPts val="0"/>
              </a:spcBef>
              <a:spcAft>
                <a:spcPts val="600"/>
              </a:spcAft>
              <a:buFont typeface="Wingdings" pitchFamily="2" charset="2"/>
              <a:buChar char="q"/>
              <a:tabLst/>
              <a:defRPr sz="2000">
                <a:latin typeface="Malgun Gothic" panose="020B0503020000020004" pitchFamily="34" charset="-127"/>
                <a:ea typeface="Malgun Gothic" panose="020B0503020000020004" pitchFamily="34" charset="-127"/>
              </a:defRPr>
            </a:lvl1pPr>
            <a:lvl2pPr marL="852488" indent="-406400" latinLnBrk="0">
              <a:lnSpc>
                <a:spcPct val="100000"/>
              </a:lnSpc>
              <a:spcBef>
                <a:spcPts val="0"/>
              </a:spcBef>
              <a:spcAft>
                <a:spcPts val="600"/>
              </a:spcAft>
              <a:buFont typeface="Wingdings" pitchFamily="2" charset="2"/>
              <a:buChar char="§"/>
              <a:tabLst/>
              <a:defRPr sz="1800">
                <a:latin typeface="Malgun Gothic" panose="020B0503020000020004" pitchFamily="34" charset="-127"/>
                <a:ea typeface="Malgun Gothic" panose="020B0503020000020004" pitchFamily="34" charset="-127"/>
              </a:defRPr>
            </a:lvl2pPr>
            <a:lvl3pPr latinLnBrk="0">
              <a:lnSpc>
                <a:spcPct val="100000"/>
              </a:lnSpc>
              <a:spcBef>
                <a:spcPts val="0"/>
              </a:spcBef>
              <a:spcAft>
                <a:spcPts val="600"/>
              </a:spcAft>
              <a:defRPr sz="1600">
                <a:latin typeface="Malgun Gothic" panose="020B0503020000020004" pitchFamily="34" charset="-127"/>
                <a:ea typeface="Malgun Gothic" panose="020B0503020000020004" pitchFamily="34" charset="-127"/>
              </a:defRPr>
            </a:lvl3pPr>
            <a:lvl4pPr latinLnBrk="0">
              <a:lnSpc>
                <a:spcPct val="100000"/>
              </a:lnSpc>
              <a:spcBef>
                <a:spcPts val="0"/>
              </a:spcBef>
              <a:spcAft>
                <a:spcPts val="600"/>
              </a:spcAft>
              <a:defRPr sz="1400">
                <a:latin typeface="Malgun Gothic" panose="020B0503020000020004" pitchFamily="34" charset="-127"/>
                <a:ea typeface="Malgun Gothic" panose="020B0503020000020004" pitchFamily="34" charset="-127"/>
              </a:defRPr>
            </a:lvl4pPr>
            <a:lvl5pPr latinLnBrk="0">
              <a:lnSpc>
                <a:spcPct val="100000"/>
              </a:lnSpc>
              <a:spcBef>
                <a:spcPts val="0"/>
              </a:spcBef>
              <a:spcAft>
                <a:spcPts val="600"/>
              </a:spcAft>
              <a:defRPr sz="1200">
                <a:latin typeface="Malgun Gothic" panose="020B0503020000020004" pitchFamily="34" charset="-127"/>
                <a:ea typeface="Malgun Gothic" panose="020B0503020000020004" pitchFamily="34" charset="-12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dirty="0"/>
          </a:p>
        </p:txBody>
      </p:sp>
      <p:sp>
        <p:nvSpPr>
          <p:cNvPr id="3" name="Text Placeholder 6">
            <a:extLst>
              <a:ext uri="{FF2B5EF4-FFF2-40B4-BE49-F238E27FC236}">
                <a16:creationId xmlns:a16="http://schemas.microsoft.com/office/drawing/2014/main" id="{59B5019A-6521-45CC-B5E4-84D49AD398F8}"/>
              </a:ext>
            </a:extLst>
          </p:cNvPr>
          <p:cNvSpPr>
            <a:spLocks noGrp="1"/>
          </p:cNvSpPr>
          <p:nvPr>
            <p:ph type="body" sz="quarter" idx="11"/>
          </p:nvPr>
        </p:nvSpPr>
        <p:spPr>
          <a:xfrm>
            <a:off x="525463" y="1119188"/>
            <a:ext cx="11141069" cy="806450"/>
          </a:xfrm>
          <a:prstGeom prst="rect">
            <a:avLst/>
          </a:prstGeom>
        </p:spPr>
        <p:txBody>
          <a:bodyPr/>
          <a:lstStyle>
            <a:lvl1pPr marL="0" indent="0" latinLnBrk="0">
              <a:lnSpc>
                <a:spcPct val="100000"/>
              </a:lnSpc>
              <a:spcBef>
                <a:spcPts val="0"/>
              </a:spcBef>
              <a:spcAft>
                <a:spcPts val="600"/>
              </a:spcAft>
              <a:buFontTx/>
              <a:buNone/>
              <a:defRPr sz="2000">
                <a:latin typeface="Malgun Gothic" panose="020B0503020000020004" pitchFamily="34" charset="-127"/>
                <a:ea typeface="Malgun Gothic" panose="020B0503020000020004" pitchFamily="34" charset="-12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3830303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gif"/><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그림 9">
            <a:extLst>
              <a:ext uri="{FF2B5EF4-FFF2-40B4-BE49-F238E27FC236}">
                <a16:creationId xmlns:a16="http://schemas.microsoft.com/office/drawing/2014/main" id="{36BEB546-6508-887A-028F-AC2DB02C8FDD}"/>
              </a:ext>
            </a:extLst>
          </p:cNvPr>
          <p:cNvPicPr>
            <a:picLocks noChangeAspect="1"/>
          </p:cNvPicPr>
          <p:nvPr/>
        </p:nvPicPr>
        <p:blipFill>
          <a:blip r:embed="rId15" cstate="hqprint">
            <a:extLst>
              <a:ext uri="{BEBA8EAE-BF5A-486C-A8C5-ECC9F3942E4B}">
                <a14:imgProps xmlns:a14="http://schemas.microsoft.com/office/drawing/2010/main">
                  <a14:imgLayer r:embed="rId16">
                    <a14:imgEffect>
                      <a14:backgroundRemoval t="9766" b="89844" l="1890" r="95086">
                        <a14:foregroundMark x1="13013" y1="51563" x2="13013" y2="51563"/>
                        <a14:foregroundMark x1="5238" y1="53516" x2="5238" y2="53516"/>
                        <a14:foregroundMark x1="2106" y1="75000" x2="2106" y2="75000"/>
                        <a14:foregroundMark x1="1890" y1="75000" x2="1890" y2="75000"/>
                        <a14:foregroundMark x1="34557" y1="32813" x2="34557" y2="32813"/>
                        <a14:foregroundMark x1="52646" y1="27344" x2="52646" y2="27344"/>
                        <a14:foregroundMark x1="62095" y1="30078" x2="62095" y2="30078"/>
                        <a14:foregroundMark x1="75486" y1="39453" x2="75486" y2="39453"/>
                        <a14:foregroundMark x1="88283" y1="36719" x2="88283" y2="36719"/>
                        <a14:foregroundMark x1="95086" y1="53125" x2="95086" y2="53125"/>
                      </a14:backgroundRemoval>
                    </a14:imgEffect>
                  </a14:imgLayer>
                </a14:imgProps>
              </a:ext>
              <a:ext uri="{28A0092B-C50C-407E-A947-70E740481C1C}">
                <a14:useLocalDpi xmlns:a14="http://schemas.microsoft.com/office/drawing/2010/main"/>
              </a:ext>
            </a:extLst>
          </a:blip>
          <a:stretch>
            <a:fillRect/>
          </a:stretch>
        </p:blipFill>
        <p:spPr>
          <a:xfrm>
            <a:off x="195414" y="6589208"/>
            <a:ext cx="1262302" cy="174486"/>
          </a:xfrm>
          <a:prstGeom prst="rect">
            <a:avLst/>
          </a:prstGeom>
        </p:spPr>
      </p:pic>
      <p:pic>
        <p:nvPicPr>
          <p:cNvPr id="9" name="그림 8">
            <a:extLst>
              <a:ext uri="{FF2B5EF4-FFF2-40B4-BE49-F238E27FC236}">
                <a16:creationId xmlns:a16="http://schemas.microsoft.com/office/drawing/2014/main" id="{8189A4AA-D209-F444-BAF8-B70D0B555226}"/>
              </a:ext>
            </a:extLst>
          </p:cNvPr>
          <p:cNvPicPr>
            <a:picLocks noChangeAspect="1"/>
          </p:cNvPicPr>
          <p:nvPr/>
        </p:nvPicPr>
        <p:blipFill>
          <a:blip r:embed="rId17" cstate="print">
            <a:clrChange>
              <a:clrFrom>
                <a:srgbClr val="FEFEFE"/>
              </a:clrFrom>
              <a:clrTo>
                <a:srgbClr val="FEFEFE">
                  <a:alpha val="0"/>
                </a:srgbClr>
              </a:clrTo>
            </a:clrChange>
            <a:extLst>
              <a:ext uri="{28A0092B-C50C-407E-A947-70E740481C1C}">
                <a14:useLocalDpi xmlns:a14="http://schemas.microsoft.com/office/drawing/2010/main"/>
              </a:ext>
            </a:extLst>
          </a:blip>
          <a:stretch>
            <a:fillRect/>
          </a:stretch>
        </p:blipFill>
        <p:spPr>
          <a:xfrm>
            <a:off x="11546730" y="6614898"/>
            <a:ext cx="505723" cy="182033"/>
          </a:xfrm>
          <a:prstGeom prst="rect">
            <a:avLst/>
          </a:prstGeom>
          <a:noFill/>
        </p:spPr>
      </p:pic>
      <p:sp>
        <p:nvSpPr>
          <p:cNvPr id="10" name="TextBox 9">
            <a:extLst>
              <a:ext uri="{FF2B5EF4-FFF2-40B4-BE49-F238E27FC236}">
                <a16:creationId xmlns:a16="http://schemas.microsoft.com/office/drawing/2014/main" id="{8A3B6EFA-C6B8-EF41-B485-A6E0B2177E87}"/>
              </a:ext>
            </a:extLst>
          </p:cNvPr>
          <p:cNvSpPr txBox="1"/>
          <p:nvPr/>
        </p:nvSpPr>
        <p:spPr>
          <a:xfrm>
            <a:off x="5970618" y="6579348"/>
            <a:ext cx="276236" cy="2621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8357" tIns="38357" rIns="38357" bIns="38357" numCol="1" spcCol="38100" rtlCol="0" anchor="t">
            <a:spAutoFit/>
          </a:bodyPr>
          <a:lstStyle/>
          <a:p>
            <a:pPr marL="0" marR="0" indent="0" algn="l" defTabSz="584336" rtl="0" fontAlgn="auto" latinLnBrk="0" hangingPunct="0">
              <a:lnSpc>
                <a:spcPct val="100000"/>
              </a:lnSpc>
              <a:spcBef>
                <a:spcPts val="0"/>
              </a:spcBef>
              <a:spcAft>
                <a:spcPts val="0"/>
              </a:spcAft>
              <a:buClrTx/>
              <a:buSzTx/>
              <a:buFontTx/>
              <a:buNone/>
              <a:tabLst/>
            </a:pPr>
            <a:fld id="{86CB4B4D-7CA3-9044-876B-883B54F8677D}" type="slidenum">
              <a:rPr lang="uk-UA" sz="1200" b="1" smtClean="0">
                <a:solidFill>
                  <a:srgbClr val="0432FF"/>
                </a:solidFill>
                <a:latin typeface="Malgun Gothic" charset="-127"/>
                <a:ea typeface="Malgun Gothic" charset="-127"/>
                <a:cs typeface="Malgun Gothic" charset="-127"/>
              </a:rPr>
              <a:pPr marL="0" marR="0" indent="0" algn="l" defTabSz="584336" rtl="0" fontAlgn="auto" latinLnBrk="0" hangingPunct="0">
                <a:lnSpc>
                  <a:spcPct val="100000"/>
                </a:lnSpc>
                <a:spcBef>
                  <a:spcPts val="0"/>
                </a:spcBef>
                <a:spcAft>
                  <a:spcPts val="0"/>
                </a:spcAft>
                <a:buClrTx/>
                <a:buSzTx/>
                <a:buFontTx/>
                <a:buNone/>
                <a:tabLst/>
              </a:pPr>
              <a:t>‹#›</a:t>
            </a:fld>
            <a:endParaRPr kumimoji="0" lang="ko-KR" altLang="en-US" sz="1200" b="1" i="0" u="none" strike="noStrike" cap="none" spc="0" normalizeH="0" baseline="0" dirty="0">
              <a:ln>
                <a:noFill/>
              </a:ln>
              <a:solidFill>
                <a:srgbClr val="0432FF"/>
              </a:solidFill>
              <a:effectLst/>
              <a:uFillTx/>
              <a:latin typeface="Malgun Gothic" charset="-127"/>
              <a:ea typeface="Malgun Gothic" charset="-127"/>
              <a:cs typeface="Malgun Gothic" charset="-127"/>
              <a:sym typeface="Helvetica Neue"/>
            </a:endParaRPr>
          </a:p>
        </p:txBody>
      </p:sp>
      <p:sp>
        <p:nvSpPr>
          <p:cNvPr id="11" name="Rectangle 6">
            <a:extLst>
              <a:ext uri="{FF2B5EF4-FFF2-40B4-BE49-F238E27FC236}">
                <a16:creationId xmlns:a16="http://schemas.microsoft.com/office/drawing/2014/main" id="{573F637A-206E-1582-6801-AEF7CE8AF4AA}"/>
              </a:ext>
            </a:extLst>
          </p:cNvPr>
          <p:cNvSpPr/>
          <p:nvPr/>
        </p:nvSpPr>
        <p:spPr>
          <a:xfrm rot="10800000">
            <a:off x="515935" y="888729"/>
            <a:ext cx="11150599" cy="7951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2" name="Title Placeholder 11">
            <a:extLst>
              <a:ext uri="{FF2B5EF4-FFF2-40B4-BE49-F238E27FC236}">
                <a16:creationId xmlns:a16="http://schemas.microsoft.com/office/drawing/2014/main" id="{63D50BE4-6553-3605-C76D-E6E88F6BA183}"/>
              </a:ext>
            </a:extLst>
          </p:cNvPr>
          <p:cNvSpPr>
            <a:spLocks noGrp="1"/>
          </p:cNvSpPr>
          <p:nvPr>
            <p:ph type="title"/>
          </p:nvPr>
        </p:nvSpPr>
        <p:spPr>
          <a:xfrm>
            <a:off x="525466" y="94307"/>
            <a:ext cx="11141068" cy="698173"/>
          </a:xfrm>
          <a:prstGeom prst="rect">
            <a:avLst/>
          </a:prstGeom>
        </p:spPr>
        <p:txBody>
          <a:bodyPr vert="horz" lIns="91440" tIns="45720" rIns="91440" bIns="45720" rtlCol="0" anchor="ctr">
            <a:normAutofit/>
          </a:bodyPr>
          <a:lstStyle/>
          <a:p>
            <a:r>
              <a:rPr lang="en-US"/>
              <a:t>Click to edit Master title style</a:t>
            </a:r>
            <a:endParaRPr lang="en-KR" dirty="0"/>
          </a:p>
        </p:txBody>
      </p:sp>
    </p:spTree>
    <p:extLst>
      <p:ext uri="{BB962C8B-B14F-4D97-AF65-F5344CB8AC3E}">
        <p14:creationId xmlns:p14="http://schemas.microsoft.com/office/powerpoint/2010/main" val="2597862472"/>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dt="0"/>
  <p:txStyles>
    <p:titleStyle>
      <a:lvl1pPr algn="l" defTabSz="914400" rtl="0" eaLnBrk="1" latinLnBrk="0" hangingPunct="1">
        <a:lnSpc>
          <a:spcPct val="100000"/>
        </a:lnSpc>
        <a:spcBef>
          <a:spcPct val="0"/>
        </a:spcBef>
        <a:buNone/>
        <a:defRPr sz="3200" b="1" i="1" kern="1200">
          <a:solidFill>
            <a:schemeClr val="accent1"/>
          </a:solidFill>
          <a:latin typeface="Malgun Gothic" panose="020B0503020000020004" pitchFamily="34" charset="-127"/>
          <a:ea typeface="Malgun Gothic" panose="020B0503020000020004" pitchFamily="34"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25">
          <p15:clr>
            <a:srgbClr val="F26B43"/>
          </p15:clr>
        </p15:guide>
        <p15:guide id="4" pos="734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hcho@postech.ac.kr" TargetMode="External"/><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hyperlink" Target="http://www.youtube.com/watch?v=OqTmSFkBqkg"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hyperlink" Target="http://www.youtube.com/watch?v=Mwi4OiJches" TargetMode="Externa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18.tiff"/><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19.tiff"/><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ctrTitle"/>
          </p:nvPr>
        </p:nvSpPr>
        <p:spPr/>
        <p:txBody>
          <a:bodyPr>
            <a:normAutofit/>
          </a:bodyPr>
          <a:lstStyle/>
          <a:p>
            <a:r>
              <a:rPr lang="en-US" altLang="ko-KR" dirty="0"/>
              <a:t>Chapter 3. </a:t>
            </a:r>
            <a:br>
              <a:rPr lang="en-US" altLang="ko-KR" dirty="0"/>
            </a:br>
            <a:r>
              <a:rPr lang="en-US" dirty="0"/>
              <a:t>Managing the Information Systems Project</a:t>
            </a:r>
            <a:endParaRPr lang="ko-KR" altLang="en-US" dirty="0"/>
          </a:p>
        </p:txBody>
      </p:sp>
      <p:pic>
        <p:nvPicPr>
          <p:cNvPr id="6" name="Picture 8" descr="Front Cover: Modern Systems Analysis and Design; Ninth Edition by Valacich and George.">
            <a:extLst>
              <a:ext uri="{FF2B5EF4-FFF2-40B4-BE49-F238E27FC236}">
                <a16:creationId xmlns:a16="http://schemas.microsoft.com/office/drawing/2014/main" id="{901E096E-3B75-3532-117C-8EE977287089}"/>
              </a:ext>
            </a:extLst>
          </p:cNvPr>
          <p:cNvPicPr>
            <a:picLocks noChangeAspect="1"/>
          </p:cNvPicPr>
          <p:nvPr/>
        </p:nvPicPr>
        <p:blipFill>
          <a:blip r:embed="rId2"/>
          <a:stretch>
            <a:fillRect/>
          </a:stretch>
        </p:blipFill>
        <p:spPr>
          <a:xfrm>
            <a:off x="191344" y="1640495"/>
            <a:ext cx="2794653" cy="3577010"/>
          </a:xfrm>
          <a:prstGeom prst="rect">
            <a:avLst/>
          </a:prstGeom>
          <a:ln w="9525">
            <a:solidFill>
              <a:schemeClr val="tx1"/>
            </a:solidFill>
          </a:ln>
        </p:spPr>
      </p:pic>
      <p:sp>
        <p:nvSpPr>
          <p:cNvPr id="3" name="TextBox 2">
            <a:extLst>
              <a:ext uri="{FF2B5EF4-FFF2-40B4-BE49-F238E27FC236}">
                <a16:creationId xmlns:a16="http://schemas.microsoft.com/office/drawing/2014/main" id="{1ECD3A37-2469-8AAE-A554-4481E74521FB}"/>
              </a:ext>
            </a:extLst>
          </p:cNvPr>
          <p:cNvSpPr txBox="1"/>
          <p:nvPr/>
        </p:nvSpPr>
        <p:spPr>
          <a:xfrm>
            <a:off x="5174893" y="4169027"/>
            <a:ext cx="5483262" cy="16600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60022" tIns="60022" rIns="60022" bIns="60022" numCol="1" spcCol="38100" rtlCol="0" anchor="t">
            <a:spAutoFit/>
          </a:bodyPr>
          <a:lstStyle/>
          <a:p>
            <a:pPr defTabSz="914400">
              <a:spcAft>
                <a:spcPts val="600"/>
              </a:spcAft>
            </a:pPr>
            <a:r>
              <a:rPr kumimoji="1" lang="ko-KR" altLang="en-US" sz="2000" b="1" dirty="0" err="1">
                <a:solidFill>
                  <a:schemeClr val="tx1"/>
                </a:solidFill>
                <a:latin typeface="Malgun Gothic" charset="-127"/>
                <a:ea typeface="Malgun Gothic" charset="-127"/>
                <a:cs typeface="Malgun Gothic" charset="-127"/>
              </a:rPr>
              <a:t>조현보</a:t>
            </a:r>
            <a:r>
              <a:rPr kumimoji="1" lang="en-US" altLang="ko-KR" sz="2000" b="1" dirty="0">
                <a:solidFill>
                  <a:schemeClr val="tx1"/>
                </a:solidFill>
                <a:latin typeface="Malgun Gothic" charset="-127"/>
                <a:ea typeface="Malgun Gothic" charset="-127"/>
                <a:cs typeface="Malgun Gothic" charset="-127"/>
              </a:rPr>
              <a:t> (</a:t>
            </a:r>
            <a:r>
              <a:rPr kumimoji="1" lang="en-US" altLang="ko-KR" sz="2000" b="1" dirty="0">
                <a:solidFill>
                  <a:schemeClr val="tx1"/>
                </a:solidFill>
                <a:latin typeface="Malgun Gothic" charset="-127"/>
                <a:ea typeface="Malgun Gothic" charset="-127"/>
                <a:cs typeface="Malgun Gothic" charset="-127"/>
                <a:hlinkClick r:id="rId3">
                  <a:extLst>
                    <a:ext uri="{A12FA001-AC4F-418D-AE19-62706E023703}">
                      <ahyp:hlinkClr xmlns:ahyp="http://schemas.microsoft.com/office/drawing/2018/hyperlinkcolor" val="tx"/>
                    </a:ext>
                  </a:extLst>
                </a:hlinkClick>
              </a:rPr>
              <a:t>hcho@postech.ac.kr</a:t>
            </a:r>
            <a:r>
              <a:rPr kumimoji="1" lang="en-US" altLang="ko-KR" sz="2000" b="1" dirty="0">
                <a:solidFill>
                  <a:schemeClr val="tx1"/>
                </a:solidFill>
                <a:latin typeface="Malgun Gothic" charset="-127"/>
                <a:ea typeface="Malgun Gothic" charset="-127"/>
                <a:cs typeface="Malgun Gothic" charset="-127"/>
              </a:rPr>
              <a:t>)</a:t>
            </a:r>
          </a:p>
          <a:p>
            <a:pPr defTabSz="914400">
              <a:spcAft>
                <a:spcPts val="600"/>
              </a:spcAft>
            </a:pPr>
            <a:r>
              <a:rPr kumimoji="1" lang="en-US" altLang="ko-KR" sz="2000" b="1" dirty="0">
                <a:solidFill>
                  <a:schemeClr val="tx1"/>
                </a:solidFill>
                <a:latin typeface="Malgun Gothic" charset="-127"/>
                <a:ea typeface="Malgun Gothic" charset="-127"/>
                <a:cs typeface="Malgun Gothic" charset="-127"/>
              </a:rPr>
              <a:t>POSTECH</a:t>
            </a:r>
            <a:r>
              <a:rPr kumimoji="1" lang="ko-KR" altLang="en-US" sz="2000" b="1" dirty="0">
                <a:solidFill>
                  <a:schemeClr val="tx1"/>
                </a:solidFill>
                <a:latin typeface="Malgun Gothic" charset="-127"/>
                <a:ea typeface="Malgun Gothic" charset="-127"/>
                <a:cs typeface="Malgun Gothic" charset="-127"/>
              </a:rPr>
              <a:t> 산업경영공학과</a:t>
            </a:r>
            <a:endParaRPr kumimoji="1" lang="en-US" altLang="ko-KR" sz="2000" b="1" dirty="0">
              <a:solidFill>
                <a:schemeClr val="tx1"/>
              </a:solidFill>
              <a:latin typeface="Malgun Gothic" charset="-127"/>
              <a:ea typeface="Malgun Gothic" charset="-127"/>
              <a:cs typeface="Malgun Gothic" charset="-127"/>
            </a:endParaRPr>
          </a:p>
          <a:p>
            <a:pPr defTabSz="914400">
              <a:spcAft>
                <a:spcPts val="600"/>
              </a:spcAft>
            </a:pPr>
            <a:r>
              <a:rPr kumimoji="1" lang="en-US" altLang="ko-KR" sz="2000" b="1" dirty="0">
                <a:solidFill>
                  <a:schemeClr val="tx1"/>
                </a:solidFill>
                <a:latin typeface="Malgun Gothic" charset="-127"/>
                <a:ea typeface="Malgun Gothic" charset="-127"/>
                <a:cs typeface="Malgun Gothic" charset="-127"/>
              </a:rPr>
              <a:t>Industrial Data Engineering &amp; Analytics Lab</a:t>
            </a:r>
          </a:p>
          <a:p>
            <a:pPr defTabSz="914400">
              <a:spcAft>
                <a:spcPts val="600"/>
              </a:spcAft>
              <a:defRPr/>
            </a:pPr>
            <a:r>
              <a:rPr kumimoji="1" lang="en-US" altLang="ko-KR" sz="2000" b="1" dirty="0">
                <a:solidFill>
                  <a:schemeClr val="tx1"/>
                </a:solidFill>
                <a:latin typeface="Malgun Gothic" charset="-127"/>
                <a:ea typeface="Malgun Gothic" charset="-127"/>
                <a:cs typeface="Malgun Gothic" charset="-127"/>
              </a:rPr>
              <a:t>http://idea-</a:t>
            </a:r>
            <a:r>
              <a:rPr kumimoji="1" lang="en-US" altLang="ko-KR" sz="2000" b="1" dirty="0" err="1">
                <a:solidFill>
                  <a:schemeClr val="tx1"/>
                </a:solidFill>
                <a:latin typeface="Malgun Gothic" charset="-127"/>
                <a:ea typeface="Malgun Gothic" charset="-127"/>
                <a:cs typeface="Malgun Gothic" charset="-127"/>
              </a:rPr>
              <a:t>lab.kr</a:t>
            </a:r>
            <a:endParaRPr kumimoji="1" lang="en-US" altLang="ko-KR" sz="2000" b="1" dirty="0">
              <a:solidFill>
                <a:schemeClr val="tx1"/>
              </a:solidFill>
              <a:latin typeface="Malgun Gothic" charset="-127"/>
              <a:ea typeface="Malgun Gothic" charset="-127"/>
              <a:cs typeface="Malgun Gothic" charset="-127"/>
            </a:endParaRPr>
          </a:p>
        </p:txBody>
      </p:sp>
    </p:spTree>
    <p:extLst>
      <p:ext uri="{BB962C8B-B14F-4D97-AF65-F5344CB8AC3E}">
        <p14:creationId xmlns:p14="http://schemas.microsoft.com/office/powerpoint/2010/main" val="10414397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615CE6-7930-5433-33CF-7A6C7D58F11B}"/>
              </a:ext>
            </a:extLst>
          </p:cNvPr>
          <p:cNvSpPr>
            <a:spLocks noGrp="1"/>
          </p:cNvSpPr>
          <p:nvPr>
            <p:ph type="title"/>
          </p:nvPr>
        </p:nvSpPr>
        <p:spPr/>
        <p:txBody>
          <a:bodyPr>
            <a:normAutofit/>
          </a:bodyPr>
          <a:lstStyle/>
          <a:p>
            <a:r>
              <a:rPr lang="en-US" altLang="ko-KR" dirty="0"/>
              <a:t>Collaborative Clarification</a:t>
            </a:r>
            <a:endParaRPr lang="en-KR" dirty="0"/>
          </a:p>
        </p:txBody>
      </p:sp>
      <p:sp>
        <p:nvSpPr>
          <p:cNvPr id="5" name="Text Placeholder 4">
            <a:extLst>
              <a:ext uri="{FF2B5EF4-FFF2-40B4-BE49-F238E27FC236}">
                <a16:creationId xmlns:a16="http://schemas.microsoft.com/office/drawing/2014/main" id="{B39DB0BB-55A8-54DD-93A8-334462748B8B}"/>
              </a:ext>
            </a:extLst>
          </p:cNvPr>
          <p:cNvSpPr>
            <a:spLocks noGrp="1"/>
          </p:cNvSpPr>
          <p:nvPr>
            <p:ph type="body" sz="quarter" idx="10"/>
          </p:nvPr>
        </p:nvSpPr>
        <p:spPr/>
        <p:txBody>
          <a:bodyPr/>
          <a:lstStyle/>
          <a:p>
            <a:r>
              <a:rPr lang="en-US" altLang="ko-KR" dirty="0"/>
              <a:t>Students raise questions about parts they found difficult</a:t>
            </a:r>
          </a:p>
          <a:p>
            <a:r>
              <a:rPr lang="en-US" altLang="ko-KR" dirty="0"/>
              <a:t>Any students may answer and one additional student may add comments</a:t>
            </a:r>
          </a:p>
          <a:p>
            <a:r>
              <a:rPr lang="en-US" altLang="ko-KR" dirty="0"/>
              <a:t>The professor clarifies both the questions and answers if necessary</a:t>
            </a:r>
          </a:p>
          <a:p>
            <a:r>
              <a:rPr lang="en-US" altLang="ko-KR" dirty="0"/>
              <a:t>Students who raised questions and answered write down what they did (A Q&amp;A sheet)</a:t>
            </a:r>
          </a:p>
          <a:p>
            <a:endParaRPr lang="en-KR" dirty="0"/>
          </a:p>
        </p:txBody>
      </p:sp>
      <p:pic>
        <p:nvPicPr>
          <p:cNvPr id="7" name="Graphic 6" descr="Meeting with solid fill">
            <a:extLst>
              <a:ext uri="{FF2B5EF4-FFF2-40B4-BE49-F238E27FC236}">
                <a16:creationId xmlns:a16="http://schemas.microsoft.com/office/drawing/2014/main" id="{473F2C89-3C36-8320-5ED1-08F513C453F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43264" y="3429000"/>
            <a:ext cx="2905472" cy="2905472"/>
          </a:xfrm>
          <a:prstGeom prst="rect">
            <a:avLst/>
          </a:prstGeom>
        </p:spPr>
      </p:pic>
    </p:spTree>
    <p:extLst>
      <p:ext uri="{BB962C8B-B14F-4D97-AF65-F5344CB8AC3E}">
        <p14:creationId xmlns:p14="http://schemas.microsoft.com/office/powerpoint/2010/main" val="6297234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Importance of Successful Project Management</a:t>
            </a:r>
          </a:p>
        </p:txBody>
      </p:sp>
      <p:pic>
        <p:nvPicPr>
          <p:cNvPr id="1026" name="Picture 2">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8790" y="2172085"/>
            <a:ext cx="3581400"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525466" y="5186723"/>
            <a:ext cx="5928787" cy="369332"/>
          </a:xfrm>
          <a:prstGeom prst="rect">
            <a:avLst/>
          </a:prstGeom>
        </p:spPr>
        <p:txBody>
          <a:bodyPr wrap="square">
            <a:spAutoFit/>
          </a:bodyPr>
          <a:lstStyle/>
          <a:p>
            <a:r>
              <a:rPr lang="en-US" dirty="0"/>
              <a:t>http://www.youtube.com/watch?v=OqTmSFkBqkg</a:t>
            </a:r>
          </a:p>
        </p:txBody>
      </p:sp>
      <p:pic>
        <p:nvPicPr>
          <p:cNvPr id="8" name="Picture 2">
            <a:hlinkClick r:id="rId5"/>
            <a:extLst>
              <a:ext uri="{FF2B5EF4-FFF2-40B4-BE49-F238E27FC236}">
                <a16:creationId xmlns:a16="http://schemas.microsoft.com/office/drawing/2014/main" id="{7101BA9F-1F88-BAA8-2709-E763E7878E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9460" y="2053023"/>
            <a:ext cx="333375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a:extLst>
              <a:ext uri="{FF2B5EF4-FFF2-40B4-BE49-F238E27FC236}">
                <a16:creationId xmlns:a16="http://schemas.microsoft.com/office/drawing/2014/main" id="{6DE444B8-06F9-063C-CB52-A40C7A81D067}"/>
              </a:ext>
            </a:extLst>
          </p:cNvPr>
          <p:cNvSpPr/>
          <p:nvPr/>
        </p:nvSpPr>
        <p:spPr>
          <a:xfrm>
            <a:off x="6530071" y="5186723"/>
            <a:ext cx="5184576" cy="369332"/>
          </a:xfrm>
          <a:prstGeom prst="rect">
            <a:avLst/>
          </a:prstGeom>
        </p:spPr>
        <p:txBody>
          <a:bodyPr wrap="square">
            <a:spAutoFit/>
          </a:bodyPr>
          <a:lstStyle/>
          <a:p>
            <a:r>
              <a:rPr lang="en-US" dirty="0"/>
              <a:t>http://www.youtube.com/watch?v=Mwi4OiJches</a:t>
            </a:r>
          </a:p>
        </p:txBody>
      </p:sp>
    </p:spTree>
    <p:extLst>
      <p:ext uri="{BB962C8B-B14F-4D97-AF65-F5344CB8AC3E}">
        <p14:creationId xmlns:p14="http://schemas.microsoft.com/office/powerpoint/2010/main" val="41813806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25466" y="94307"/>
            <a:ext cx="11141068" cy="698173"/>
          </a:xfrm>
        </p:spPr>
        <p:txBody>
          <a:bodyPr/>
          <a:lstStyle/>
          <a:p>
            <a:r>
              <a:rPr lang="en-US" altLang="ko-KR" dirty="0"/>
              <a:t>Operation Vs. Project</a:t>
            </a:r>
            <a:endParaRPr lang="en-US" dirty="0"/>
          </a:p>
        </p:txBody>
      </p:sp>
      <p:sp>
        <p:nvSpPr>
          <p:cNvPr id="6" name="Content Placeholder 5"/>
          <p:cNvSpPr>
            <a:spLocks noGrp="1"/>
          </p:cNvSpPr>
          <p:nvPr>
            <p:ph type="body" sz="quarter" idx="10"/>
          </p:nvPr>
        </p:nvSpPr>
        <p:spPr>
          <a:xfrm>
            <a:off x="525463" y="1198563"/>
            <a:ext cx="5570537" cy="5232400"/>
          </a:xfrm>
        </p:spPr>
        <p:txBody>
          <a:bodyPr/>
          <a:lstStyle/>
          <a:p>
            <a:r>
              <a:rPr lang="en-US" altLang="ko-KR" dirty="0"/>
              <a:t>Rework of defective parts</a:t>
            </a:r>
          </a:p>
          <a:p>
            <a:r>
              <a:rPr lang="en-US" altLang="ko-KR" dirty="0"/>
              <a:t>Cold calling from sales department</a:t>
            </a:r>
          </a:p>
          <a:p>
            <a:r>
              <a:rPr lang="en-US" altLang="ko-KR" dirty="0"/>
              <a:t>Monitoring existing satellites</a:t>
            </a:r>
          </a:p>
          <a:p>
            <a:r>
              <a:rPr lang="en-US" altLang="ko-KR" dirty="0"/>
              <a:t>Recruiting cruise tourists</a:t>
            </a:r>
          </a:p>
          <a:p>
            <a:r>
              <a:rPr lang="en-US" altLang="ko-KR" dirty="0"/>
              <a:t>Training suppliers about business ethics</a:t>
            </a:r>
          </a:p>
          <a:p>
            <a:r>
              <a:rPr lang="en-US" altLang="ko-KR" dirty="0"/>
              <a:t>Removing black ices on the bridge</a:t>
            </a:r>
          </a:p>
        </p:txBody>
      </p:sp>
      <p:sp>
        <p:nvSpPr>
          <p:cNvPr id="7" name="Content Placeholder 6"/>
          <p:cNvSpPr>
            <a:spLocks noGrp="1"/>
          </p:cNvSpPr>
          <p:nvPr>
            <p:ph type="body" sz="quarter" idx="11"/>
          </p:nvPr>
        </p:nvSpPr>
        <p:spPr>
          <a:xfrm>
            <a:off x="6096000" y="1198563"/>
            <a:ext cx="5570537" cy="5232400"/>
          </a:xfrm>
        </p:spPr>
        <p:txBody>
          <a:bodyPr/>
          <a:lstStyle/>
          <a:p>
            <a:r>
              <a:rPr lang="en-US" dirty="0"/>
              <a:t>Developing zero-defect equipment </a:t>
            </a:r>
            <a:endParaRPr lang="en-US" altLang="ko-KR" dirty="0"/>
          </a:p>
          <a:p>
            <a:r>
              <a:rPr lang="en-US" altLang="ko-KR" dirty="0"/>
              <a:t>Development of a cold calling AI system</a:t>
            </a:r>
          </a:p>
          <a:p>
            <a:r>
              <a:rPr lang="en-US" altLang="ko-KR" dirty="0"/>
              <a:t>NASA’s Mars Exploration</a:t>
            </a:r>
          </a:p>
          <a:p>
            <a:r>
              <a:rPr lang="en-US" altLang="ko-KR" dirty="0"/>
              <a:t>Company S’s luxury cruise development</a:t>
            </a:r>
          </a:p>
          <a:p>
            <a:r>
              <a:rPr lang="en-US" altLang="ko-KR" dirty="0"/>
              <a:t>Finding a big new supplier</a:t>
            </a:r>
          </a:p>
          <a:p>
            <a:r>
              <a:rPr lang="en-US" altLang="ko-KR" dirty="0"/>
              <a:t>Building a bridge between two islands</a:t>
            </a:r>
          </a:p>
        </p:txBody>
      </p:sp>
      <p:sp>
        <p:nvSpPr>
          <p:cNvPr id="8" name="Rectangle 7"/>
          <p:cNvSpPr/>
          <p:nvPr/>
        </p:nvSpPr>
        <p:spPr>
          <a:xfrm>
            <a:off x="1893724" y="4362358"/>
            <a:ext cx="2834014" cy="400110"/>
          </a:xfrm>
          <a:prstGeom prst="rect">
            <a:avLst/>
          </a:prstGeom>
          <a:noFill/>
          <a:ln>
            <a:noFill/>
          </a:ln>
          <a:effectLst>
            <a:outerShdw blurRad="50800" dist="50800" dir="5400000" algn="ctr" rotWithShape="0">
              <a:srgbClr val="000000">
                <a:alpha val="0"/>
              </a:srgbClr>
            </a:outerShdw>
          </a:effectLst>
        </p:spPr>
        <p:txBody>
          <a:bodyPr wrap="square" lIns="91440" tIns="45720" rIns="91440" bIns="45720">
            <a:spAutoFit/>
          </a:bodyPr>
          <a:lstStyle/>
          <a:p>
            <a:r>
              <a:rPr lang="en-US" sz="2000" b="1" dirty="0">
                <a:ln w="18000">
                  <a:solidFill>
                    <a:schemeClr val="accent2">
                      <a:satMod val="140000"/>
                    </a:schemeClr>
                  </a:solidFill>
                  <a:prstDash val="solid"/>
                  <a:miter lim="800000"/>
                </a:ln>
                <a:solidFill>
                  <a:srgbClr val="FF0000"/>
                </a:solidFill>
              </a:rPr>
              <a:t>Ongoing &amp; Repetitive</a:t>
            </a:r>
          </a:p>
        </p:txBody>
      </p:sp>
      <p:sp>
        <p:nvSpPr>
          <p:cNvPr id="2" name="Rectangle 1">
            <a:extLst>
              <a:ext uri="{FF2B5EF4-FFF2-40B4-BE49-F238E27FC236}">
                <a16:creationId xmlns:a16="http://schemas.microsoft.com/office/drawing/2014/main" id="{F1CADE71-43FB-D12D-3AA1-B8BC84AEC065}"/>
              </a:ext>
            </a:extLst>
          </p:cNvPr>
          <p:cNvSpPr/>
          <p:nvPr/>
        </p:nvSpPr>
        <p:spPr>
          <a:xfrm>
            <a:off x="7464261" y="4362358"/>
            <a:ext cx="2834014" cy="400110"/>
          </a:xfrm>
          <a:prstGeom prst="rect">
            <a:avLst/>
          </a:prstGeom>
          <a:noFill/>
          <a:ln>
            <a:noFill/>
          </a:ln>
          <a:effectLst>
            <a:outerShdw blurRad="50800" dist="50800" dir="5400000" algn="ctr" rotWithShape="0">
              <a:srgbClr val="000000">
                <a:alpha val="0"/>
              </a:srgbClr>
            </a:outerShdw>
          </a:effectLst>
        </p:spPr>
        <p:txBody>
          <a:bodyPr wrap="square" lIns="91440" tIns="45720" rIns="91440" bIns="45720">
            <a:spAutoFit/>
          </a:bodyPr>
          <a:lstStyle/>
          <a:p>
            <a:r>
              <a:rPr lang="en-US" sz="2000" b="1" dirty="0">
                <a:ln w="18000">
                  <a:solidFill>
                    <a:schemeClr val="accent2">
                      <a:satMod val="140000"/>
                    </a:schemeClr>
                  </a:solidFill>
                  <a:prstDash val="solid"/>
                  <a:miter lim="800000"/>
                </a:ln>
                <a:solidFill>
                  <a:srgbClr val="FF0000"/>
                </a:solidFill>
              </a:rPr>
              <a:t>Temporary &amp; Unique</a:t>
            </a:r>
          </a:p>
        </p:txBody>
      </p:sp>
    </p:spTree>
    <p:extLst>
      <p:ext uri="{BB962C8B-B14F-4D97-AF65-F5344CB8AC3E}">
        <p14:creationId xmlns:p14="http://schemas.microsoft.com/office/powerpoint/2010/main" val="18249472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48522-EC54-49CE-DE69-F13F4C4BAD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DEE70D-2EDA-8AEB-C270-A7C537EF9489}"/>
              </a:ext>
            </a:extLst>
          </p:cNvPr>
          <p:cNvSpPr>
            <a:spLocks noGrp="1"/>
          </p:cNvSpPr>
          <p:nvPr>
            <p:ph type="title"/>
          </p:nvPr>
        </p:nvSpPr>
        <p:spPr/>
        <p:txBody>
          <a:bodyPr/>
          <a:lstStyle/>
          <a:p>
            <a:r>
              <a:rPr lang="en-IN" dirty="0"/>
              <a:t>Systems Development Life Cycle (SDLC)</a:t>
            </a:r>
            <a:endParaRPr lang="en-KR" dirty="0"/>
          </a:p>
        </p:txBody>
      </p:sp>
      <p:graphicFrame>
        <p:nvGraphicFramePr>
          <p:cNvPr id="6" name="Diagram 5">
            <a:extLst>
              <a:ext uri="{FF2B5EF4-FFF2-40B4-BE49-F238E27FC236}">
                <a16:creationId xmlns:a16="http://schemas.microsoft.com/office/drawing/2014/main" id="{72D448F6-6DF1-557A-D63A-C38E0BCDA89E}"/>
              </a:ext>
            </a:extLst>
          </p:cNvPr>
          <p:cNvGraphicFramePr/>
          <p:nvPr/>
        </p:nvGraphicFramePr>
        <p:xfrm>
          <a:off x="2083780" y="1340768"/>
          <a:ext cx="8024440" cy="48695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5038DD73-B7D2-E528-FC57-A6B45A3C7636}"/>
              </a:ext>
            </a:extLst>
          </p:cNvPr>
          <p:cNvSpPr txBox="1"/>
          <p:nvPr/>
        </p:nvSpPr>
        <p:spPr>
          <a:xfrm>
            <a:off x="6946751" y="1340768"/>
            <a:ext cx="4981898" cy="738664"/>
          </a:xfrm>
          <a:prstGeom prst="rect">
            <a:avLst/>
          </a:prstGeom>
          <a:noFill/>
        </p:spPr>
        <p:txBody>
          <a:bodyPr wrap="square">
            <a:spAutoFit/>
          </a:bodyPr>
          <a:lstStyle/>
          <a:p>
            <a:r>
              <a:rPr lang="en-IN" altLang="ko-KR" sz="1400" dirty="0">
                <a:latin typeface="Malgun Gothic" panose="020B0503020000020004" pitchFamily="34" charset="-127"/>
                <a:ea typeface="Malgun Gothic" panose="020B0503020000020004" pitchFamily="34" charset="-127"/>
              </a:rPr>
              <a:t>What do we want to build, and why?</a:t>
            </a:r>
          </a:p>
          <a:p>
            <a:r>
              <a:rPr lang="en-US" altLang="ko-KR" sz="1400" dirty="0">
                <a:latin typeface="Malgun Gothic" panose="020B0503020000020004" pitchFamily="34" charset="-127"/>
                <a:ea typeface="Malgun Gothic" panose="020B0503020000020004" pitchFamily="34" charset="-127"/>
              </a:rPr>
              <a:t>-</a:t>
            </a:r>
            <a:r>
              <a:rPr lang="ko-KR" altLang="en-US" sz="1400" dirty="0">
                <a:latin typeface="Malgun Gothic" panose="020B0503020000020004" pitchFamily="34" charset="-127"/>
                <a:ea typeface="Malgun Gothic" panose="020B0503020000020004" pitchFamily="34" charset="-127"/>
              </a:rPr>
              <a:t> </a:t>
            </a:r>
            <a:r>
              <a:rPr lang="en-US" altLang="ko-KR" sz="1400" dirty="0">
                <a:latin typeface="Malgun Gothic" panose="020B0503020000020004" pitchFamily="34" charset="-127"/>
                <a:ea typeface="Malgun Gothic" panose="020B0503020000020004" pitchFamily="34" charset="-127"/>
              </a:rPr>
              <a:t>Identifying and selecting systems development projects </a:t>
            </a:r>
          </a:p>
          <a:p>
            <a:r>
              <a:rPr lang="en-US" altLang="ko-KR" sz="1400" dirty="0">
                <a:latin typeface="Malgun Gothic" panose="020B0503020000020004" pitchFamily="34" charset="-127"/>
                <a:ea typeface="Malgun Gothic" panose="020B0503020000020004" pitchFamily="34" charset="-127"/>
              </a:rPr>
              <a:t>-</a:t>
            </a:r>
            <a:r>
              <a:rPr lang="ko-KR" altLang="en-US" sz="1400" dirty="0">
                <a:latin typeface="Malgun Gothic" panose="020B0503020000020004" pitchFamily="34" charset="-127"/>
                <a:ea typeface="Malgun Gothic" panose="020B0503020000020004" pitchFamily="34" charset="-127"/>
              </a:rPr>
              <a:t> </a:t>
            </a:r>
            <a:r>
              <a:rPr lang="en-US" altLang="ko-KR" sz="1400" dirty="0">
                <a:latin typeface="Malgun Gothic" panose="020B0503020000020004" pitchFamily="34" charset="-127"/>
                <a:ea typeface="Malgun Gothic" panose="020B0503020000020004" pitchFamily="34" charset="-127"/>
              </a:rPr>
              <a:t>Initiating and planning systems development projects </a:t>
            </a:r>
            <a:endParaRPr lang="en-KR" sz="1400" dirty="0">
              <a:latin typeface="Malgun Gothic" panose="020B0503020000020004" pitchFamily="34" charset="-127"/>
              <a:ea typeface="Malgun Gothic" panose="020B0503020000020004" pitchFamily="34" charset="-127"/>
            </a:endParaRPr>
          </a:p>
        </p:txBody>
      </p:sp>
      <p:sp>
        <p:nvSpPr>
          <p:cNvPr id="4" name="TextBox 3">
            <a:extLst>
              <a:ext uri="{FF2B5EF4-FFF2-40B4-BE49-F238E27FC236}">
                <a16:creationId xmlns:a16="http://schemas.microsoft.com/office/drawing/2014/main" id="{EAD737A8-317A-9CB0-C6E3-D797E1133BEC}"/>
              </a:ext>
            </a:extLst>
          </p:cNvPr>
          <p:cNvSpPr txBox="1"/>
          <p:nvPr/>
        </p:nvSpPr>
        <p:spPr>
          <a:xfrm>
            <a:off x="8904312" y="2858568"/>
            <a:ext cx="3112422" cy="984885"/>
          </a:xfrm>
          <a:prstGeom prst="rect">
            <a:avLst/>
          </a:prstGeom>
          <a:noFill/>
        </p:spPr>
        <p:txBody>
          <a:bodyPr wrap="square">
            <a:spAutoFit/>
          </a:bodyPr>
          <a:lstStyle/>
          <a:p>
            <a:r>
              <a:rPr lang="en-US" sz="1400" dirty="0"/>
              <a:t>What does the system need to do? </a:t>
            </a:r>
          </a:p>
          <a:p>
            <a:pPr marL="23813" indent="-15875">
              <a:buFontTx/>
              <a:buChar char="-"/>
            </a:pPr>
            <a:r>
              <a:rPr lang="en-US" sz="1400" dirty="0"/>
              <a:t> Determining requirements</a:t>
            </a:r>
          </a:p>
          <a:p>
            <a:pPr marL="23813" indent="-15875">
              <a:buFontTx/>
              <a:buChar char="-"/>
            </a:pPr>
            <a:r>
              <a:rPr lang="en-US" sz="1400" dirty="0"/>
              <a:t> Structuring process requirements</a:t>
            </a:r>
            <a:endParaRPr lang="en-KR" sz="1400" dirty="0"/>
          </a:p>
          <a:p>
            <a:pPr marL="23813" indent="-15875">
              <a:buFontTx/>
              <a:buChar char="-"/>
            </a:pPr>
            <a:r>
              <a:rPr lang="en-KR" sz="1400" dirty="0"/>
              <a:t> Structuring data requirments</a:t>
            </a:r>
          </a:p>
        </p:txBody>
      </p:sp>
      <p:sp>
        <p:nvSpPr>
          <p:cNvPr id="5" name="TextBox 4">
            <a:extLst>
              <a:ext uri="{FF2B5EF4-FFF2-40B4-BE49-F238E27FC236}">
                <a16:creationId xmlns:a16="http://schemas.microsoft.com/office/drawing/2014/main" id="{138F6AED-01FB-40A3-B24E-46D5EEE6837F}"/>
              </a:ext>
            </a:extLst>
          </p:cNvPr>
          <p:cNvSpPr txBox="1"/>
          <p:nvPr/>
        </p:nvSpPr>
        <p:spPr>
          <a:xfrm>
            <a:off x="8112224" y="5124939"/>
            <a:ext cx="3384376" cy="984885"/>
          </a:xfrm>
          <a:prstGeom prst="rect">
            <a:avLst/>
          </a:prstGeom>
          <a:noFill/>
        </p:spPr>
        <p:txBody>
          <a:bodyPr wrap="square">
            <a:spAutoFit/>
          </a:bodyPr>
          <a:lstStyle/>
          <a:p>
            <a:r>
              <a:rPr lang="en-US" sz="1400" dirty="0"/>
              <a:t>How will the system work? </a:t>
            </a:r>
          </a:p>
          <a:p>
            <a:pPr marL="23813" indent="-15875">
              <a:buFontTx/>
              <a:buChar char="-"/>
            </a:pPr>
            <a:r>
              <a:rPr lang="en-US" sz="1400" dirty="0"/>
              <a:t> Designing database</a:t>
            </a:r>
          </a:p>
          <a:p>
            <a:pPr marL="23813" indent="-15875">
              <a:buFontTx/>
              <a:buChar char="-"/>
            </a:pPr>
            <a:r>
              <a:rPr lang="en-US" sz="1400" dirty="0"/>
              <a:t> Designing forms and reports</a:t>
            </a:r>
          </a:p>
          <a:p>
            <a:pPr marL="23813" indent="-15875">
              <a:buFontTx/>
              <a:buChar char="-"/>
            </a:pPr>
            <a:r>
              <a:rPr lang="en-US" sz="1400" dirty="0"/>
              <a:t> Designing interfaces and dialogues</a:t>
            </a:r>
          </a:p>
        </p:txBody>
      </p:sp>
      <p:sp>
        <p:nvSpPr>
          <p:cNvPr id="7" name="TextBox 6">
            <a:extLst>
              <a:ext uri="{FF2B5EF4-FFF2-40B4-BE49-F238E27FC236}">
                <a16:creationId xmlns:a16="http://schemas.microsoft.com/office/drawing/2014/main" id="{1653EFB8-3DCD-6257-40C7-A249A604CA2A}"/>
              </a:ext>
            </a:extLst>
          </p:cNvPr>
          <p:cNvSpPr txBox="1"/>
          <p:nvPr/>
        </p:nvSpPr>
        <p:spPr>
          <a:xfrm>
            <a:off x="1735081" y="5355771"/>
            <a:ext cx="2334195" cy="523220"/>
          </a:xfrm>
          <a:prstGeom prst="rect">
            <a:avLst/>
          </a:prstGeom>
          <a:noFill/>
        </p:spPr>
        <p:txBody>
          <a:bodyPr wrap="square">
            <a:spAutoFit/>
          </a:bodyPr>
          <a:lstStyle/>
          <a:p>
            <a:r>
              <a:rPr lang="en-US" sz="1400" dirty="0"/>
              <a:t>The actual system is built, tested, and deployed</a:t>
            </a:r>
            <a:endParaRPr lang="en-KR" sz="1400" dirty="0"/>
          </a:p>
        </p:txBody>
      </p:sp>
      <p:sp>
        <p:nvSpPr>
          <p:cNvPr id="8" name="TextBox 7">
            <a:extLst>
              <a:ext uri="{FF2B5EF4-FFF2-40B4-BE49-F238E27FC236}">
                <a16:creationId xmlns:a16="http://schemas.microsoft.com/office/drawing/2014/main" id="{32BEB688-D0E7-ACB4-E3A4-0CDFBBC32F0D}"/>
              </a:ext>
            </a:extLst>
          </p:cNvPr>
          <p:cNvSpPr txBox="1"/>
          <p:nvPr/>
        </p:nvSpPr>
        <p:spPr>
          <a:xfrm>
            <a:off x="983432" y="3086660"/>
            <a:ext cx="2635572" cy="523220"/>
          </a:xfrm>
          <a:prstGeom prst="rect">
            <a:avLst/>
          </a:prstGeom>
          <a:noFill/>
        </p:spPr>
        <p:txBody>
          <a:bodyPr wrap="square">
            <a:spAutoFit/>
          </a:bodyPr>
          <a:lstStyle/>
          <a:p>
            <a:r>
              <a:rPr lang="en-US" sz="1400" dirty="0"/>
              <a:t>The system is monitored, supported, and enhanced</a:t>
            </a:r>
            <a:endParaRPr lang="en-KR" sz="1400" dirty="0"/>
          </a:p>
        </p:txBody>
      </p:sp>
    </p:spTree>
    <p:extLst>
      <p:ext uri="{BB962C8B-B14F-4D97-AF65-F5344CB8AC3E}">
        <p14:creationId xmlns:p14="http://schemas.microsoft.com/office/powerpoint/2010/main" val="28682910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39BA1-D175-2FDA-2412-27502C43D2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7ABC11-6B04-DEC3-7EA2-232FA8A30179}"/>
              </a:ext>
            </a:extLst>
          </p:cNvPr>
          <p:cNvSpPr>
            <a:spLocks noGrp="1"/>
          </p:cNvSpPr>
          <p:nvPr>
            <p:ph type="title"/>
          </p:nvPr>
        </p:nvSpPr>
        <p:spPr/>
        <p:txBody>
          <a:bodyPr/>
          <a:lstStyle/>
          <a:p>
            <a:r>
              <a:rPr lang="en-US" dirty="0"/>
              <a:t>Questions on Missing Aspects in SDLC</a:t>
            </a:r>
            <a:endParaRPr lang="en-KR" dirty="0"/>
          </a:p>
        </p:txBody>
      </p:sp>
      <p:sp>
        <p:nvSpPr>
          <p:cNvPr id="4" name="Text Placeholder 3">
            <a:extLst>
              <a:ext uri="{FF2B5EF4-FFF2-40B4-BE49-F238E27FC236}">
                <a16:creationId xmlns:a16="http://schemas.microsoft.com/office/drawing/2014/main" id="{5ACDF7DF-6386-6976-16C5-33EA27955A85}"/>
              </a:ext>
            </a:extLst>
          </p:cNvPr>
          <p:cNvSpPr>
            <a:spLocks noGrp="1"/>
          </p:cNvSpPr>
          <p:nvPr>
            <p:ph type="body" sz="quarter" idx="10"/>
          </p:nvPr>
        </p:nvSpPr>
        <p:spPr/>
        <p:txBody>
          <a:bodyPr/>
          <a:lstStyle/>
          <a:p>
            <a:r>
              <a:rPr lang="en-US" dirty="0"/>
              <a:t>Beyond the SDLC phases, what other activities do you think are essential for the success of an information system project?</a:t>
            </a:r>
          </a:p>
          <a:p>
            <a:r>
              <a:rPr lang="en-US" dirty="0"/>
              <a:t>Does the SDLC explicitly address risk management? How should risks be managed throughout the lifecycle?</a:t>
            </a:r>
          </a:p>
          <a:p>
            <a:r>
              <a:rPr lang="en-US" dirty="0"/>
              <a:t>How does SDLC handle stakeholder communication and expectations?</a:t>
            </a:r>
          </a:p>
          <a:p>
            <a:r>
              <a:rPr lang="en-US" dirty="0"/>
              <a:t>How does SDLC handle stakeholder communication and expectations?</a:t>
            </a:r>
          </a:p>
          <a:p>
            <a:r>
              <a:rPr lang="en-US" dirty="0"/>
              <a:t>How does the SDLC account for motivation and conflict resolution?</a:t>
            </a:r>
          </a:p>
          <a:p>
            <a:r>
              <a:rPr lang="en-US" dirty="0"/>
              <a:t>What role does change management play in system development?</a:t>
            </a:r>
          </a:p>
          <a:p>
            <a:r>
              <a:rPr lang="en-US" dirty="0"/>
              <a:t>How does the SDLC address legal, ethical, and compliance issues?</a:t>
            </a:r>
            <a:endParaRPr lang="en-KR" dirty="0"/>
          </a:p>
        </p:txBody>
      </p:sp>
      <p:grpSp>
        <p:nvGrpSpPr>
          <p:cNvPr id="11" name="Group 10">
            <a:extLst>
              <a:ext uri="{FF2B5EF4-FFF2-40B4-BE49-F238E27FC236}">
                <a16:creationId xmlns:a16="http://schemas.microsoft.com/office/drawing/2014/main" id="{2488AE5C-DE55-C50F-1C5C-6D1F56D225BF}"/>
              </a:ext>
            </a:extLst>
          </p:cNvPr>
          <p:cNvGrpSpPr/>
          <p:nvPr/>
        </p:nvGrpSpPr>
        <p:grpSpPr>
          <a:xfrm>
            <a:off x="3431704" y="5486454"/>
            <a:ext cx="4194881" cy="461665"/>
            <a:chOff x="3431704" y="5486454"/>
            <a:chExt cx="4194881" cy="461665"/>
          </a:xfrm>
        </p:grpSpPr>
        <p:sp>
          <p:nvSpPr>
            <p:cNvPr id="9" name="Right Arrow 8">
              <a:extLst>
                <a:ext uri="{FF2B5EF4-FFF2-40B4-BE49-F238E27FC236}">
                  <a16:creationId xmlns:a16="http://schemas.microsoft.com/office/drawing/2014/main" id="{6E1486FC-FB38-0033-E719-84319B962DA6}"/>
                </a:ext>
              </a:extLst>
            </p:cNvPr>
            <p:cNvSpPr/>
            <p:nvPr/>
          </p:nvSpPr>
          <p:spPr>
            <a:xfrm>
              <a:off x="3431704" y="5517232"/>
              <a:ext cx="720080" cy="4001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10" name="TextBox 9">
              <a:extLst>
                <a:ext uri="{FF2B5EF4-FFF2-40B4-BE49-F238E27FC236}">
                  <a16:creationId xmlns:a16="http://schemas.microsoft.com/office/drawing/2014/main" id="{868328A9-87B5-B451-A941-9A7A2BB02E56}"/>
                </a:ext>
              </a:extLst>
            </p:cNvPr>
            <p:cNvSpPr txBox="1"/>
            <p:nvPr/>
          </p:nvSpPr>
          <p:spPr>
            <a:xfrm>
              <a:off x="4367808" y="5486454"/>
              <a:ext cx="3258777" cy="461665"/>
            </a:xfrm>
            <a:prstGeom prst="rect">
              <a:avLst/>
            </a:prstGeom>
            <a:noFill/>
          </p:spPr>
          <p:txBody>
            <a:bodyPr wrap="none" rtlCol="0">
              <a:spAutoFit/>
            </a:bodyPr>
            <a:lstStyle/>
            <a:p>
              <a:r>
                <a:rPr lang="en-KR" sz="2400" b="1" dirty="0"/>
                <a:t>Project Management</a:t>
              </a:r>
            </a:p>
          </p:txBody>
        </p:sp>
      </p:grpSp>
    </p:spTree>
    <p:extLst>
      <p:ext uri="{BB962C8B-B14F-4D97-AF65-F5344CB8AC3E}">
        <p14:creationId xmlns:p14="http://schemas.microsoft.com/office/powerpoint/2010/main" val="40216883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466" y="94307"/>
            <a:ext cx="11141068" cy="698173"/>
          </a:xfrm>
        </p:spPr>
        <p:txBody>
          <a:bodyPr/>
          <a:lstStyle/>
          <a:p>
            <a:r>
              <a:rPr lang="en-US" altLang="ko-KR"/>
              <a:t>Project</a:t>
            </a:r>
            <a:endParaRPr lang="en-US" dirty="0"/>
          </a:p>
        </p:txBody>
      </p:sp>
      <p:sp>
        <p:nvSpPr>
          <p:cNvPr id="6" name="직사각형 2"/>
          <p:cNvSpPr/>
          <p:nvPr/>
        </p:nvSpPr>
        <p:spPr>
          <a:xfrm>
            <a:off x="1847528" y="2636912"/>
            <a:ext cx="8568952" cy="1569660"/>
          </a:xfrm>
          <a:prstGeom prst="rect">
            <a:avLst/>
          </a:prstGeom>
        </p:spPr>
        <p:txBody>
          <a:bodyPr wrap="square">
            <a:spAutoFit/>
          </a:bodyPr>
          <a:lstStyle/>
          <a:p>
            <a:pPr algn="ctr"/>
            <a:r>
              <a:rPr lang="en-US" altLang="ko-KR" sz="3200" dirty="0">
                <a:latin typeface="Malgun Gothic" panose="020B0503020000020004" pitchFamily="34" charset="-127"/>
                <a:ea typeface="Malgun Gothic" panose="020B0503020000020004" pitchFamily="34" charset="-127"/>
              </a:rPr>
              <a:t>A </a:t>
            </a:r>
            <a:r>
              <a:rPr lang="en-US" altLang="ko-KR" sz="3200" dirty="0">
                <a:solidFill>
                  <a:srgbClr val="FF0000"/>
                </a:solidFill>
                <a:latin typeface="Malgun Gothic" panose="020B0503020000020004" pitchFamily="34" charset="-127"/>
                <a:ea typeface="Malgun Gothic" panose="020B0503020000020004" pitchFamily="34" charset="-127"/>
              </a:rPr>
              <a:t>one-time</a:t>
            </a:r>
            <a:r>
              <a:rPr lang="en-US" altLang="ko-KR" sz="3200" dirty="0">
                <a:latin typeface="Malgun Gothic" panose="020B0503020000020004" pitchFamily="34" charset="-127"/>
                <a:ea typeface="Malgun Gothic" panose="020B0503020000020004" pitchFamily="34" charset="-127"/>
              </a:rPr>
              <a:t> effort undertaken to create a </a:t>
            </a:r>
            <a:r>
              <a:rPr lang="en-US" altLang="ko-KR" sz="3200" dirty="0">
                <a:solidFill>
                  <a:srgbClr val="0000FF"/>
                </a:solidFill>
                <a:latin typeface="Malgun Gothic" panose="020B0503020000020004" pitchFamily="34" charset="-127"/>
                <a:ea typeface="Malgun Gothic" panose="020B0503020000020004" pitchFamily="34" charset="-127"/>
              </a:rPr>
              <a:t>unique</a:t>
            </a:r>
            <a:r>
              <a:rPr lang="en-US" altLang="ko-KR" sz="3200" dirty="0">
                <a:latin typeface="Malgun Gothic" panose="020B0503020000020004" pitchFamily="34" charset="-127"/>
                <a:ea typeface="Malgun Gothic" panose="020B0503020000020004" pitchFamily="34" charset="-127"/>
              </a:rPr>
              <a:t> system, product, service, or result by </a:t>
            </a:r>
            <a:r>
              <a:rPr lang="en-US" altLang="ko-KR" sz="3200" dirty="0">
                <a:solidFill>
                  <a:srgbClr val="00B050"/>
                </a:solidFill>
                <a:latin typeface="Malgun Gothic" panose="020B0503020000020004" pitchFamily="34" charset="-127"/>
                <a:ea typeface="Malgun Gothic" panose="020B0503020000020004" pitchFamily="34" charset="-127"/>
              </a:rPr>
              <a:t>progressive elaboration</a:t>
            </a:r>
          </a:p>
        </p:txBody>
      </p:sp>
      <p:sp>
        <p:nvSpPr>
          <p:cNvPr id="9" name="직사각형 4"/>
          <p:cNvSpPr/>
          <p:nvPr/>
        </p:nvSpPr>
        <p:spPr>
          <a:xfrm>
            <a:off x="2783632" y="1447910"/>
            <a:ext cx="3096344" cy="584775"/>
          </a:xfrm>
          <a:prstGeom prst="rect">
            <a:avLst/>
          </a:prstGeom>
        </p:spPr>
        <p:txBody>
          <a:bodyPr wrap="square">
            <a:spAutoFit/>
          </a:bodyPr>
          <a:lstStyle/>
          <a:p>
            <a:r>
              <a:rPr lang="en-US" altLang="ko-KR" sz="1600" dirty="0">
                <a:solidFill>
                  <a:srgbClr val="FF0000"/>
                </a:solidFill>
                <a:latin typeface="Malgun Gothic" panose="020B0503020000020004" pitchFamily="34" charset="-127"/>
                <a:ea typeface="Malgun Gothic" panose="020B0503020000020004" pitchFamily="34" charset="-127"/>
              </a:rPr>
              <a:t>A project has a definite beginning and a definite end</a:t>
            </a:r>
            <a:endParaRPr lang="ko-KR" altLang="en-US" sz="1600" dirty="0">
              <a:solidFill>
                <a:srgbClr val="FF0000"/>
              </a:solidFill>
              <a:latin typeface="Malgun Gothic" panose="020B0503020000020004" pitchFamily="34" charset="-127"/>
              <a:ea typeface="Malgun Gothic" panose="020B0503020000020004" pitchFamily="34" charset="-127"/>
            </a:endParaRPr>
          </a:p>
        </p:txBody>
      </p:sp>
      <p:cxnSp>
        <p:nvCxnSpPr>
          <p:cNvPr id="10" name="Straight Connector 9"/>
          <p:cNvCxnSpPr/>
          <p:nvPr/>
        </p:nvCxnSpPr>
        <p:spPr bwMode="auto">
          <a:xfrm flipV="1">
            <a:off x="3215680" y="2094240"/>
            <a:ext cx="576064" cy="686688"/>
          </a:xfrm>
          <a:prstGeom prst="line">
            <a:avLst/>
          </a:prstGeom>
          <a:noFill/>
          <a:ln w="12700" cap="flat" cmpd="sng" algn="ctr">
            <a:solidFill>
              <a:srgbClr val="FF0000"/>
            </a:solidFill>
            <a:prstDash val="solid"/>
            <a:round/>
            <a:headEnd type="none" w="med" len="med"/>
            <a:tailEnd type="none" w="med" len="med"/>
          </a:ln>
          <a:effectLst/>
        </p:spPr>
      </p:cxnSp>
      <p:sp>
        <p:nvSpPr>
          <p:cNvPr id="11" name="Rectangle 10"/>
          <p:cNvSpPr/>
          <p:nvPr/>
        </p:nvSpPr>
        <p:spPr>
          <a:xfrm>
            <a:off x="1847528" y="4869160"/>
            <a:ext cx="2736304" cy="830997"/>
          </a:xfrm>
          <a:prstGeom prst="rect">
            <a:avLst/>
          </a:prstGeom>
        </p:spPr>
        <p:txBody>
          <a:bodyPr wrap="square">
            <a:spAutoFit/>
          </a:bodyPr>
          <a:lstStyle/>
          <a:p>
            <a:pPr>
              <a:defRPr/>
            </a:pPr>
            <a:r>
              <a:rPr lang="en-US" altLang="ko-KR" sz="1600" dirty="0">
                <a:solidFill>
                  <a:srgbClr val="0000FF"/>
                </a:solidFill>
                <a:latin typeface="Malgun Gothic" panose="020B0503020000020004" pitchFamily="34" charset="-127"/>
                <a:ea typeface="Malgun Gothic" panose="020B0503020000020004" pitchFamily="34" charset="-127"/>
              </a:rPr>
              <a:t>A project creates unique deliverables; products, services, or results</a:t>
            </a:r>
            <a:endParaRPr lang="ko-KR" altLang="en-US" sz="1600" dirty="0">
              <a:solidFill>
                <a:srgbClr val="0000FF"/>
              </a:solidFill>
              <a:latin typeface="Malgun Gothic" panose="020B0503020000020004" pitchFamily="34" charset="-127"/>
              <a:ea typeface="Malgun Gothic" panose="020B0503020000020004" pitchFamily="34" charset="-127"/>
            </a:endParaRPr>
          </a:p>
        </p:txBody>
      </p:sp>
      <p:cxnSp>
        <p:nvCxnSpPr>
          <p:cNvPr id="13" name="Straight Connector 12"/>
          <p:cNvCxnSpPr/>
          <p:nvPr/>
        </p:nvCxnSpPr>
        <p:spPr bwMode="auto">
          <a:xfrm>
            <a:off x="2783632" y="3645024"/>
            <a:ext cx="144016" cy="1224136"/>
          </a:xfrm>
          <a:prstGeom prst="line">
            <a:avLst/>
          </a:prstGeom>
          <a:noFill/>
          <a:ln w="12700" cap="flat" cmpd="sng" algn="ctr">
            <a:solidFill>
              <a:srgbClr val="0000FF"/>
            </a:solidFill>
            <a:prstDash val="solid"/>
            <a:round/>
            <a:headEnd type="none" w="med" len="med"/>
            <a:tailEnd type="none" w="med" len="med"/>
          </a:ln>
          <a:effectLst/>
        </p:spPr>
      </p:cxnSp>
      <p:sp>
        <p:nvSpPr>
          <p:cNvPr id="14" name="Rectangle 13"/>
          <p:cNvSpPr/>
          <p:nvPr/>
        </p:nvSpPr>
        <p:spPr>
          <a:xfrm>
            <a:off x="5735960" y="4899376"/>
            <a:ext cx="2808312" cy="830997"/>
          </a:xfrm>
          <a:prstGeom prst="rect">
            <a:avLst/>
          </a:prstGeom>
        </p:spPr>
        <p:txBody>
          <a:bodyPr wrap="square">
            <a:spAutoFit/>
          </a:bodyPr>
          <a:lstStyle/>
          <a:p>
            <a:r>
              <a:rPr lang="en-US" altLang="ko-KR" sz="1600" dirty="0">
                <a:solidFill>
                  <a:srgbClr val="00B050"/>
                </a:solidFill>
                <a:latin typeface="Malgun Gothic" panose="020B0503020000020004" pitchFamily="34" charset="-127"/>
                <a:ea typeface="Malgun Gothic" panose="020B0503020000020004" pitchFamily="34" charset="-127"/>
              </a:rPr>
              <a:t>A project is performed in steps, and continues by increments</a:t>
            </a:r>
            <a:endParaRPr lang="en-US" sz="1600" dirty="0">
              <a:solidFill>
                <a:srgbClr val="00B050"/>
              </a:solidFill>
              <a:latin typeface="Malgun Gothic" panose="020B0503020000020004" pitchFamily="34" charset="-127"/>
              <a:ea typeface="Malgun Gothic" panose="020B0503020000020004" pitchFamily="34" charset="-127"/>
            </a:endParaRPr>
          </a:p>
        </p:txBody>
      </p:sp>
      <p:cxnSp>
        <p:nvCxnSpPr>
          <p:cNvPr id="16" name="Straight Connector 15"/>
          <p:cNvCxnSpPr/>
          <p:nvPr/>
        </p:nvCxnSpPr>
        <p:spPr bwMode="auto">
          <a:xfrm>
            <a:off x="6600056" y="4206572"/>
            <a:ext cx="288032" cy="662588"/>
          </a:xfrm>
          <a:prstGeom prst="line">
            <a:avLst/>
          </a:prstGeom>
          <a:noFill/>
          <a:ln w="12700" cap="flat" cmpd="sng" algn="ctr">
            <a:solidFill>
              <a:srgbClr val="00B050"/>
            </a:solidFill>
            <a:prstDash val="solid"/>
            <a:round/>
            <a:headEnd type="none" w="med" len="med"/>
            <a:tailEnd type="none" w="med" len="med"/>
          </a:ln>
          <a:effectLst/>
        </p:spPr>
      </p:cxnSp>
    </p:spTree>
    <p:extLst>
      <p:ext uri="{BB962C8B-B14F-4D97-AF65-F5344CB8AC3E}">
        <p14:creationId xmlns:p14="http://schemas.microsoft.com/office/powerpoint/2010/main" val="11123588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CAD3B-2819-A4A2-6A8E-8271503B3D4F}"/>
              </a:ext>
            </a:extLst>
          </p:cNvPr>
          <p:cNvSpPr>
            <a:spLocks noGrp="1"/>
          </p:cNvSpPr>
          <p:nvPr>
            <p:ph type="title"/>
          </p:nvPr>
        </p:nvSpPr>
        <p:spPr>
          <a:xfrm>
            <a:off x="525466" y="94307"/>
            <a:ext cx="11141068" cy="698173"/>
          </a:xfrm>
        </p:spPr>
        <p:txBody>
          <a:bodyPr>
            <a:normAutofit/>
          </a:bodyPr>
          <a:lstStyle/>
          <a:p>
            <a:r>
              <a:rPr lang="en-US" dirty="0"/>
              <a:t>If You Were the Project Manager …</a:t>
            </a:r>
          </a:p>
        </p:txBody>
      </p:sp>
      <p:sp>
        <p:nvSpPr>
          <p:cNvPr id="3" name="Text Placeholder 2">
            <a:extLst>
              <a:ext uri="{FF2B5EF4-FFF2-40B4-BE49-F238E27FC236}">
                <a16:creationId xmlns:a16="http://schemas.microsoft.com/office/drawing/2014/main" id="{6FE31384-8DBD-C67A-FD30-A73280715051}"/>
              </a:ext>
            </a:extLst>
          </p:cNvPr>
          <p:cNvSpPr>
            <a:spLocks noGrp="1"/>
          </p:cNvSpPr>
          <p:nvPr>
            <p:ph type="body" sz="quarter" idx="10"/>
          </p:nvPr>
        </p:nvSpPr>
        <p:spPr>
          <a:xfrm>
            <a:off x="525463" y="1198563"/>
            <a:ext cx="11141075" cy="5232400"/>
          </a:xfrm>
        </p:spPr>
        <p:txBody>
          <a:bodyPr/>
          <a:lstStyle/>
          <a:p>
            <a:r>
              <a:rPr lang="en-US" dirty="0"/>
              <a:t>What actions would you take if you were the project manager?</a:t>
            </a:r>
            <a:endParaRPr lang="en-KR" dirty="0"/>
          </a:p>
          <a:p>
            <a:r>
              <a:rPr lang="en-US" dirty="0"/>
              <a:t>Before deciding what actions to take, keep in mind what your project is intended to create, such as a system, product, service, new process, or marketing plan.</a:t>
            </a:r>
          </a:p>
          <a:p>
            <a:r>
              <a:rPr lang="en-US" dirty="0"/>
              <a:t>Each student come to the board and write down the actions they would take.</a:t>
            </a:r>
          </a:p>
        </p:txBody>
      </p:sp>
      <p:pic>
        <p:nvPicPr>
          <p:cNvPr id="4" name="Picture 3">
            <a:extLst>
              <a:ext uri="{FF2B5EF4-FFF2-40B4-BE49-F238E27FC236}">
                <a16:creationId xmlns:a16="http://schemas.microsoft.com/office/drawing/2014/main" id="{FF3EF3BE-6787-B435-7AF6-1442FAA560BF}"/>
              </a:ext>
            </a:extLst>
          </p:cNvPr>
          <p:cNvPicPr>
            <a:picLocks noChangeAspect="1"/>
          </p:cNvPicPr>
          <p:nvPr/>
        </p:nvPicPr>
        <p:blipFill>
          <a:blip r:embed="rId3"/>
          <a:stretch>
            <a:fillRect/>
          </a:stretch>
        </p:blipFill>
        <p:spPr>
          <a:xfrm>
            <a:off x="5384797" y="3509963"/>
            <a:ext cx="1422400" cy="1422400"/>
          </a:xfrm>
          <a:prstGeom prst="rect">
            <a:avLst/>
          </a:prstGeom>
        </p:spPr>
      </p:pic>
    </p:spTree>
    <p:extLst>
      <p:ext uri="{BB962C8B-B14F-4D97-AF65-F5344CB8AC3E}">
        <p14:creationId xmlns:p14="http://schemas.microsoft.com/office/powerpoint/2010/main" val="5995195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466" y="94307"/>
            <a:ext cx="11141068" cy="698173"/>
          </a:xfrm>
        </p:spPr>
        <p:txBody>
          <a:bodyPr/>
          <a:lstStyle/>
          <a:p>
            <a:r>
              <a:rPr lang="en-US" dirty="0"/>
              <a:t>Function-Oriented View of Project Management</a:t>
            </a:r>
          </a:p>
        </p:txBody>
      </p:sp>
      <p:sp>
        <p:nvSpPr>
          <p:cNvPr id="3" name="Text Placeholder 2">
            <a:extLst>
              <a:ext uri="{FF2B5EF4-FFF2-40B4-BE49-F238E27FC236}">
                <a16:creationId xmlns:a16="http://schemas.microsoft.com/office/drawing/2014/main" id="{F02C9979-41B9-6661-6782-4BA1FE706A2F}"/>
              </a:ext>
            </a:extLst>
          </p:cNvPr>
          <p:cNvSpPr>
            <a:spLocks noGrp="1"/>
          </p:cNvSpPr>
          <p:nvPr>
            <p:ph type="body" sz="quarter" idx="10"/>
          </p:nvPr>
        </p:nvSpPr>
        <p:spPr>
          <a:xfrm>
            <a:off x="525463" y="1198563"/>
            <a:ext cx="11141075" cy="5232400"/>
          </a:xfrm>
        </p:spPr>
        <p:txBody>
          <a:bodyPr/>
          <a:lstStyle/>
          <a:p>
            <a:r>
              <a:rPr lang="en-US" dirty="0"/>
              <a:t>Okay, we’ve just organized the project management tasks into sequential phases. </a:t>
            </a:r>
          </a:p>
          <a:p>
            <a:r>
              <a:rPr lang="en-US" dirty="0"/>
              <a:t>Now, can we reorganize them into function-oriented groups, such as time management, cost management, and so on?</a:t>
            </a:r>
          </a:p>
          <a:p>
            <a:endParaRPr lang="en-KR" dirty="0"/>
          </a:p>
        </p:txBody>
      </p:sp>
      <p:pic>
        <p:nvPicPr>
          <p:cNvPr id="7" name="Picture 6">
            <a:extLst>
              <a:ext uri="{FF2B5EF4-FFF2-40B4-BE49-F238E27FC236}">
                <a16:creationId xmlns:a16="http://schemas.microsoft.com/office/drawing/2014/main" id="{69A50B3E-5907-C7EF-FF6B-58737D2D84A9}"/>
              </a:ext>
            </a:extLst>
          </p:cNvPr>
          <p:cNvPicPr>
            <a:picLocks noChangeAspect="1"/>
          </p:cNvPicPr>
          <p:nvPr/>
        </p:nvPicPr>
        <p:blipFill>
          <a:blip r:embed="rId3"/>
          <a:stretch>
            <a:fillRect/>
          </a:stretch>
        </p:blipFill>
        <p:spPr>
          <a:xfrm>
            <a:off x="5384797" y="3509963"/>
            <a:ext cx="1422400" cy="1422400"/>
          </a:xfrm>
          <a:prstGeom prst="rect">
            <a:avLst/>
          </a:prstGeom>
        </p:spPr>
      </p:pic>
    </p:spTree>
    <p:extLst>
      <p:ext uri="{BB962C8B-B14F-4D97-AF65-F5344CB8AC3E}">
        <p14:creationId xmlns:p14="http://schemas.microsoft.com/office/powerpoint/2010/main" val="40313000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D3FBA-FA71-E692-4898-908B6FF0DA12}"/>
              </a:ext>
            </a:extLst>
          </p:cNvPr>
          <p:cNvSpPr>
            <a:spLocks noGrp="1"/>
          </p:cNvSpPr>
          <p:nvPr>
            <p:ph type="title"/>
          </p:nvPr>
        </p:nvSpPr>
        <p:spPr/>
        <p:txBody>
          <a:bodyPr/>
          <a:lstStyle/>
          <a:p>
            <a:r>
              <a:rPr lang="en-KR" dirty="0"/>
              <a:t>Formative Quiz</a:t>
            </a:r>
          </a:p>
        </p:txBody>
      </p:sp>
      <p:sp>
        <p:nvSpPr>
          <p:cNvPr id="7" name="Text Placeholder 6">
            <a:extLst>
              <a:ext uri="{FF2B5EF4-FFF2-40B4-BE49-F238E27FC236}">
                <a16:creationId xmlns:a16="http://schemas.microsoft.com/office/drawing/2014/main" id="{7C81FA09-9F6B-A387-8762-7881AF5698F7}"/>
              </a:ext>
            </a:extLst>
          </p:cNvPr>
          <p:cNvSpPr>
            <a:spLocks noGrp="1"/>
          </p:cNvSpPr>
          <p:nvPr>
            <p:ph type="body" sz="quarter" idx="10"/>
          </p:nvPr>
        </p:nvSpPr>
        <p:spPr/>
        <p:txBody>
          <a:bodyPr/>
          <a:lstStyle/>
          <a:p>
            <a:r>
              <a:rPr lang="en-US" dirty="0"/>
              <a:t>Begin with a short formative quiz based on the audio overview to assess comprehension</a:t>
            </a:r>
          </a:p>
          <a:p>
            <a:r>
              <a:rPr lang="en-US" dirty="0"/>
              <a:t>Students complete a quiz sheet and submit it (A quiz sheet)</a:t>
            </a:r>
          </a:p>
          <a:p>
            <a:endParaRPr lang="en-KR" dirty="0"/>
          </a:p>
        </p:txBody>
      </p:sp>
      <p:pic>
        <p:nvPicPr>
          <p:cNvPr id="4" name="Graphic 3" descr="Alarm clock with solid fill">
            <a:extLst>
              <a:ext uri="{FF2B5EF4-FFF2-40B4-BE49-F238E27FC236}">
                <a16:creationId xmlns:a16="http://schemas.microsoft.com/office/drawing/2014/main" id="{2C0C4F48-B8CF-9E25-A5B0-16586B84345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73588" y="3413012"/>
            <a:ext cx="2244824" cy="2244824"/>
          </a:xfrm>
          <a:prstGeom prst="rect">
            <a:avLst/>
          </a:prstGeom>
        </p:spPr>
      </p:pic>
      <p:sp>
        <p:nvSpPr>
          <p:cNvPr id="5" name="TextBox 4">
            <a:extLst>
              <a:ext uri="{FF2B5EF4-FFF2-40B4-BE49-F238E27FC236}">
                <a16:creationId xmlns:a16="http://schemas.microsoft.com/office/drawing/2014/main" id="{DA134499-5ECD-819D-58BF-B61C5996A9B5}"/>
              </a:ext>
            </a:extLst>
          </p:cNvPr>
          <p:cNvSpPr txBox="1"/>
          <p:nvPr/>
        </p:nvSpPr>
        <p:spPr>
          <a:xfrm>
            <a:off x="5157216" y="4535424"/>
            <a:ext cx="184731" cy="369332"/>
          </a:xfrm>
          <a:prstGeom prst="rect">
            <a:avLst/>
          </a:prstGeom>
          <a:noFill/>
        </p:spPr>
        <p:txBody>
          <a:bodyPr wrap="none" rtlCol="0">
            <a:spAutoFit/>
          </a:bodyPr>
          <a:lstStyle/>
          <a:p>
            <a:endParaRPr lang="en-KR" dirty="0"/>
          </a:p>
        </p:txBody>
      </p:sp>
    </p:spTree>
    <p:extLst>
      <p:ext uri="{BB962C8B-B14F-4D97-AF65-F5344CB8AC3E}">
        <p14:creationId xmlns:p14="http://schemas.microsoft.com/office/powerpoint/2010/main" val="24326469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5A839B-1857-AE1D-ECAA-1966ABDFFC72}"/>
              </a:ext>
            </a:extLst>
          </p:cNvPr>
          <p:cNvSpPr>
            <a:spLocks noGrp="1"/>
          </p:cNvSpPr>
          <p:nvPr>
            <p:ph type="title"/>
          </p:nvPr>
        </p:nvSpPr>
        <p:spPr/>
        <p:txBody>
          <a:bodyPr/>
          <a:lstStyle/>
          <a:p>
            <a:r>
              <a:rPr lang="en-KR" dirty="0"/>
              <a:t>Applied Learning</a:t>
            </a:r>
          </a:p>
        </p:txBody>
      </p:sp>
      <p:sp>
        <p:nvSpPr>
          <p:cNvPr id="6" name="Text Placeholder 5">
            <a:extLst>
              <a:ext uri="{FF2B5EF4-FFF2-40B4-BE49-F238E27FC236}">
                <a16:creationId xmlns:a16="http://schemas.microsoft.com/office/drawing/2014/main" id="{BB024617-B2BC-FB53-50E8-CD96E1C6773E}"/>
              </a:ext>
            </a:extLst>
          </p:cNvPr>
          <p:cNvSpPr>
            <a:spLocks noGrp="1"/>
          </p:cNvSpPr>
          <p:nvPr>
            <p:ph type="body" sz="quarter" idx="10"/>
          </p:nvPr>
        </p:nvSpPr>
        <p:spPr/>
        <p:txBody>
          <a:bodyPr/>
          <a:lstStyle/>
          <a:p>
            <a:r>
              <a:rPr lang="en-US" dirty="0"/>
              <a:t>Distribute a short case and its accompanying podcast if necessary</a:t>
            </a:r>
          </a:p>
          <a:p>
            <a:pPr lvl="1"/>
            <a:r>
              <a:rPr lang="en-US" dirty="0"/>
              <a:t>SAD 3 (Applied Learning) - Petrie Electronics</a:t>
            </a:r>
          </a:p>
          <a:p>
            <a:pPr lvl="1"/>
            <a:r>
              <a:rPr lang="en-US" dirty="0"/>
              <a:t>SAD 3 (Applied Learning) - CMLS-PM Case Study</a:t>
            </a:r>
          </a:p>
          <a:p>
            <a:r>
              <a:rPr lang="en-US" dirty="0"/>
              <a:t>Students would share their thoughts with peers</a:t>
            </a:r>
          </a:p>
          <a:p>
            <a:r>
              <a:rPr lang="en-US" altLang="ko-KR" dirty="0"/>
              <a:t>Students should write down their reflections (A reflection sheet)</a:t>
            </a:r>
          </a:p>
        </p:txBody>
      </p:sp>
      <p:pic>
        <p:nvPicPr>
          <p:cNvPr id="7" name="Picture 6">
            <a:extLst>
              <a:ext uri="{FF2B5EF4-FFF2-40B4-BE49-F238E27FC236}">
                <a16:creationId xmlns:a16="http://schemas.microsoft.com/office/drawing/2014/main" id="{AE574771-82A6-68D4-7C19-BEA07D2D8061}"/>
              </a:ext>
            </a:extLst>
          </p:cNvPr>
          <p:cNvPicPr>
            <a:picLocks noChangeAspect="1"/>
          </p:cNvPicPr>
          <p:nvPr/>
        </p:nvPicPr>
        <p:blipFill>
          <a:blip r:embed="rId2"/>
          <a:stretch>
            <a:fillRect/>
          </a:stretch>
        </p:blipFill>
        <p:spPr>
          <a:xfrm>
            <a:off x="3630830" y="3429000"/>
            <a:ext cx="4930340" cy="2762275"/>
          </a:xfrm>
          <a:prstGeom prst="rect">
            <a:avLst/>
          </a:prstGeom>
        </p:spPr>
      </p:pic>
    </p:spTree>
    <p:extLst>
      <p:ext uri="{BB962C8B-B14F-4D97-AF65-F5344CB8AC3E}">
        <p14:creationId xmlns:p14="http://schemas.microsoft.com/office/powerpoint/2010/main" val="27127499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C52AF81-B0D3-39D7-A65F-60533AEB503E}"/>
              </a:ext>
            </a:extLst>
          </p:cNvPr>
          <p:cNvSpPr>
            <a:spLocks noGrp="1"/>
          </p:cNvSpPr>
          <p:nvPr>
            <p:ph type="title"/>
          </p:nvPr>
        </p:nvSpPr>
        <p:spPr>
          <a:xfrm>
            <a:off x="525466" y="94307"/>
            <a:ext cx="11141068" cy="698173"/>
          </a:xfrm>
        </p:spPr>
        <p:txBody>
          <a:bodyPr/>
          <a:lstStyle/>
          <a:p>
            <a:r>
              <a:rPr lang="en-KR" dirty="0"/>
              <a:t>Debating Statement</a:t>
            </a:r>
          </a:p>
        </p:txBody>
      </p:sp>
      <p:sp>
        <p:nvSpPr>
          <p:cNvPr id="4" name="Text Placeholder 3">
            <a:extLst>
              <a:ext uri="{FF2B5EF4-FFF2-40B4-BE49-F238E27FC236}">
                <a16:creationId xmlns:a16="http://schemas.microsoft.com/office/drawing/2014/main" id="{2B9C237E-5257-7E72-9B1F-3875588E9CB0}"/>
              </a:ext>
            </a:extLst>
          </p:cNvPr>
          <p:cNvSpPr>
            <a:spLocks noGrp="1"/>
          </p:cNvSpPr>
          <p:nvPr>
            <p:ph type="body" sz="quarter" idx="10"/>
          </p:nvPr>
        </p:nvSpPr>
        <p:spPr>
          <a:xfrm>
            <a:off x="525463" y="1198563"/>
            <a:ext cx="11141075" cy="5232400"/>
          </a:xfrm>
        </p:spPr>
        <p:txBody>
          <a:bodyPr/>
          <a:lstStyle/>
          <a:p>
            <a:r>
              <a:rPr lang="en-US" dirty="0"/>
              <a:t>Should project managers strictly prioritize task specialization for team members over task variety?</a:t>
            </a:r>
          </a:p>
          <a:p>
            <a:pPr lvl="1"/>
            <a:r>
              <a:rPr lang="en-KR" altLang="en-KR" dirty="0"/>
              <a:t>Simple &amp; Direct: "Should managers assign people just one type of job to make them experts, or give them many different jobs to keep them interested?"</a:t>
            </a:r>
          </a:p>
          <a:p>
            <a:pPr lvl="1"/>
            <a:r>
              <a:rPr lang="en-KR" altLang="en-KR" dirty="0"/>
              <a:t>Professional: "Is it better for project managers to focus on assigning specialized tasks for efficiency, or to ensure team members have a variety of work?"</a:t>
            </a:r>
          </a:p>
          <a:p>
            <a:pPr lvl="1"/>
            <a:r>
              <a:rPr lang="en-KR" altLang="en-KR" dirty="0"/>
              <a:t>Casual: "Should bosses keep everyone on the same task forever to get it done fast, or mix it up so they don't get bored?"</a:t>
            </a:r>
          </a:p>
          <a:p>
            <a:endParaRPr lang="en-KR" dirty="0"/>
          </a:p>
          <a:p>
            <a:r>
              <a:rPr lang="en-US" b="1" dirty="0"/>
              <a:t>YES: Project managers should strictly prioritize task specialization.</a:t>
            </a:r>
            <a:endParaRPr lang="en-US" dirty="0"/>
          </a:p>
          <a:p>
            <a:r>
              <a:rPr lang="en-US" b="1" dirty="0"/>
              <a:t>NO: Project managers should NOT strictly prioritize specialization (Prioritize Variety).</a:t>
            </a:r>
            <a:endParaRPr lang="en-US" dirty="0"/>
          </a:p>
          <a:p>
            <a:endParaRPr lang="en-KR" dirty="0"/>
          </a:p>
        </p:txBody>
      </p:sp>
    </p:spTree>
    <p:extLst>
      <p:ext uri="{BB962C8B-B14F-4D97-AF65-F5344CB8AC3E}">
        <p14:creationId xmlns:p14="http://schemas.microsoft.com/office/powerpoint/2010/main" val="24795215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51388-CA8F-83BD-29C8-FDBE92637E8F}"/>
              </a:ext>
            </a:extLst>
          </p:cNvPr>
          <p:cNvSpPr>
            <a:spLocks noGrp="1"/>
          </p:cNvSpPr>
          <p:nvPr>
            <p:ph type="title"/>
          </p:nvPr>
        </p:nvSpPr>
        <p:spPr>
          <a:xfrm>
            <a:off x="525466" y="94307"/>
            <a:ext cx="11141068" cy="698173"/>
          </a:xfrm>
        </p:spPr>
        <p:txBody>
          <a:bodyPr/>
          <a:lstStyle/>
          <a:p>
            <a:r>
              <a:rPr lang="en-KR" dirty="0"/>
              <a:t>Debating Statement</a:t>
            </a:r>
          </a:p>
        </p:txBody>
      </p:sp>
      <p:sp>
        <p:nvSpPr>
          <p:cNvPr id="3" name="Text Placeholder 2">
            <a:extLst>
              <a:ext uri="{FF2B5EF4-FFF2-40B4-BE49-F238E27FC236}">
                <a16:creationId xmlns:a16="http://schemas.microsoft.com/office/drawing/2014/main" id="{4BE72E5B-7A06-9341-3DDB-02944F7C9A43}"/>
              </a:ext>
            </a:extLst>
          </p:cNvPr>
          <p:cNvSpPr>
            <a:spLocks noGrp="1"/>
          </p:cNvSpPr>
          <p:nvPr>
            <p:ph type="body" sz="quarter" idx="10"/>
          </p:nvPr>
        </p:nvSpPr>
        <p:spPr>
          <a:xfrm>
            <a:off x="525463" y="1198563"/>
            <a:ext cx="11141075" cy="5232400"/>
          </a:xfrm>
        </p:spPr>
        <p:txBody>
          <a:bodyPr/>
          <a:lstStyle/>
          <a:p>
            <a:r>
              <a:rPr lang="en-US" dirty="0"/>
              <a:t>Is the project manager’s leadership and interpersonal skill set more critical than technical expertise for IS project success?</a:t>
            </a:r>
          </a:p>
          <a:p>
            <a:pPr lvl="1"/>
            <a:r>
              <a:rPr lang="en-KR" altLang="en-KR" dirty="0"/>
              <a:t>Simple &amp; Direct: "Is being a good leader and 'people person' more important for a project manager than knowing the technical details?"</a:t>
            </a:r>
          </a:p>
          <a:p>
            <a:pPr lvl="1"/>
            <a:r>
              <a:rPr lang="en-KR" altLang="en-KR" dirty="0"/>
              <a:t>Professional: "For an information systems project to succeed, are a manager's leadership and communication skills more valuable than their technical knowledge?"</a:t>
            </a:r>
          </a:p>
          <a:p>
            <a:pPr lvl="1"/>
            <a:r>
              <a:rPr lang="en-KR" altLang="en-KR" dirty="0"/>
              <a:t>Casual: "What matters more for a project manager: having great people skills or being a tech wizard?"</a:t>
            </a:r>
          </a:p>
          <a:p>
            <a:endParaRPr lang="en-US" dirty="0"/>
          </a:p>
          <a:p>
            <a:r>
              <a:rPr lang="en-US" b="1" dirty="0"/>
              <a:t>YES: Leadership and Interpersonal Skills are More Critical.</a:t>
            </a:r>
            <a:endParaRPr lang="en-US" dirty="0"/>
          </a:p>
          <a:p>
            <a:r>
              <a:rPr lang="en-US" b="1" dirty="0"/>
              <a:t>NO: Technical Expertise is Equally or More Critical (or the Foundation).</a:t>
            </a:r>
            <a:endParaRPr lang="en-US" dirty="0"/>
          </a:p>
          <a:p>
            <a:endParaRPr lang="en-KR" dirty="0"/>
          </a:p>
        </p:txBody>
      </p:sp>
    </p:spTree>
    <p:extLst>
      <p:ext uri="{BB962C8B-B14F-4D97-AF65-F5344CB8AC3E}">
        <p14:creationId xmlns:p14="http://schemas.microsoft.com/office/powerpoint/2010/main" val="5215594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955A26C-331A-47B0-B957-5EB9C54F6DA4}"/>
              </a:ext>
            </a:extLst>
          </p:cNvPr>
          <p:cNvSpPr>
            <a:spLocks noGrp="1"/>
          </p:cNvSpPr>
          <p:nvPr>
            <p:ph type="ctrTitle"/>
          </p:nvPr>
        </p:nvSpPr>
        <p:spPr/>
        <p:txBody>
          <a:bodyPr/>
          <a:lstStyle/>
          <a:p>
            <a:r>
              <a:rPr lang="en-US" altLang="ko-KR" sz="5400" dirty="0"/>
              <a:t>Thank you</a:t>
            </a:r>
            <a:endParaRPr lang="ko-KR" altLang="en-US" sz="5400" dirty="0"/>
          </a:p>
        </p:txBody>
      </p:sp>
    </p:spTree>
    <p:extLst>
      <p:ext uri="{BB962C8B-B14F-4D97-AF65-F5344CB8AC3E}">
        <p14:creationId xmlns:p14="http://schemas.microsoft.com/office/powerpoint/2010/main" val="30967775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65220-DC4F-E850-0241-A79CA113720E}"/>
              </a:ext>
            </a:extLst>
          </p:cNvPr>
          <p:cNvSpPr>
            <a:spLocks noGrp="1"/>
          </p:cNvSpPr>
          <p:nvPr>
            <p:ph type="title"/>
          </p:nvPr>
        </p:nvSpPr>
        <p:spPr/>
        <p:txBody>
          <a:bodyPr/>
          <a:lstStyle/>
          <a:p>
            <a:r>
              <a:rPr lang="en-KR" dirty="0"/>
              <a:t>Introduction</a:t>
            </a:r>
          </a:p>
        </p:txBody>
      </p:sp>
    </p:spTree>
    <p:extLst>
      <p:ext uri="{BB962C8B-B14F-4D97-AF65-F5344CB8AC3E}">
        <p14:creationId xmlns:p14="http://schemas.microsoft.com/office/powerpoint/2010/main" val="918104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p:txBody>
          <a:bodyPr>
            <a:normAutofit/>
          </a:bodyPr>
          <a:lstStyle/>
          <a:p>
            <a:r>
              <a:rPr lang="en-US" dirty="0"/>
              <a:t>Project Management</a:t>
            </a:r>
            <a:endParaRPr lang="en-IN" dirty="0"/>
          </a:p>
        </p:txBody>
      </p:sp>
      <p:sp>
        <p:nvSpPr>
          <p:cNvPr id="20" name="Content Placeholder 19"/>
          <p:cNvSpPr>
            <a:spLocks noGrp="1"/>
          </p:cNvSpPr>
          <p:nvPr>
            <p:ph type="body" sz="quarter" idx="10"/>
          </p:nvPr>
        </p:nvSpPr>
        <p:spPr/>
        <p:txBody>
          <a:bodyPr/>
          <a:lstStyle/>
          <a:p>
            <a:r>
              <a:rPr lang="en-US" dirty="0"/>
              <a:t>So far, how an information systems project moves through the SDLC’s five phases have been explained</a:t>
            </a:r>
          </a:p>
          <a:p>
            <a:r>
              <a:rPr lang="en-US" dirty="0"/>
              <a:t>Today’s IS projects have become more complex and lengthier</a:t>
            </a:r>
          </a:p>
          <a:p>
            <a:pPr lvl="1"/>
            <a:r>
              <a:rPr lang="en-US" dirty="0"/>
              <a:t>In the past, focused on very large, custom-designed, stand-alone applications</a:t>
            </a:r>
          </a:p>
          <a:p>
            <a:pPr lvl="1"/>
            <a:r>
              <a:rPr lang="en-US" dirty="0"/>
              <a:t>Today, focusing on packaged software, e.g., ERP, data lake, etc. as data abounds </a:t>
            </a:r>
          </a:p>
          <a:p>
            <a:pPr lvl="1"/>
            <a:r>
              <a:rPr lang="en-US" dirty="0"/>
              <a:t>Additionally, transitioning legacy applications to accommodate Web-based interfaces</a:t>
            </a:r>
          </a:p>
          <a:p>
            <a:r>
              <a:rPr lang="en-US" dirty="0"/>
              <a:t>Consequently, the system analyst should gain an understanding of the project management process as a project manager</a:t>
            </a:r>
          </a:p>
          <a:p>
            <a:pPr lvl="1"/>
            <a:r>
              <a:rPr lang="en-US" dirty="0"/>
              <a:t>Consider the two distinct roles, whether performed by a single person or by two separate individuals</a:t>
            </a:r>
          </a:p>
        </p:txBody>
      </p:sp>
    </p:spTree>
    <p:extLst>
      <p:ext uri="{BB962C8B-B14F-4D97-AF65-F5344CB8AC3E}">
        <p14:creationId xmlns:p14="http://schemas.microsoft.com/office/powerpoint/2010/main" val="3025435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07175-6333-63DF-B9C1-08299E476841}"/>
              </a:ext>
            </a:extLst>
          </p:cNvPr>
          <p:cNvSpPr>
            <a:spLocks noGrp="1"/>
          </p:cNvSpPr>
          <p:nvPr>
            <p:ph type="title"/>
          </p:nvPr>
        </p:nvSpPr>
        <p:spPr/>
        <p:txBody>
          <a:bodyPr/>
          <a:lstStyle/>
          <a:p>
            <a:r>
              <a:rPr lang="en-KR" dirty="0"/>
              <a:t>Use Case: PVF</a:t>
            </a:r>
          </a:p>
        </p:txBody>
      </p:sp>
    </p:spTree>
    <p:extLst>
      <p:ext uri="{BB962C8B-B14F-4D97-AF65-F5344CB8AC3E}">
        <p14:creationId xmlns:p14="http://schemas.microsoft.com/office/powerpoint/2010/main" val="22591863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ko-KR" dirty="0"/>
              <a:t>Company Background</a:t>
            </a:r>
            <a:endParaRPr lang="en-IN" dirty="0"/>
          </a:p>
        </p:txBody>
      </p:sp>
      <p:sp>
        <p:nvSpPr>
          <p:cNvPr id="6" name="내용 개체 틀 5">
            <a:extLst>
              <a:ext uri="{FF2B5EF4-FFF2-40B4-BE49-F238E27FC236}">
                <a16:creationId xmlns:a16="http://schemas.microsoft.com/office/drawing/2014/main" id="{ACDBC426-69A9-D521-85CE-421A1F475CAC}"/>
              </a:ext>
            </a:extLst>
          </p:cNvPr>
          <p:cNvSpPr>
            <a:spLocks noGrp="1"/>
          </p:cNvSpPr>
          <p:nvPr>
            <p:ph type="body" sz="quarter" idx="10"/>
          </p:nvPr>
        </p:nvSpPr>
        <p:spPr/>
        <p:txBody>
          <a:bodyPr/>
          <a:lstStyle/>
          <a:p>
            <a:r>
              <a:rPr lang="en-US" altLang="ko-KR" dirty="0"/>
              <a:t>PVF manufactures high-quality wood furniture for retail stores in the U.S.</a:t>
            </a:r>
          </a:p>
          <a:p>
            <a:r>
              <a:rPr lang="en-US" altLang="ko-KR" dirty="0"/>
              <a:t>PVF was organized into the following functional areas in 2000</a:t>
            </a:r>
          </a:p>
          <a:p>
            <a:pPr lvl="1"/>
            <a:r>
              <a:rPr lang="en-US" altLang="ko-KR" dirty="0"/>
              <a:t>Manufacturing (fabrication, assembling, finishing)</a:t>
            </a:r>
          </a:p>
          <a:p>
            <a:pPr lvl="1"/>
            <a:r>
              <a:rPr lang="en-US" altLang="ko-KR" dirty="0"/>
              <a:t>Sales</a:t>
            </a:r>
          </a:p>
          <a:p>
            <a:pPr lvl="1"/>
            <a:r>
              <a:rPr lang="en-US" altLang="ko-KR" dirty="0"/>
              <a:t>Orders</a:t>
            </a:r>
          </a:p>
          <a:p>
            <a:pPr lvl="1"/>
            <a:r>
              <a:rPr lang="en-US" altLang="ko-KR" dirty="0"/>
              <a:t>Accounting</a:t>
            </a:r>
          </a:p>
          <a:p>
            <a:pPr lvl="1"/>
            <a:r>
              <a:rPr lang="en-US" altLang="ko-KR" dirty="0"/>
              <a:t>Purchasing</a:t>
            </a:r>
          </a:p>
          <a:p>
            <a:r>
              <a:rPr lang="en-US" altLang="ko-KR" dirty="0"/>
              <a:t>PVF used 3 computer application systems</a:t>
            </a:r>
            <a:endParaRPr lang="en-IN" altLang="ko-KR" dirty="0"/>
          </a:p>
        </p:txBody>
      </p:sp>
    </p:spTree>
    <p:extLst>
      <p:ext uri="{BB962C8B-B14F-4D97-AF65-F5344CB8AC3E}">
        <p14:creationId xmlns:p14="http://schemas.microsoft.com/office/powerpoint/2010/main" val="5140136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Three Computer Applications</a:t>
            </a:r>
            <a:endParaRPr lang="en-IN" dirty="0"/>
          </a:p>
        </p:txBody>
      </p:sp>
      <p:pic>
        <p:nvPicPr>
          <p:cNvPr id="1026" name="Picture 2" descr="P V F order filling, invoicing, and payroll computer applications are shown on the diagram. Orders department. From the top, three separate programs A, B, and C are linked to the order filling system by three respective bidirectional arrows. From the bottom, customer order file, inventory master file, and back order file are linked to the order filing system by three respective bidirectional arrows. Invoicing department. From the top, two separate programs A and B are linked to the invoicing system by two respective bidirectional arrows. From the bottom, inventory pricing file and customer master file are linked to the invoicing system by two respective bidirectional arrows.&#10;Payroll department. From the top, two separate programs A and B are linked to the payroll system by two respective bidirectional arrows. From the bottom, employee master file is linked to the payroll system by a bidirectional arrow.&#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743" y="1556792"/>
            <a:ext cx="8600513" cy="4272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70760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Project proposal: System Service Request (SRS)</a:t>
            </a:r>
            <a:endParaRPr lang="en-IN" dirty="0"/>
          </a:p>
        </p:txBody>
      </p:sp>
      <p:sp>
        <p:nvSpPr>
          <p:cNvPr id="4" name="Text Placeholder 3">
            <a:extLst>
              <a:ext uri="{FF2B5EF4-FFF2-40B4-BE49-F238E27FC236}">
                <a16:creationId xmlns:a16="http://schemas.microsoft.com/office/drawing/2014/main" id="{4982B758-0C27-B026-0C34-D7A1E85F999E}"/>
              </a:ext>
            </a:extLst>
          </p:cNvPr>
          <p:cNvSpPr>
            <a:spLocks noGrp="1"/>
          </p:cNvSpPr>
          <p:nvPr>
            <p:ph type="body" sz="quarter" idx="10"/>
          </p:nvPr>
        </p:nvSpPr>
        <p:spPr/>
        <p:txBody>
          <a:bodyPr/>
          <a:lstStyle/>
          <a:p>
            <a:r>
              <a:rPr lang="en" altLang="ko-KR" dirty="0"/>
              <a:t>A Standard form for requesting systems development work</a:t>
            </a:r>
          </a:p>
          <a:p>
            <a:r>
              <a:rPr lang="en-US" altLang="ko-KR" dirty="0"/>
              <a:t>The systems priority board evaluates all the requests in relation to the business challenges or opportunities the system will solve or create</a:t>
            </a:r>
          </a:p>
        </p:txBody>
      </p:sp>
      <p:pic>
        <p:nvPicPr>
          <p:cNvPr id="2050" name="Picture 2" descr="P V F System Service Request form for the Purchasing Fulfilment System is structured as follows. The following form fields have the corresponding entered information. Requested by, Juanita Lopez. Date, October 1, 2020. Department, purchasing manufacturing support. Location, headquarters, 1 dash 3 2 2. Contact, telephone 4 dash 3 2 6 7, fax 4 dash 3 2 7 0, email, j l o p e z. &#10;Type of request has three following options. Option 1. New System. Option 2. System Enhancement.  Option 3. System Error Correction. First option has been selected on the form.  Urgency has three following options. Option 1. Immediate. Operations are impaired or opportunity lost. Option 2. Problems exist, but can be worked around. Option 3. Business losses can be tolerated until new system installed. Third option has been selected on the form. Problem Statement has the following text. Sales growth at P V F has caused greater volume of work for the manufacturing support unit within Purchasing. Further, more concentration on customer service has reduced manufacturing lead times, which puts more pressure on purchasing activities. In addition, cost cutting measures force Purchasing to be more aggressive in negotiating terms with vendors, improving delivery times, and lowering our investments in inventory. The current modest systems support for Manufacturing forward slash Purchasing is not responsive to these new business conditions. Data are not available, information cannot be summarized, supplier orders cannot be adequately tracked, and commodity buying is not well supported. P V F is spending too much on raw materials and not being responsive to manufacturing needs. Request has the following text. I request a thorough analysis of our current operations with the intent to design and build a completely new information system. This system should handle all purchasing transactions, support display and reporting of critical purchasing data, and assist purchasing agents in commodity buying. The following fields have the corresponding entered information. I S liaison, Chris Martin, left parenthesis, telephone 4 dash 6 2 0 4, fax, 4 dash 6 2 0 0, email, c m a r t i n.  Sponsor, Sal Divario. Director, purchasing. The next form section is to be completed by systems priority board and has multiple dashes indicating that this has to be separated from the rest of the above form. It has the following options to be checked. Option 1. Request approved.  Assigned to. Blank field. Start date. Blank field. Option 2. Recommend revision. Option 3. Suggest user development. Option 4. Reject for reason.  Multiple blank fields are provided for additional explanation.&#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0056" y="1009631"/>
            <a:ext cx="5400600" cy="561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87976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0F11C-6CA3-D960-0082-82790FE1B36C}"/>
              </a:ext>
            </a:extLst>
          </p:cNvPr>
          <p:cNvSpPr>
            <a:spLocks noGrp="1"/>
          </p:cNvSpPr>
          <p:nvPr>
            <p:ph type="title"/>
          </p:nvPr>
        </p:nvSpPr>
        <p:spPr/>
        <p:txBody>
          <a:bodyPr/>
          <a:lstStyle/>
          <a:p>
            <a:r>
              <a:rPr lang="en-US" dirty="0"/>
              <a:t>Managing the Information Systems Project</a:t>
            </a:r>
            <a:endParaRPr lang="en-KR" dirty="0"/>
          </a:p>
        </p:txBody>
      </p:sp>
    </p:spTree>
    <p:extLst>
      <p:ext uri="{BB962C8B-B14F-4D97-AF65-F5344CB8AC3E}">
        <p14:creationId xmlns:p14="http://schemas.microsoft.com/office/powerpoint/2010/main" val="26574840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EE280-2EB5-6345-B5B1-669A00BEA084}"/>
              </a:ext>
            </a:extLst>
          </p:cNvPr>
          <p:cNvSpPr>
            <a:spLocks noGrp="1"/>
          </p:cNvSpPr>
          <p:nvPr>
            <p:ph type="title"/>
          </p:nvPr>
        </p:nvSpPr>
        <p:spPr/>
        <p:txBody>
          <a:bodyPr/>
          <a:lstStyle/>
          <a:p>
            <a:r>
              <a:rPr lang="en-IN" dirty="0"/>
              <a:t>Systems Development Life Cycle (SDLC)</a:t>
            </a:r>
            <a:endParaRPr lang="en-KR" dirty="0"/>
          </a:p>
        </p:txBody>
      </p:sp>
      <p:graphicFrame>
        <p:nvGraphicFramePr>
          <p:cNvPr id="6" name="Diagram 5">
            <a:extLst>
              <a:ext uri="{FF2B5EF4-FFF2-40B4-BE49-F238E27FC236}">
                <a16:creationId xmlns:a16="http://schemas.microsoft.com/office/drawing/2014/main" id="{DBEAD4C2-551B-13DF-10E8-B8BF61559F50}"/>
              </a:ext>
            </a:extLst>
          </p:cNvPr>
          <p:cNvGraphicFramePr/>
          <p:nvPr/>
        </p:nvGraphicFramePr>
        <p:xfrm>
          <a:off x="2083780" y="1340768"/>
          <a:ext cx="8024440" cy="48695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F3B9D67E-F7EE-5947-030A-AB28B8063998}"/>
              </a:ext>
            </a:extLst>
          </p:cNvPr>
          <p:cNvSpPr txBox="1"/>
          <p:nvPr/>
        </p:nvSpPr>
        <p:spPr>
          <a:xfrm>
            <a:off x="6946751" y="1340768"/>
            <a:ext cx="4981898" cy="738664"/>
          </a:xfrm>
          <a:prstGeom prst="rect">
            <a:avLst/>
          </a:prstGeom>
          <a:noFill/>
        </p:spPr>
        <p:txBody>
          <a:bodyPr wrap="square">
            <a:spAutoFit/>
          </a:bodyPr>
          <a:lstStyle/>
          <a:p>
            <a:r>
              <a:rPr lang="en-IN" altLang="ko-KR" sz="1400" dirty="0">
                <a:latin typeface="Malgun Gothic" panose="020B0503020000020004" pitchFamily="34" charset="-127"/>
                <a:ea typeface="Malgun Gothic" panose="020B0503020000020004" pitchFamily="34" charset="-127"/>
              </a:rPr>
              <a:t>What do we want to build, and why?</a:t>
            </a:r>
          </a:p>
          <a:p>
            <a:r>
              <a:rPr lang="en-US" altLang="ko-KR" sz="1400" dirty="0">
                <a:latin typeface="Malgun Gothic" panose="020B0503020000020004" pitchFamily="34" charset="-127"/>
                <a:ea typeface="Malgun Gothic" panose="020B0503020000020004" pitchFamily="34" charset="-127"/>
              </a:rPr>
              <a:t>-</a:t>
            </a:r>
            <a:r>
              <a:rPr lang="ko-KR" altLang="en-US" sz="1400" dirty="0">
                <a:latin typeface="Malgun Gothic" panose="020B0503020000020004" pitchFamily="34" charset="-127"/>
                <a:ea typeface="Malgun Gothic" panose="020B0503020000020004" pitchFamily="34" charset="-127"/>
              </a:rPr>
              <a:t> </a:t>
            </a:r>
            <a:r>
              <a:rPr lang="en-US" altLang="ko-KR" sz="1400" dirty="0">
                <a:latin typeface="Malgun Gothic" panose="020B0503020000020004" pitchFamily="34" charset="-127"/>
                <a:ea typeface="Malgun Gothic" panose="020B0503020000020004" pitchFamily="34" charset="-127"/>
              </a:rPr>
              <a:t>Identifying and selecting systems development projects </a:t>
            </a:r>
          </a:p>
          <a:p>
            <a:r>
              <a:rPr lang="en-US" altLang="ko-KR" sz="1400" dirty="0">
                <a:latin typeface="Malgun Gothic" panose="020B0503020000020004" pitchFamily="34" charset="-127"/>
                <a:ea typeface="Malgun Gothic" panose="020B0503020000020004" pitchFamily="34" charset="-127"/>
              </a:rPr>
              <a:t>-</a:t>
            </a:r>
            <a:r>
              <a:rPr lang="ko-KR" altLang="en-US" sz="1400" dirty="0">
                <a:latin typeface="Malgun Gothic" panose="020B0503020000020004" pitchFamily="34" charset="-127"/>
                <a:ea typeface="Malgun Gothic" panose="020B0503020000020004" pitchFamily="34" charset="-127"/>
              </a:rPr>
              <a:t> </a:t>
            </a:r>
            <a:r>
              <a:rPr lang="en-US" altLang="ko-KR" sz="1400" dirty="0">
                <a:latin typeface="Malgun Gothic" panose="020B0503020000020004" pitchFamily="34" charset="-127"/>
                <a:ea typeface="Malgun Gothic" panose="020B0503020000020004" pitchFamily="34" charset="-127"/>
              </a:rPr>
              <a:t>Initiating and planning systems development projects </a:t>
            </a:r>
            <a:endParaRPr lang="en-KR" sz="1400" dirty="0">
              <a:latin typeface="Malgun Gothic" panose="020B0503020000020004" pitchFamily="34" charset="-127"/>
              <a:ea typeface="Malgun Gothic" panose="020B0503020000020004" pitchFamily="34" charset="-127"/>
            </a:endParaRPr>
          </a:p>
        </p:txBody>
      </p:sp>
      <p:sp>
        <p:nvSpPr>
          <p:cNvPr id="4" name="TextBox 3">
            <a:extLst>
              <a:ext uri="{FF2B5EF4-FFF2-40B4-BE49-F238E27FC236}">
                <a16:creationId xmlns:a16="http://schemas.microsoft.com/office/drawing/2014/main" id="{6354F317-56D3-C3CF-321D-C91F3043DAA3}"/>
              </a:ext>
            </a:extLst>
          </p:cNvPr>
          <p:cNvSpPr txBox="1"/>
          <p:nvPr/>
        </p:nvSpPr>
        <p:spPr>
          <a:xfrm>
            <a:off x="8904312" y="2858568"/>
            <a:ext cx="3112422" cy="984885"/>
          </a:xfrm>
          <a:prstGeom prst="rect">
            <a:avLst/>
          </a:prstGeom>
          <a:noFill/>
        </p:spPr>
        <p:txBody>
          <a:bodyPr wrap="square">
            <a:spAutoFit/>
          </a:bodyPr>
          <a:lstStyle/>
          <a:p>
            <a:r>
              <a:rPr lang="en-US" sz="1400" dirty="0"/>
              <a:t>What does the system need to do? </a:t>
            </a:r>
          </a:p>
          <a:p>
            <a:pPr marL="23813" indent="-15875">
              <a:buFontTx/>
              <a:buChar char="-"/>
            </a:pPr>
            <a:r>
              <a:rPr lang="en-US" sz="1400" dirty="0"/>
              <a:t> Determining requirements</a:t>
            </a:r>
          </a:p>
          <a:p>
            <a:pPr marL="23813" indent="-15875">
              <a:buFontTx/>
              <a:buChar char="-"/>
            </a:pPr>
            <a:r>
              <a:rPr lang="en-US" sz="1400" dirty="0"/>
              <a:t> Structuring process requirements</a:t>
            </a:r>
            <a:endParaRPr lang="en-KR" sz="1400" dirty="0"/>
          </a:p>
          <a:p>
            <a:pPr marL="23813" indent="-15875">
              <a:buFontTx/>
              <a:buChar char="-"/>
            </a:pPr>
            <a:r>
              <a:rPr lang="en-KR" sz="1400" dirty="0"/>
              <a:t> Structuring data requirments</a:t>
            </a:r>
          </a:p>
        </p:txBody>
      </p:sp>
      <p:sp>
        <p:nvSpPr>
          <p:cNvPr id="5" name="TextBox 4">
            <a:extLst>
              <a:ext uri="{FF2B5EF4-FFF2-40B4-BE49-F238E27FC236}">
                <a16:creationId xmlns:a16="http://schemas.microsoft.com/office/drawing/2014/main" id="{25EE329F-6CE5-0AD1-CE08-CA2579D6350A}"/>
              </a:ext>
            </a:extLst>
          </p:cNvPr>
          <p:cNvSpPr txBox="1"/>
          <p:nvPr/>
        </p:nvSpPr>
        <p:spPr>
          <a:xfrm>
            <a:off x="8112224" y="5124939"/>
            <a:ext cx="3384376" cy="984885"/>
          </a:xfrm>
          <a:prstGeom prst="rect">
            <a:avLst/>
          </a:prstGeom>
          <a:noFill/>
        </p:spPr>
        <p:txBody>
          <a:bodyPr wrap="square">
            <a:spAutoFit/>
          </a:bodyPr>
          <a:lstStyle/>
          <a:p>
            <a:r>
              <a:rPr lang="en-US" sz="1400" dirty="0"/>
              <a:t>How will the system work? </a:t>
            </a:r>
          </a:p>
          <a:p>
            <a:pPr marL="23813" indent="-15875">
              <a:buFontTx/>
              <a:buChar char="-"/>
            </a:pPr>
            <a:r>
              <a:rPr lang="en-US" sz="1400" dirty="0"/>
              <a:t> Designing database</a:t>
            </a:r>
          </a:p>
          <a:p>
            <a:pPr marL="23813" indent="-15875">
              <a:buFontTx/>
              <a:buChar char="-"/>
            </a:pPr>
            <a:r>
              <a:rPr lang="en-US" sz="1400" dirty="0"/>
              <a:t> Designing forms and reports</a:t>
            </a:r>
          </a:p>
          <a:p>
            <a:pPr marL="23813" indent="-15875">
              <a:buFontTx/>
              <a:buChar char="-"/>
            </a:pPr>
            <a:r>
              <a:rPr lang="en-US" sz="1400" dirty="0"/>
              <a:t> Designing interfaces and dialogues</a:t>
            </a:r>
          </a:p>
        </p:txBody>
      </p:sp>
      <p:sp>
        <p:nvSpPr>
          <p:cNvPr id="7" name="TextBox 6">
            <a:extLst>
              <a:ext uri="{FF2B5EF4-FFF2-40B4-BE49-F238E27FC236}">
                <a16:creationId xmlns:a16="http://schemas.microsoft.com/office/drawing/2014/main" id="{C7D8C75C-F5E2-D333-A515-F8E95F94E03B}"/>
              </a:ext>
            </a:extLst>
          </p:cNvPr>
          <p:cNvSpPr txBox="1"/>
          <p:nvPr/>
        </p:nvSpPr>
        <p:spPr>
          <a:xfrm>
            <a:off x="1735081" y="5355771"/>
            <a:ext cx="2334195" cy="523220"/>
          </a:xfrm>
          <a:prstGeom prst="rect">
            <a:avLst/>
          </a:prstGeom>
          <a:noFill/>
        </p:spPr>
        <p:txBody>
          <a:bodyPr wrap="square">
            <a:spAutoFit/>
          </a:bodyPr>
          <a:lstStyle/>
          <a:p>
            <a:r>
              <a:rPr lang="en-US" sz="1400" dirty="0"/>
              <a:t>The actual system is built, tested, and deployed</a:t>
            </a:r>
            <a:endParaRPr lang="en-KR" sz="1400" dirty="0"/>
          </a:p>
        </p:txBody>
      </p:sp>
      <p:sp>
        <p:nvSpPr>
          <p:cNvPr id="8" name="TextBox 7">
            <a:extLst>
              <a:ext uri="{FF2B5EF4-FFF2-40B4-BE49-F238E27FC236}">
                <a16:creationId xmlns:a16="http://schemas.microsoft.com/office/drawing/2014/main" id="{2A0446E7-2B53-5138-5DC8-26F0C46E7595}"/>
              </a:ext>
            </a:extLst>
          </p:cNvPr>
          <p:cNvSpPr txBox="1"/>
          <p:nvPr/>
        </p:nvSpPr>
        <p:spPr>
          <a:xfrm>
            <a:off x="983432" y="3086660"/>
            <a:ext cx="2635572" cy="523220"/>
          </a:xfrm>
          <a:prstGeom prst="rect">
            <a:avLst/>
          </a:prstGeom>
          <a:noFill/>
        </p:spPr>
        <p:txBody>
          <a:bodyPr wrap="square">
            <a:spAutoFit/>
          </a:bodyPr>
          <a:lstStyle/>
          <a:p>
            <a:r>
              <a:rPr lang="en-US" sz="1400" dirty="0"/>
              <a:t>The system is monitored, supported, and enhanced</a:t>
            </a:r>
            <a:endParaRPr lang="en-KR" sz="1400" dirty="0"/>
          </a:p>
        </p:txBody>
      </p:sp>
    </p:spTree>
    <p:extLst>
      <p:ext uri="{BB962C8B-B14F-4D97-AF65-F5344CB8AC3E}">
        <p14:creationId xmlns:p14="http://schemas.microsoft.com/office/powerpoint/2010/main" val="27482673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C8E31-00F2-8E3B-B8F4-E68A42591FC9}"/>
              </a:ext>
            </a:extLst>
          </p:cNvPr>
          <p:cNvSpPr>
            <a:spLocks noGrp="1"/>
          </p:cNvSpPr>
          <p:nvPr>
            <p:ph type="title"/>
          </p:nvPr>
        </p:nvSpPr>
        <p:spPr/>
        <p:txBody>
          <a:bodyPr/>
          <a:lstStyle/>
          <a:p>
            <a:r>
              <a:rPr lang="en-US" dirty="0"/>
              <a:t>Questions on Missing Aspects in SDLC</a:t>
            </a:r>
            <a:endParaRPr lang="en-KR" dirty="0"/>
          </a:p>
        </p:txBody>
      </p:sp>
      <p:sp>
        <p:nvSpPr>
          <p:cNvPr id="4" name="Text Placeholder 3">
            <a:extLst>
              <a:ext uri="{FF2B5EF4-FFF2-40B4-BE49-F238E27FC236}">
                <a16:creationId xmlns:a16="http://schemas.microsoft.com/office/drawing/2014/main" id="{7FBBEDE7-3637-9586-A2B1-E03CBB96B1DA}"/>
              </a:ext>
            </a:extLst>
          </p:cNvPr>
          <p:cNvSpPr>
            <a:spLocks noGrp="1"/>
          </p:cNvSpPr>
          <p:nvPr>
            <p:ph type="body" sz="quarter" idx="10"/>
          </p:nvPr>
        </p:nvSpPr>
        <p:spPr/>
        <p:txBody>
          <a:bodyPr/>
          <a:lstStyle/>
          <a:p>
            <a:r>
              <a:rPr lang="en-US" dirty="0"/>
              <a:t>Beyond the SDLC phases, what other activities do you think are essential for the success of an information system project?</a:t>
            </a:r>
          </a:p>
          <a:p>
            <a:r>
              <a:rPr lang="en-US" dirty="0"/>
              <a:t>Does the SDLC explicitly address risk management? How should risks be managed throughout the lifecycle?</a:t>
            </a:r>
          </a:p>
          <a:p>
            <a:r>
              <a:rPr lang="en-US" dirty="0"/>
              <a:t>How does SDLC handle stakeholder communication and expectations?</a:t>
            </a:r>
          </a:p>
          <a:p>
            <a:r>
              <a:rPr lang="en-US" dirty="0"/>
              <a:t>How does SDLC handle stakeholder communication and expectations?</a:t>
            </a:r>
          </a:p>
          <a:p>
            <a:r>
              <a:rPr lang="en-US" dirty="0"/>
              <a:t>How does the SDLC account for motivation and conflict resolution?</a:t>
            </a:r>
          </a:p>
          <a:p>
            <a:r>
              <a:rPr lang="en-US" dirty="0"/>
              <a:t>What role does change management play in system development?</a:t>
            </a:r>
          </a:p>
          <a:p>
            <a:r>
              <a:rPr lang="en-US" dirty="0"/>
              <a:t>How does the SDLC address legal, ethical, and compliance issues?</a:t>
            </a:r>
            <a:endParaRPr lang="en-KR" dirty="0"/>
          </a:p>
        </p:txBody>
      </p:sp>
      <p:grpSp>
        <p:nvGrpSpPr>
          <p:cNvPr id="11" name="Group 10">
            <a:extLst>
              <a:ext uri="{FF2B5EF4-FFF2-40B4-BE49-F238E27FC236}">
                <a16:creationId xmlns:a16="http://schemas.microsoft.com/office/drawing/2014/main" id="{FA5E9E3B-2169-7526-939D-8453C29FC7BD}"/>
              </a:ext>
            </a:extLst>
          </p:cNvPr>
          <p:cNvGrpSpPr/>
          <p:nvPr/>
        </p:nvGrpSpPr>
        <p:grpSpPr>
          <a:xfrm>
            <a:off x="3431704" y="5486454"/>
            <a:ext cx="4194881" cy="461665"/>
            <a:chOff x="3431704" y="5486454"/>
            <a:chExt cx="4194881" cy="461665"/>
          </a:xfrm>
        </p:grpSpPr>
        <p:sp>
          <p:nvSpPr>
            <p:cNvPr id="9" name="Right Arrow 8">
              <a:extLst>
                <a:ext uri="{FF2B5EF4-FFF2-40B4-BE49-F238E27FC236}">
                  <a16:creationId xmlns:a16="http://schemas.microsoft.com/office/drawing/2014/main" id="{759E6703-6C71-5517-0792-B8A109BE57A5}"/>
                </a:ext>
              </a:extLst>
            </p:cNvPr>
            <p:cNvSpPr/>
            <p:nvPr/>
          </p:nvSpPr>
          <p:spPr>
            <a:xfrm>
              <a:off x="3431704" y="5517232"/>
              <a:ext cx="720080" cy="4001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10" name="TextBox 9">
              <a:extLst>
                <a:ext uri="{FF2B5EF4-FFF2-40B4-BE49-F238E27FC236}">
                  <a16:creationId xmlns:a16="http://schemas.microsoft.com/office/drawing/2014/main" id="{7910FF88-B062-F9AA-54D2-5D4DDA6E34A7}"/>
                </a:ext>
              </a:extLst>
            </p:cNvPr>
            <p:cNvSpPr txBox="1"/>
            <p:nvPr/>
          </p:nvSpPr>
          <p:spPr>
            <a:xfrm>
              <a:off x="4367808" y="5486454"/>
              <a:ext cx="3258777" cy="461665"/>
            </a:xfrm>
            <a:prstGeom prst="rect">
              <a:avLst/>
            </a:prstGeom>
            <a:noFill/>
          </p:spPr>
          <p:txBody>
            <a:bodyPr wrap="none" rtlCol="0">
              <a:spAutoFit/>
            </a:bodyPr>
            <a:lstStyle/>
            <a:p>
              <a:r>
                <a:rPr lang="en-KR" sz="2400" b="1" dirty="0"/>
                <a:t>Project Management</a:t>
              </a:r>
            </a:p>
          </p:txBody>
        </p:sp>
      </p:grpSp>
    </p:spTree>
    <p:extLst>
      <p:ext uri="{BB962C8B-B14F-4D97-AF65-F5344CB8AC3E}">
        <p14:creationId xmlns:p14="http://schemas.microsoft.com/office/powerpoint/2010/main" val="15846401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Project</a:t>
            </a:r>
            <a:endParaRPr lang="en-US" dirty="0"/>
          </a:p>
        </p:txBody>
      </p:sp>
      <p:sp>
        <p:nvSpPr>
          <p:cNvPr id="6" name="직사각형 2"/>
          <p:cNvSpPr/>
          <p:nvPr/>
        </p:nvSpPr>
        <p:spPr>
          <a:xfrm>
            <a:off x="1847528" y="2636912"/>
            <a:ext cx="8568952" cy="1569660"/>
          </a:xfrm>
          <a:prstGeom prst="rect">
            <a:avLst/>
          </a:prstGeom>
        </p:spPr>
        <p:txBody>
          <a:bodyPr wrap="square">
            <a:spAutoFit/>
          </a:bodyPr>
          <a:lstStyle/>
          <a:p>
            <a:pPr algn="ctr"/>
            <a:r>
              <a:rPr lang="en-US" altLang="ko-KR" sz="3200" dirty="0"/>
              <a:t>A </a:t>
            </a:r>
            <a:r>
              <a:rPr lang="en-US" altLang="ko-KR" sz="3200" dirty="0">
                <a:solidFill>
                  <a:srgbClr val="FF0000"/>
                </a:solidFill>
              </a:rPr>
              <a:t>one-time</a:t>
            </a:r>
            <a:r>
              <a:rPr lang="en-US" altLang="ko-KR" sz="3200" dirty="0"/>
              <a:t> effort undertaken to create a </a:t>
            </a:r>
            <a:r>
              <a:rPr lang="en-US" altLang="ko-KR" sz="3200" dirty="0">
                <a:solidFill>
                  <a:srgbClr val="0000FF"/>
                </a:solidFill>
              </a:rPr>
              <a:t>unique</a:t>
            </a:r>
            <a:r>
              <a:rPr lang="en-US" altLang="ko-KR" sz="3200" dirty="0"/>
              <a:t> system, product, service, or result by </a:t>
            </a:r>
            <a:r>
              <a:rPr lang="en-US" altLang="ko-KR" sz="3200" dirty="0">
                <a:solidFill>
                  <a:srgbClr val="00B050"/>
                </a:solidFill>
              </a:rPr>
              <a:t>progressive elaboration</a:t>
            </a:r>
          </a:p>
        </p:txBody>
      </p:sp>
      <p:sp>
        <p:nvSpPr>
          <p:cNvPr id="9" name="직사각형 4"/>
          <p:cNvSpPr/>
          <p:nvPr/>
        </p:nvSpPr>
        <p:spPr>
          <a:xfrm>
            <a:off x="2783632" y="1447910"/>
            <a:ext cx="3096344" cy="646331"/>
          </a:xfrm>
          <a:prstGeom prst="rect">
            <a:avLst/>
          </a:prstGeom>
        </p:spPr>
        <p:txBody>
          <a:bodyPr wrap="square">
            <a:spAutoFit/>
          </a:bodyPr>
          <a:lstStyle/>
          <a:p>
            <a:r>
              <a:rPr lang="en-US" altLang="ko-KR" dirty="0">
                <a:solidFill>
                  <a:srgbClr val="FF0000"/>
                </a:solidFill>
              </a:rPr>
              <a:t>A project has a definite beginning and a definite end</a:t>
            </a:r>
            <a:endParaRPr lang="ko-KR" altLang="en-US" dirty="0">
              <a:solidFill>
                <a:srgbClr val="FF0000"/>
              </a:solidFill>
            </a:endParaRPr>
          </a:p>
        </p:txBody>
      </p:sp>
      <p:cxnSp>
        <p:nvCxnSpPr>
          <p:cNvPr id="10" name="Straight Connector 9"/>
          <p:cNvCxnSpPr/>
          <p:nvPr/>
        </p:nvCxnSpPr>
        <p:spPr bwMode="auto">
          <a:xfrm flipV="1">
            <a:off x="3215680" y="2094240"/>
            <a:ext cx="576064" cy="686688"/>
          </a:xfrm>
          <a:prstGeom prst="line">
            <a:avLst/>
          </a:prstGeom>
          <a:noFill/>
          <a:ln w="12700" cap="flat" cmpd="sng" algn="ctr">
            <a:solidFill>
              <a:srgbClr val="FF0000"/>
            </a:solidFill>
            <a:prstDash val="solid"/>
            <a:round/>
            <a:headEnd type="none" w="med" len="med"/>
            <a:tailEnd type="none" w="med" len="med"/>
          </a:ln>
          <a:effectLst/>
        </p:spPr>
      </p:cxnSp>
      <p:sp>
        <p:nvSpPr>
          <p:cNvPr id="11" name="Rectangle 10"/>
          <p:cNvSpPr/>
          <p:nvPr/>
        </p:nvSpPr>
        <p:spPr>
          <a:xfrm>
            <a:off x="1847528" y="4869160"/>
            <a:ext cx="2736304" cy="923330"/>
          </a:xfrm>
          <a:prstGeom prst="rect">
            <a:avLst/>
          </a:prstGeom>
        </p:spPr>
        <p:txBody>
          <a:bodyPr wrap="square">
            <a:spAutoFit/>
          </a:bodyPr>
          <a:lstStyle/>
          <a:p>
            <a:pPr>
              <a:defRPr/>
            </a:pPr>
            <a:r>
              <a:rPr lang="en-US" altLang="ko-KR" dirty="0">
                <a:solidFill>
                  <a:srgbClr val="0000FF"/>
                </a:solidFill>
              </a:rPr>
              <a:t>A project creates unique deliverables; products, services, or results</a:t>
            </a:r>
            <a:endParaRPr lang="ko-KR" altLang="en-US" dirty="0">
              <a:solidFill>
                <a:srgbClr val="0000FF"/>
              </a:solidFill>
            </a:endParaRPr>
          </a:p>
        </p:txBody>
      </p:sp>
      <p:cxnSp>
        <p:nvCxnSpPr>
          <p:cNvPr id="13" name="Straight Connector 12"/>
          <p:cNvCxnSpPr/>
          <p:nvPr/>
        </p:nvCxnSpPr>
        <p:spPr bwMode="auto">
          <a:xfrm>
            <a:off x="2783632" y="3645024"/>
            <a:ext cx="144016" cy="1224136"/>
          </a:xfrm>
          <a:prstGeom prst="line">
            <a:avLst/>
          </a:prstGeom>
          <a:noFill/>
          <a:ln w="12700" cap="flat" cmpd="sng" algn="ctr">
            <a:solidFill>
              <a:srgbClr val="0000FF"/>
            </a:solidFill>
            <a:prstDash val="solid"/>
            <a:round/>
            <a:headEnd type="none" w="med" len="med"/>
            <a:tailEnd type="none" w="med" len="med"/>
          </a:ln>
          <a:effectLst/>
        </p:spPr>
      </p:cxnSp>
      <p:sp>
        <p:nvSpPr>
          <p:cNvPr id="14" name="Rectangle 13"/>
          <p:cNvSpPr/>
          <p:nvPr/>
        </p:nvSpPr>
        <p:spPr>
          <a:xfrm>
            <a:off x="5735960" y="4899376"/>
            <a:ext cx="2808312" cy="923330"/>
          </a:xfrm>
          <a:prstGeom prst="rect">
            <a:avLst/>
          </a:prstGeom>
        </p:spPr>
        <p:txBody>
          <a:bodyPr wrap="square">
            <a:spAutoFit/>
          </a:bodyPr>
          <a:lstStyle/>
          <a:p>
            <a:r>
              <a:rPr lang="en-US" altLang="ko-KR" dirty="0">
                <a:solidFill>
                  <a:srgbClr val="00B050"/>
                </a:solidFill>
              </a:rPr>
              <a:t>A project is performed in steps, and continues by increments</a:t>
            </a:r>
            <a:endParaRPr lang="en-US" dirty="0">
              <a:solidFill>
                <a:srgbClr val="00B050"/>
              </a:solidFill>
            </a:endParaRPr>
          </a:p>
        </p:txBody>
      </p:sp>
      <p:cxnSp>
        <p:nvCxnSpPr>
          <p:cNvPr id="16" name="Straight Connector 15"/>
          <p:cNvCxnSpPr/>
          <p:nvPr/>
        </p:nvCxnSpPr>
        <p:spPr bwMode="auto">
          <a:xfrm>
            <a:off x="6600056" y="4206572"/>
            <a:ext cx="288032" cy="662588"/>
          </a:xfrm>
          <a:prstGeom prst="line">
            <a:avLst/>
          </a:prstGeom>
          <a:noFill/>
          <a:ln w="12700" cap="flat" cmpd="sng" algn="ctr">
            <a:solidFill>
              <a:srgbClr val="00B050"/>
            </a:solidFill>
            <a:prstDash val="solid"/>
            <a:round/>
            <a:headEnd type="none" w="med" len="med"/>
            <a:tailEnd type="none" w="med" len="med"/>
          </a:ln>
          <a:effectLst/>
        </p:spPr>
      </p:cxnSp>
    </p:spTree>
    <p:extLst>
      <p:ext uri="{BB962C8B-B14F-4D97-AF65-F5344CB8AC3E}">
        <p14:creationId xmlns:p14="http://schemas.microsoft.com/office/powerpoint/2010/main" val="30754434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3795464" y="2894856"/>
            <a:ext cx="1447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algn="r" rtl="1" eaLnBrk="0" fontAlgn="base" hangingPunct="0">
              <a:spcBef>
                <a:spcPct val="0"/>
              </a:spcBef>
              <a:spcAft>
                <a:spcPct val="0"/>
              </a:spcAft>
              <a:defRPr>
                <a:solidFill>
                  <a:schemeClr val="tx1"/>
                </a:solidFill>
                <a:latin typeface="Arial" charset="0"/>
                <a:cs typeface="Arial" charset="0"/>
              </a:defRPr>
            </a:lvl6pPr>
            <a:lvl7pPr marL="2971800" indent="-228600" algn="r" rtl="1" eaLnBrk="0" fontAlgn="base" hangingPunct="0">
              <a:spcBef>
                <a:spcPct val="0"/>
              </a:spcBef>
              <a:spcAft>
                <a:spcPct val="0"/>
              </a:spcAft>
              <a:defRPr>
                <a:solidFill>
                  <a:schemeClr val="tx1"/>
                </a:solidFill>
                <a:latin typeface="Arial" charset="0"/>
                <a:cs typeface="Arial" charset="0"/>
              </a:defRPr>
            </a:lvl7pPr>
            <a:lvl8pPr marL="3429000" indent="-228600" algn="r" rtl="1" eaLnBrk="0" fontAlgn="base" hangingPunct="0">
              <a:spcBef>
                <a:spcPct val="0"/>
              </a:spcBef>
              <a:spcAft>
                <a:spcPct val="0"/>
              </a:spcAft>
              <a:defRPr>
                <a:solidFill>
                  <a:schemeClr val="tx1"/>
                </a:solidFill>
                <a:latin typeface="Arial" charset="0"/>
                <a:cs typeface="Arial" charset="0"/>
              </a:defRPr>
            </a:lvl8pPr>
            <a:lvl9pPr marL="3886200" indent="-228600" algn="r" rtl="1"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000" b="1" dirty="0">
                <a:latin typeface="맑은 고딕" pitchFamily="50" charset="-127"/>
                <a:ea typeface="맑은 고딕" pitchFamily="50" charset="-127"/>
              </a:rPr>
              <a:t>Operation</a:t>
            </a:r>
          </a:p>
        </p:txBody>
      </p:sp>
      <p:sp>
        <p:nvSpPr>
          <p:cNvPr id="3075" name="Text Box 3"/>
          <p:cNvSpPr txBox="1">
            <a:spLocks noChangeArrowheads="1"/>
          </p:cNvSpPr>
          <p:nvPr/>
        </p:nvSpPr>
        <p:spPr bwMode="auto">
          <a:xfrm>
            <a:off x="7417642" y="2513855"/>
            <a:ext cx="11267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algn="r" rtl="1" eaLnBrk="0" fontAlgn="base" hangingPunct="0">
              <a:spcBef>
                <a:spcPct val="0"/>
              </a:spcBef>
              <a:spcAft>
                <a:spcPct val="0"/>
              </a:spcAft>
              <a:defRPr>
                <a:solidFill>
                  <a:schemeClr val="tx1"/>
                </a:solidFill>
                <a:latin typeface="Arial" charset="0"/>
                <a:cs typeface="Arial" charset="0"/>
              </a:defRPr>
            </a:lvl6pPr>
            <a:lvl7pPr marL="2971800" indent="-228600" algn="r" rtl="1" eaLnBrk="0" fontAlgn="base" hangingPunct="0">
              <a:spcBef>
                <a:spcPct val="0"/>
              </a:spcBef>
              <a:spcAft>
                <a:spcPct val="0"/>
              </a:spcAft>
              <a:defRPr>
                <a:solidFill>
                  <a:schemeClr val="tx1"/>
                </a:solidFill>
                <a:latin typeface="Arial" charset="0"/>
                <a:cs typeface="Arial" charset="0"/>
              </a:defRPr>
            </a:lvl7pPr>
            <a:lvl8pPr marL="3429000" indent="-228600" algn="r" rtl="1" eaLnBrk="0" fontAlgn="base" hangingPunct="0">
              <a:spcBef>
                <a:spcPct val="0"/>
              </a:spcBef>
              <a:spcAft>
                <a:spcPct val="0"/>
              </a:spcAft>
              <a:defRPr>
                <a:solidFill>
                  <a:schemeClr val="tx1"/>
                </a:solidFill>
                <a:latin typeface="Arial" charset="0"/>
                <a:cs typeface="Arial" charset="0"/>
              </a:defRPr>
            </a:lvl8pPr>
            <a:lvl9pPr marL="3886200" indent="-228600" algn="r" rtl="1"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sz="2000" b="1" dirty="0">
                <a:solidFill>
                  <a:srgbClr val="0000FF"/>
                </a:solidFill>
                <a:latin typeface="맑은 고딕" pitchFamily="50" charset="-127"/>
                <a:ea typeface="맑은 고딕" pitchFamily="50" charset="-127"/>
              </a:rPr>
              <a:t>Project</a:t>
            </a:r>
          </a:p>
        </p:txBody>
      </p:sp>
      <p:sp>
        <p:nvSpPr>
          <p:cNvPr id="3076" name="Text Box 4"/>
          <p:cNvSpPr txBox="1">
            <a:spLocks noChangeArrowheads="1"/>
          </p:cNvSpPr>
          <p:nvPr/>
        </p:nvSpPr>
        <p:spPr bwMode="auto">
          <a:xfrm>
            <a:off x="3611488" y="4825316"/>
            <a:ext cx="1246188" cy="9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algn="r" rtl="1" eaLnBrk="0" fontAlgn="base" hangingPunct="0">
              <a:spcBef>
                <a:spcPct val="0"/>
              </a:spcBef>
              <a:spcAft>
                <a:spcPct val="0"/>
              </a:spcAft>
              <a:defRPr>
                <a:solidFill>
                  <a:schemeClr val="tx1"/>
                </a:solidFill>
                <a:latin typeface="Arial" charset="0"/>
                <a:cs typeface="Arial" charset="0"/>
              </a:defRPr>
            </a:lvl6pPr>
            <a:lvl7pPr marL="2971800" indent="-228600" algn="r" rtl="1" eaLnBrk="0" fontAlgn="base" hangingPunct="0">
              <a:spcBef>
                <a:spcPct val="0"/>
              </a:spcBef>
              <a:spcAft>
                <a:spcPct val="0"/>
              </a:spcAft>
              <a:defRPr>
                <a:solidFill>
                  <a:schemeClr val="tx1"/>
                </a:solidFill>
                <a:latin typeface="Arial" charset="0"/>
                <a:cs typeface="Arial" charset="0"/>
              </a:defRPr>
            </a:lvl7pPr>
            <a:lvl8pPr marL="3429000" indent="-228600" algn="r" rtl="1" eaLnBrk="0" fontAlgn="base" hangingPunct="0">
              <a:spcBef>
                <a:spcPct val="0"/>
              </a:spcBef>
              <a:spcAft>
                <a:spcPct val="0"/>
              </a:spcAft>
              <a:defRPr>
                <a:solidFill>
                  <a:schemeClr val="tx1"/>
                </a:solidFill>
                <a:latin typeface="Arial" charset="0"/>
                <a:cs typeface="Arial" charset="0"/>
              </a:defRPr>
            </a:lvl8pPr>
            <a:lvl9pPr marL="3886200" indent="-228600" algn="r" rtl="1" eaLnBrk="0" fontAlgn="base" hangingPunct="0">
              <a:spcBef>
                <a:spcPct val="0"/>
              </a:spcBef>
              <a:spcAft>
                <a:spcPct val="0"/>
              </a:spcAft>
              <a:defRPr>
                <a:solidFill>
                  <a:schemeClr val="tx1"/>
                </a:solidFill>
                <a:latin typeface="Arial" charset="0"/>
                <a:cs typeface="Arial" charset="0"/>
              </a:defRPr>
            </a:lvl9pPr>
          </a:lstStyle>
          <a:p>
            <a:pPr algn="ctr" eaLnBrk="1" latinLnBrk="0" hangingPunct="1">
              <a:spcBef>
                <a:spcPts val="600"/>
              </a:spcBef>
            </a:pPr>
            <a:r>
              <a:rPr lang="en-US" sz="1600" dirty="0">
                <a:latin typeface="맑은 고딕" pitchFamily="50" charset="-127"/>
                <a:ea typeface="맑은 고딕" pitchFamily="50" charset="-127"/>
              </a:rPr>
              <a:t>1800s</a:t>
            </a:r>
          </a:p>
          <a:p>
            <a:pPr algn="ctr" eaLnBrk="1" latinLnBrk="0" hangingPunct="1">
              <a:spcBef>
                <a:spcPts val="600"/>
              </a:spcBef>
            </a:pPr>
            <a:r>
              <a:rPr lang="en-US" sz="1600" dirty="0">
                <a:latin typeface="맑은 고딕" pitchFamily="50" charset="-127"/>
                <a:ea typeface="맑은 고딕" pitchFamily="50" charset="-127"/>
              </a:rPr>
              <a:t>Agricultural society</a:t>
            </a:r>
          </a:p>
        </p:txBody>
      </p:sp>
      <p:sp>
        <p:nvSpPr>
          <p:cNvPr id="3077" name="Text Box 5"/>
          <p:cNvSpPr txBox="1">
            <a:spLocks noChangeArrowheads="1"/>
          </p:cNvSpPr>
          <p:nvPr/>
        </p:nvSpPr>
        <p:spPr bwMode="auto">
          <a:xfrm>
            <a:off x="5135489" y="4825316"/>
            <a:ext cx="1108075" cy="9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algn="r" rtl="1" eaLnBrk="0" fontAlgn="base" hangingPunct="0">
              <a:spcBef>
                <a:spcPct val="0"/>
              </a:spcBef>
              <a:spcAft>
                <a:spcPct val="0"/>
              </a:spcAft>
              <a:defRPr>
                <a:solidFill>
                  <a:schemeClr val="tx1"/>
                </a:solidFill>
                <a:latin typeface="Arial" charset="0"/>
                <a:cs typeface="Arial" charset="0"/>
              </a:defRPr>
            </a:lvl6pPr>
            <a:lvl7pPr marL="2971800" indent="-228600" algn="r" rtl="1" eaLnBrk="0" fontAlgn="base" hangingPunct="0">
              <a:spcBef>
                <a:spcPct val="0"/>
              </a:spcBef>
              <a:spcAft>
                <a:spcPct val="0"/>
              </a:spcAft>
              <a:defRPr>
                <a:solidFill>
                  <a:schemeClr val="tx1"/>
                </a:solidFill>
                <a:latin typeface="Arial" charset="0"/>
                <a:cs typeface="Arial" charset="0"/>
              </a:defRPr>
            </a:lvl7pPr>
            <a:lvl8pPr marL="3429000" indent="-228600" algn="r" rtl="1" eaLnBrk="0" fontAlgn="base" hangingPunct="0">
              <a:spcBef>
                <a:spcPct val="0"/>
              </a:spcBef>
              <a:spcAft>
                <a:spcPct val="0"/>
              </a:spcAft>
              <a:defRPr>
                <a:solidFill>
                  <a:schemeClr val="tx1"/>
                </a:solidFill>
                <a:latin typeface="Arial" charset="0"/>
                <a:cs typeface="Arial" charset="0"/>
              </a:defRPr>
            </a:lvl8pPr>
            <a:lvl9pPr marL="3886200" indent="-228600" algn="r" rtl="1" eaLnBrk="0" fontAlgn="base" hangingPunct="0">
              <a:spcBef>
                <a:spcPct val="0"/>
              </a:spcBef>
              <a:spcAft>
                <a:spcPct val="0"/>
              </a:spcAft>
              <a:defRPr>
                <a:solidFill>
                  <a:schemeClr val="tx1"/>
                </a:solidFill>
                <a:latin typeface="Arial" charset="0"/>
                <a:cs typeface="Arial" charset="0"/>
              </a:defRPr>
            </a:lvl9pPr>
          </a:lstStyle>
          <a:p>
            <a:pPr algn="ctr" eaLnBrk="1" latinLnBrk="0" hangingPunct="1">
              <a:spcBef>
                <a:spcPts val="600"/>
              </a:spcBef>
            </a:pPr>
            <a:r>
              <a:rPr lang="en-US" sz="1600">
                <a:latin typeface="맑은 고딕" pitchFamily="50" charset="-127"/>
                <a:ea typeface="맑은 고딕" pitchFamily="50" charset="-127"/>
              </a:rPr>
              <a:t>1900s</a:t>
            </a:r>
          </a:p>
          <a:p>
            <a:pPr algn="ctr" eaLnBrk="1" latinLnBrk="0" hangingPunct="1">
              <a:spcBef>
                <a:spcPts val="600"/>
              </a:spcBef>
            </a:pPr>
            <a:r>
              <a:rPr lang="en-US" sz="1600">
                <a:latin typeface="맑은 고딕" pitchFamily="50" charset="-127"/>
                <a:ea typeface="맑은 고딕" pitchFamily="50" charset="-127"/>
              </a:rPr>
              <a:t>Industrial society</a:t>
            </a:r>
          </a:p>
        </p:txBody>
      </p:sp>
      <p:sp>
        <p:nvSpPr>
          <p:cNvPr id="3078" name="Text Box 6"/>
          <p:cNvSpPr txBox="1">
            <a:spLocks noChangeArrowheads="1"/>
          </p:cNvSpPr>
          <p:nvPr/>
        </p:nvSpPr>
        <p:spPr bwMode="auto">
          <a:xfrm>
            <a:off x="6532884" y="4825316"/>
            <a:ext cx="1291308" cy="9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algn="r" rtl="1" eaLnBrk="0" fontAlgn="base" hangingPunct="0">
              <a:spcBef>
                <a:spcPct val="0"/>
              </a:spcBef>
              <a:spcAft>
                <a:spcPct val="0"/>
              </a:spcAft>
              <a:defRPr>
                <a:solidFill>
                  <a:schemeClr val="tx1"/>
                </a:solidFill>
                <a:latin typeface="Arial" charset="0"/>
                <a:cs typeface="Arial" charset="0"/>
              </a:defRPr>
            </a:lvl6pPr>
            <a:lvl7pPr marL="2971800" indent="-228600" algn="r" rtl="1" eaLnBrk="0" fontAlgn="base" hangingPunct="0">
              <a:spcBef>
                <a:spcPct val="0"/>
              </a:spcBef>
              <a:spcAft>
                <a:spcPct val="0"/>
              </a:spcAft>
              <a:defRPr>
                <a:solidFill>
                  <a:schemeClr val="tx1"/>
                </a:solidFill>
                <a:latin typeface="Arial" charset="0"/>
                <a:cs typeface="Arial" charset="0"/>
              </a:defRPr>
            </a:lvl7pPr>
            <a:lvl8pPr marL="3429000" indent="-228600" algn="r" rtl="1" eaLnBrk="0" fontAlgn="base" hangingPunct="0">
              <a:spcBef>
                <a:spcPct val="0"/>
              </a:spcBef>
              <a:spcAft>
                <a:spcPct val="0"/>
              </a:spcAft>
              <a:defRPr>
                <a:solidFill>
                  <a:schemeClr val="tx1"/>
                </a:solidFill>
                <a:latin typeface="Arial" charset="0"/>
                <a:cs typeface="Arial" charset="0"/>
              </a:defRPr>
            </a:lvl8pPr>
            <a:lvl9pPr marL="3886200" indent="-228600" algn="r" rtl="1" eaLnBrk="0" fontAlgn="base" hangingPunct="0">
              <a:spcBef>
                <a:spcPct val="0"/>
              </a:spcBef>
              <a:spcAft>
                <a:spcPct val="0"/>
              </a:spcAft>
              <a:defRPr>
                <a:solidFill>
                  <a:schemeClr val="tx1"/>
                </a:solidFill>
                <a:latin typeface="Arial" charset="0"/>
                <a:cs typeface="Arial" charset="0"/>
              </a:defRPr>
            </a:lvl9pPr>
          </a:lstStyle>
          <a:p>
            <a:pPr algn="ctr" eaLnBrk="1" latinLnBrk="0" hangingPunct="1">
              <a:spcBef>
                <a:spcPts val="600"/>
              </a:spcBef>
            </a:pPr>
            <a:r>
              <a:rPr lang="en-US" sz="1600" dirty="0">
                <a:latin typeface="맑은 고딕" pitchFamily="50" charset="-127"/>
                <a:ea typeface="맑은 고딕" pitchFamily="50" charset="-127"/>
              </a:rPr>
              <a:t>2000s</a:t>
            </a:r>
          </a:p>
          <a:p>
            <a:pPr algn="ctr" eaLnBrk="1" latinLnBrk="0" hangingPunct="1">
              <a:spcBef>
                <a:spcPts val="600"/>
              </a:spcBef>
            </a:pPr>
            <a:r>
              <a:rPr lang="en-US" sz="1600" dirty="0">
                <a:latin typeface="맑은 고딕" pitchFamily="50" charset="-127"/>
                <a:ea typeface="맑은 고딕" pitchFamily="50" charset="-127"/>
              </a:rPr>
              <a:t>Information society</a:t>
            </a:r>
          </a:p>
        </p:txBody>
      </p:sp>
      <p:sp>
        <p:nvSpPr>
          <p:cNvPr id="3080" name="Line 8"/>
          <p:cNvSpPr>
            <a:spLocks noChangeShapeType="1"/>
          </p:cNvSpPr>
          <p:nvPr/>
        </p:nvSpPr>
        <p:spPr bwMode="auto">
          <a:xfrm>
            <a:off x="3795465" y="4520515"/>
            <a:ext cx="5330825" cy="793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맑은 고딕" pitchFamily="50" charset="-127"/>
              <a:ea typeface="맑은 고딕" pitchFamily="50" charset="-127"/>
            </a:endParaRPr>
          </a:p>
        </p:txBody>
      </p:sp>
      <p:sp>
        <p:nvSpPr>
          <p:cNvPr id="3081" name="Text Box 9"/>
          <p:cNvSpPr txBox="1">
            <a:spLocks noChangeArrowheads="1"/>
          </p:cNvSpPr>
          <p:nvPr/>
        </p:nvSpPr>
        <p:spPr bwMode="auto">
          <a:xfrm>
            <a:off x="9187954" y="4337159"/>
            <a:ext cx="784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algn="r" rtl="1" eaLnBrk="0" fontAlgn="base" hangingPunct="0">
              <a:spcBef>
                <a:spcPct val="0"/>
              </a:spcBef>
              <a:spcAft>
                <a:spcPct val="0"/>
              </a:spcAft>
              <a:defRPr>
                <a:solidFill>
                  <a:schemeClr val="tx1"/>
                </a:solidFill>
                <a:latin typeface="Arial" charset="0"/>
                <a:cs typeface="Arial" charset="0"/>
              </a:defRPr>
            </a:lvl6pPr>
            <a:lvl7pPr marL="2971800" indent="-228600" algn="r" rtl="1" eaLnBrk="0" fontAlgn="base" hangingPunct="0">
              <a:spcBef>
                <a:spcPct val="0"/>
              </a:spcBef>
              <a:spcAft>
                <a:spcPct val="0"/>
              </a:spcAft>
              <a:defRPr>
                <a:solidFill>
                  <a:schemeClr val="tx1"/>
                </a:solidFill>
                <a:latin typeface="Arial" charset="0"/>
                <a:cs typeface="Arial" charset="0"/>
              </a:defRPr>
            </a:lvl7pPr>
            <a:lvl8pPr marL="3429000" indent="-228600" algn="r" rtl="1" eaLnBrk="0" fontAlgn="base" hangingPunct="0">
              <a:spcBef>
                <a:spcPct val="0"/>
              </a:spcBef>
              <a:spcAft>
                <a:spcPct val="0"/>
              </a:spcAft>
              <a:defRPr>
                <a:solidFill>
                  <a:schemeClr val="tx1"/>
                </a:solidFill>
                <a:latin typeface="Arial" charset="0"/>
                <a:cs typeface="Arial" charset="0"/>
              </a:defRPr>
            </a:lvl8pPr>
            <a:lvl9pPr marL="3886200" indent="-228600" algn="r" rtl="1"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dirty="0">
                <a:latin typeface="맑은 고딕" pitchFamily="50" charset="-127"/>
                <a:ea typeface="맑은 고딕" pitchFamily="50" charset="-127"/>
              </a:rPr>
              <a:t>Time</a:t>
            </a:r>
          </a:p>
        </p:txBody>
      </p:sp>
      <p:sp>
        <p:nvSpPr>
          <p:cNvPr id="3084" name="Freeform 12"/>
          <p:cNvSpPr>
            <a:spLocks/>
          </p:cNvSpPr>
          <p:nvPr/>
        </p:nvSpPr>
        <p:spPr bwMode="auto">
          <a:xfrm flipH="1">
            <a:off x="3947864" y="2285256"/>
            <a:ext cx="5029200" cy="1295400"/>
          </a:xfrm>
          <a:custGeom>
            <a:avLst/>
            <a:gdLst>
              <a:gd name="T0" fmla="*/ 0 w 3552"/>
              <a:gd name="T1" fmla="*/ 2147483647 h 736"/>
              <a:gd name="T2" fmla="*/ 2147483647 w 3552"/>
              <a:gd name="T3" fmla="*/ 2147483647 h 736"/>
              <a:gd name="T4" fmla="*/ 2147483647 w 3552"/>
              <a:gd name="T5" fmla="*/ 2147483647 h 736"/>
              <a:gd name="T6" fmla="*/ 2147483647 w 3552"/>
              <a:gd name="T7" fmla="*/ 2147483647 h 736"/>
              <a:gd name="T8" fmla="*/ 0 60000 65536"/>
              <a:gd name="T9" fmla="*/ 0 60000 65536"/>
              <a:gd name="T10" fmla="*/ 0 60000 65536"/>
              <a:gd name="T11" fmla="*/ 0 60000 65536"/>
              <a:gd name="T12" fmla="*/ 0 w 3552"/>
              <a:gd name="T13" fmla="*/ 0 h 736"/>
              <a:gd name="T14" fmla="*/ 3552 w 3552"/>
              <a:gd name="T15" fmla="*/ 736 h 736"/>
            </a:gdLst>
            <a:ahLst/>
            <a:cxnLst>
              <a:cxn ang="T8">
                <a:pos x="T0" y="T1"/>
              </a:cxn>
              <a:cxn ang="T9">
                <a:pos x="T2" y="T3"/>
              </a:cxn>
              <a:cxn ang="T10">
                <a:pos x="T4" y="T5"/>
              </a:cxn>
              <a:cxn ang="T11">
                <a:pos x="T6" y="T7"/>
              </a:cxn>
            </a:cxnLst>
            <a:rect l="T12" t="T13" r="T14" b="T15"/>
            <a:pathLst>
              <a:path w="3552" h="736">
                <a:moveTo>
                  <a:pt x="0" y="8"/>
                </a:moveTo>
                <a:cubicBezTo>
                  <a:pt x="396" y="4"/>
                  <a:pt x="792" y="0"/>
                  <a:pt x="1248" y="104"/>
                </a:cubicBezTo>
                <a:cubicBezTo>
                  <a:pt x="1704" y="208"/>
                  <a:pt x="2352" y="528"/>
                  <a:pt x="2736" y="632"/>
                </a:cubicBezTo>
                <a:cubicBezTo>
                  <a:pt x="3120" y="736"/>
                  <a:pt x="3336" y="732"/>
                  <a:pt x="3552" y="728"/>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맑은 고딕" pitchFamily="50" charset="-127"/>
              <a:ea typeface="맑은 고딕" pitchFamily="50" charset="-127"/>
            </a:endParaRPr>
          </a:p>
        </p:txBody>
      </p:sp>
      <p:sp>
        <p:nvSpPr>
          <p:cNvPr id="2" name="Title 1"/>
          <p:cNvSpPr>
            <a:spLocks noGrp="1"/>
          </p:cNvSpPr>
          <p:nvPr>
            <p:ph type="title"/>
          </p:nvPr>
        </p:nvSpPr>
        <p:spPr/>
        <p:txBody>
          <a:bodyPr/>
          <a:lstStyle/>
          <a:p>
            <a:r>
              <a:rPr lang="en-US" dirty="0"/>
              <a:t>Trends from Operation to Project</a:t>
            </a:r>
          </a:p>
        </p:txBody>
      </p:sp>
      <p:sp>
        <p:nvSpPr>
          <p:cNvPr id="18" name="Text Box 6"/>
          <p:cNvSpPr txBox="1">
            <a:spLocks noChangeArrowheads="1"/>
          </p:cNvSpPr>
          <p:nvPr/>
        </p:nvSpPr>
        <p:spPr bwMode="auto">
          <a:xfrm>
            <a:off x="8015064" y="4825316"/>
            <a:ext cx="1249288" cy="9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algn="r" rtl="1" eaLnBrk="0" fontAlgn="base" hangingPunct="0">
              <a:spcBef>
                <a:spcPct val="0"/>
              </a:spcBef>
              <a:spcAft>
                <a:spcPct val="0"/>
              </a:spcAft>
              <a:defRPr>
                <a:solidFill>
                  <a:schemeClr val="tx1"/>
                </a:solidFill>
                <a:latin typeface="Arial" charset="0"/>
                <a:cs typeface="Arial" charset="0"/>
              </a:defRPr>
            </a:lvl6pPr>
            <a:lvl7pPr marL="2971800" indent="-228600" algn="r" rtl="1" eaLnBrk="0" fontAlgn="base" hangingPunct="0">
              <a:spcBef>
                <a:spcPct val="0"/>
              </a:spcBef>
              <a:spcAft>
                <a:spcPct val="0"/>
              </a:spcAft>
              <a:defRPr>
                <a:solidFill>
                  <a:schemeClr val="tx1"/>
                </a:solidFill>
                <a:latin typeface="Arial" charset="0"/>
                <a:cs typeface="Arial" charset="0"/>
              </a:defRPr>
            </a:lvl7pPr>
            <a:lvl8pPr marL="3429000" indent="-228600" algn="r" rtl="1" eaLnBrk="0" fontAlgn="base" hangingPunct="0">
              <a:spcBef>
                <a:spcPct val="0"/>
              </a:spcBef>
              <a:spcAft>
                <a:spcPct val="0"/>
              </a:spcAft>
              <a:defRPr>
                <a:solidFill>
                  <a:schemeClr val="tx1"/>
                </a:solidFill>
                <a:latin typeface="Arial" charset="0"/>
                <a:cs typeface="Arial" charset="0"/>
              </a:defRPr>
            </a:lvl8pPr>
            <a:lvl9pPr marL="3886200" indent="-228600" algn="r" rtl="1" eaLnBrk="0" fontAlgn="base" hangingPunct="0">
              <a:spcBef>
                <a:spcPct val="0"/>
              </a:spcBef>
              <a:spcAft>
                <a:spcPct val="0"/>
              </a:spcAft>
              <a:defRPr>
                <a:solidFill>
                  <a:schemeClr val="tx1"/>
                </a:solidFill>
                <a:latin typeface="Arial" charset="0"/>
                <a:cs typeface="Arial" charset="0"/>
              </a:defRPr>
            </a:lvl9pPr>
          </a:lstStyle>
          <a:p>
            <a:pPr algn="ctr" eaLnBrk="1" latinLnBrk="0" hangingPunct="1">
              <a:spcBef>
                <a:spcPts val="600"/>
              </a:spcBef>
            </a:pPr>
            <a:r>
              <a:rPr lang="en-US" sz="1600" dirty="0">
                <a:latin typeface="맑은 고딕" pitchFamily="50" charset="-127"/>
                <a:ea typeface="맑은 고딕" pitchFamily="50" charset="-127"/>
              </a:rPr>
              <a:t>2010s</a:t>
            </a:r>
          </a:p>
          <a:p>
            <a:pPr algn="ctr" eaLnBrk="1" latinLnBrk="0" hangingPunct="1">
              <a:spcBef>
                <a:spcPts val="600"/>
              </a:spcBef>
            </a:pPr>
            <a:r>
              <a:rPr lang="en-US" sz="1600" dirty="0">
                <a:latin typeface="맑은 고딕" pitchFamily="50" charset="-127"/>
                <a:ea typeface="맑은 고딕" pitchFamily="50" charset="-127"/>
              </a:rPr>
              <a:t>Knowledge society</a:t>
            </a:r>
          </a:p>
        </p:txBody>
      </p:sp>
      <p:sp>
        <p:nvSpPr>
          <p:cNvPr id="14" name="Line 8"/>
          <p:cNvSpPr>
            <a:spLocks noChangeShapeType="1"/>
          </p:cNvSpPr>
          <p:nvPr/>
        </p:nvSpPr>
        <p:spPr bwMode="auto">
          <a:xfrm flipV="1">
            <a:off x="3791744" y="1556793"/>
            <a:ext cx="0" cy="297210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latin typeface="맑은 고딕" pitchFamily="50" charset="-127"/>
              <a:ea typeface="맑은 고딕" pitchFamily="50" charset="-127"/>
            </a:endParaRPr>
          </a:p>
        </p:txBody>
      </p:sp>
      <p:sp>
        <p:nvSpPr>
          <p:cNvPr id="16" name="Text Box 9"/>
          <p:cNvSpPr txBox="1">
            <a:spLocks noChangeArrowheads="1"/>
          </p:cNvSpPr>
          <p:nvPr/>
        </p:nvSpPr>
        <p:spPr bwMode="auto">
          <a:xfrm>
            <a:off x="2855641" y="1700808"/>
            <a:ext cx="90566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algn="r" rtl="1" eaLnBrk="0" fontAlgn="base" hangingPunct="0">
              <a:spcBef>
                <a:spcPct val="0"/>
              </a:spcBef>
              <a:spcAft>
                <a:spcPct val="0"/>
              </a:spcAft>
              <a:defRPr>
                <a:solidFill>
                  <a:schemeClr val="tx1"/>
                </a:solidFill>
                <a:latin typeface="Arial" charset="0"/>
                <a:cs typeface="Arial" charset="0"/>
              </a:defRPr>
            </a:lvl6pPr>
            <a:lvl7pPr marL="2971800" indent="-228600" algn="r" rtl="1" eaLnBrk="0" fontAlgn="base" hangingPunct="0">
              <a:spcBef>
                <a:spcPct val="0"/>
              </a:spcBef>
              <a:spcAft>
                <a:spcPct val="0"/>
              </a:spcAft>
              <a:defRPr>
                <a:solidFill>
                  <a:schemeClr val="tx1"/>
                </a:solidFill>
                <a:latin typeface="Arial" charset="0"/>
                <a:cs typeface="Arial" charset="0"/>
              </a:defRPr>
            </a:lvl7pPr>
            <a:lvl8pPr marL="3429000" indent="-228600" algn="r" rtl="1" eaLnBrk="0" fontAlgn="base" hangingPunct="0">
              <a:spcBef>
                <a:spcPct val="0"/>
              </a:spcBef>
              <a:spcAft>
                <a:spcPct val="0"/>
              </a:spcAft>
              <a:defRPr>
                <a:solidFill>
                  <a:schemeClr val="tx1"/>
                </a:solidFill>
                <a:latin typeface="Arial" charset="0"/>
                <a:cs typeface="Arial" charset="0"/>
              </a:defRPr>
            </a:lvl8pPr>
            <a:lvl9pPr marL="3886200" indent="-228600" algn="r" rtl="1"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ko-KR" altLang="en-US">
                <a:latin typeface="맑은 고딕" pitchFamily="50" charset="-127"/>
                <a:ea typeface="맑은 고딕" pitchFamily="50" charset="-127"/>
              </a:rPr>
              <a:t>중요도</a:t>
            </a:r>
            <a:endParaRPr lang="en-US" dirty="0">
              <a:latin typeface="맑은 고딕" pitchFamily="50" charset="-127"/>
              <a:ea typeface="맑은 고딕" pitchFamily="50" charset="-127"/>
            </a:endParaRPr>
          </a:p>
        </p:txBody>
      </p:sp>
    </p:spTree>
    <p:extLst>
      <p:ext uri="{BB962C8B-B14F-4D97-AF65-F5344CB8AC3E}">
        <p14:creationId xmlns:p14="http://schemas.microsoft.com/office/powerpoint/2010/main" val="82070931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Project</a:t>
            </a:r>
            <a:r>
              <a:rPr lang="en-US" altLang="ko-KR" dirty="0"/>
              <a:t> Vs. Operation</a:t>
            </a:r>
            <a:endParaRPr lang="en-US" dirty="0"/>
          </a:p>
        </p:txBody>
      </p:sp>
      <p:sp>
        <p:nvSpPr>
          <p:cNvPr id="6" name="Content Placeholder 5"/>
          <p:cNvSpPr>
            <a:spLocks noGrp="1"/>
          </p:cNvSpPr>
          <p:nvPr>
            <p:ph type="body" sz="quarter" idx="10"/>
          </p:nvPr>
        </p:nvSpPr>
        <p:spPr/>
        <p:txBody>
          <a:bodyPr/>
          <a:lstStyle/>
          <a:p>
            <a:pPr>
              <a:spcAft>
                <a:spcPts val="600"/>
              </a:spcAft>
            </a:pPr>
            <a:r>
              <a:rPr lang="en-US" sz="2000" dirty="0"/>
              <a:t>H</a:t>
            </a:r>
            <a:r>
              <a:rPr lang="ko-KR" altLang="en-US" sz="2000" dirty="0"/>
              <a:t>사의 신차 개발</a:t>
            </a:r>
            <a:endParaRPr lang="en-US" altLang="ko-KR" sz="2000" dirty="0"/>
          </a:p>
          <a:p>
            <a:pPr>
              <a:spcAft>
                <a:spcPts val="600"/>
              </a:spcAft>
            </a:pPr>
            <a:r>
              <a:rPr lang="en-US" altLang="ko-KR" sz="2000" dirty="0"/>
              <a:t>NASA</a:t>
            </a:r>
            <a:r>
              <a:rPr lang="ko-KR" altLang="en-US" sz="2000" dirty="0"/>
              <a:t>의 화성탐사</a:t>
            </a:r>
            <a:endParaRPr lang="en-US" altLang="ko-KR" sz="2000" dirty="0"/>
          </a:p>
          <a:p>
            <a:pPr>
              <a:spcAft>
                <a:spcPts val="600"/>
              </a:spcAft>
            </a:pPr>
            <a:r>
              <a:rPr lang="en-US" altLang="ko-KR" sz="2000" dirty="0"/>
              <a:t>S</a:t>
            </a:r>
            <a:r>
              <a:rPr lang="ko-KR" altLang="en-US" sz="2000" dirty="0"/>
              <a:t>사의 초호화 유람선 개발</a:t>
            </a:r>
            <a:endParaRPr lang="en-US" altLang="ko-KR" sz="2000" dirty="0"/>
          </a:p>
          <a:p>
            <a:pPr>
              <a:spcAft>
                <a:spcPts val="600"/>
              </a:spcAft>
            </a:pPr>
            <a:r>
              <a:rPr lang="ko-KR" altLang="en-US" sz="2000" dirty="0"/>
              <a:t>정부의 환경규제에 부합하는 공정 개선</a:t>
            </a:r>
            <a:endParaRPr lang="en-US" altLang="ko-KR" sz="2000" dirty="0"/>
          </a:p>
          <a:p>
            <a:pPr>
              <a:spcAft>
                <a:spcPts val="600"/>
              </a:spcAft>
            </a:pPr>
            <a:r>
              <a:rPr lang="ko-KR" altLang="en-US" sz="2000" dirty="0"/>
              <a:t>제조현장의 암묵지를 형식지화 하는 체계 정립</a:t>
            </a:r>
            <a:endParaRPr lang="en-US" altLang="ko-KR" sz="2000" dirty="0"/>
          </a:p>
          <a:p>
            <a:pPr>
              <a:spcAft>
                <a:spcPts val="600"/>
              </a:spcAft>
            </a:pPr>
            <a:r>
              <a:rPr lang="ko-KR" altLang="en-US" sz="2000" dirty="0"/>
              <a:t>새 대형 엔지니어링사를 고객사로 발굴</a:t>
            </a:r>
            <a:endParaRPr lang="en-US" altLang="ko-KR" sz="2000" dirty="0"/>
          </a:p>
          <a:p>
            <a:pPr>
              <a:spcAft>
                <a:spcPts val="600"/>
              </a:spcAft>
            </a:pPr>
            <a:r>
              <a:rPr lang="en-US" altLang="ko-KR" sz="2000" dirty="0"/>
              <a:t>H</a:t>
            </a:r>
            <a:r>
              <a:rPr lang="ko-KR" altLang="en-US" sz="2000" dirty="0"/>
              <a:t>사의 심해저</a:t>
            </a:r>
            <a:r>
              <a:rPr lang="en-US" altLang="ko-KR" sz="2000" dirty="0"/>
              <a:t> </a:t>
            </a:r>
            <a:r>
              <a:rPr lang="ko-KR" altLang="en-US" sz="2000" dirty="0"/>
              <a:t>특수구조물 신제품 개발</a:t>
            </a:r>
            <a:endParaRPr lang="en-US" altLang="ko-KR" sz="2000" dirty="0"/>
          </a:p>
        </p:txBody>
      </p:sp>
      <p:sp>
        <p:nvSpPr>
          <p:cNvPr id="7" name="Content Placeholder 6"/>
          <p:cNvSpPr>
            <a:spLocks noGrp="1"/>
          </p:cNvSpPr>
          <p:nvPr>
            <p:ph type="body" sz="quarter" idx="11"/>
          </p:nvPr>
        </p:nvSpPr>
        <p:spPr/>
        <p:txBody>
          <a:bodyPr/>
          <a:lstStyle/>
          <a:p>
            <a:r>
              <a:rPr lang="ko-KR" altLang="en-US" sz="2000" dirty="0"/>
              <a:t>신공정 가동 시작</a:t>
            </a:r>
            <a:endParaRPr lang="en-US" altLang="ko-KR" sz="2000" dirty="0"/>
          </a:p>
          <a:p>
            <a:r>
              <a:rPr lang="ko-KR" altLang="en-US" sz="2000" dirty="0"/>
              <a:t>불량품 재처리 </a:t>
            </a:r>
            <a:endParaRPr lang="en-US" altLang="ko-KR" sz="2000" dirty="0"/>
          </a:p>
          <a:p>
            <a:r>
              <a:rPr lang="ko-KR" altLang="en-US" sz="2000" dirty="0"/>
              <a:t>판매부서의 </a:t>
            </a:r>
            <a:r>
              <a:rPr lang="en-US" altLang="ko-KR" sz="2000" dirty="0"/>
              <a:t>Cold Calling</a:t>
            </a:r>
          </a:p>
          <a:p>
            <a:r>
              <a:rPr lang="ko-KR" altLang="en-US" sz="2000" dirty="0"/>
              <a:t>주요 고객사의 불만 접수 및 개선</a:t>
            </a:r>
            <a:endParaRPr lang="en-US" altLang="ko-KR" sz="2000" dirty="0"/>
          </a:p>
          <a:p>
            <a:r>
              <a:rPr lang="ko-KR" altLang="en-US" sz="2000" dirty="0"/>
              <a:t>자사 홈페이지에 등록되는 질문에 신속한 응답</a:t>
            </a:r>
            <a:endParaRPr lang="en-US" altLang="ko-KR" sz="2000" dirty="0"/>
          </a:p>
          <a:p>
            <a:r>
              <a:rPr lang="ko-KR" altLang="en-US" sz="2000" dirty="0"/>
              <a:t>고객들의 주문정보를 취합하여 </a:t>
            </a:r>
            <a:r>
              <a:rPr lang="en-US" altLang="ko-KR" sz="2000" dirty="0"/>
              <a:t>ERP </a:t>
            </a:r>
            <a:r>
              <a:rPr lang="ko-KR" altLang="en-US" sz="2000" dirty="0"/>
              <a:t>시스템에 키인</a:t>
            </a:r>
            <a:endParaRPr lang="en-US" altLang="ko-KR" sz="2000" dirty="0"/>
          </a:p>
          <a:p>
            <a:r>
              <a:rPr lang="ko-KR" altLang="en-US" sz="2000" dirty="0"/>
              <a:t>월례 임원진 보고회 참석</a:t>
            </a:r>
            <a:endParaRPr lang="en-US" altLang="ko-KR" sz="2000" dirty="0"/>
          </a:p>
        </p:txBody>
      </p:sp>
      <p:sp>
        <p:nvSpPr>
          <p:cNvPr id="8" name="Rectangle 7"/>
          <p:cNvSpPr/>
          <p:nvPr/>
        </p:nvSpPr>
        <p:spPr>
          <a:xfrm rot="19931073">
            <a:off x="6775823" y="2436710"/>
            <a:ext cx="1944216" cy="584775"/>
          </a:xfrm>
          <a:prstGeom prst="rect">
            <a:avLst/>
          </a:prstGeom>
          <a:noFill/>
          <a:ln>
            <a:noFill/>
          </a:ln>
          <a:effectLst>
            <a:outerShdw blurRad="50800" dist="50800" dir="5400000" algn="ctr" rotWithShape="0">
              <a:srgbClr val="000000">
                <a:alpha val="0"/>
              </a:srgbClr>
            </a:outerShdw>
          </a:effectLst>
        </p:spPr>
        <p:txBody>
          <a:bodyPr wrap="square" lIns="91440" tIns="45720" rIns="91440" bIns="45720">
            <a:spAutoFit/>
          </a:bodyPr>
          <a:lstStyle/>
          <a:p>
            <a:r>
              <a:rPr lang="en-US" sz="3200" b="1" dirty="0">
                <a:ln w="18000">
                  <a:solidFill>
                    <a:schemeClr val="accent2">
                      <a:satMod val="140000"/>
                    </a:schemeClr>
                  </a:solidFill>
                  <a:prstDash val="solid"/>
                  <a:miter lim="800000"/>
                </a:ln>
                <a:solidFill>
                  <a:srgbClr val="FF0000"/>
                </a:solidFill>
              </a:rPr>
              <a:t>Ongoing</a:t>
            </a:r>
          </a:p>
        </p:txBody>
      </p:sp>
      <p:sp>
        <p:nvSpPr>
          <p:cNvPr id="9" name="Rectangle 8"/>
          <p:cNvSpPr/>
          <p:nvPr/>
        </p:nvSpPr>
        <p:spPr>
          <a:xfrm rot="19931073">
            <a:off x="6759183" y="3195949"/>
            <a:ext cx="2232248" cy="584775"/>
          </a:xfrm>
          <a:prstGeom prst="rect">
            <a:avLst/>
          </a:prstGeom>
          <a:noFill/>
          <a:ln>
            <a:noFill/>
          </a:ln>
          <a:effectLst>
            <a:outerShdw blurRad="50800" dist="50800" dir="5400000" algn="ctr" rotWithShape="0">
              <a:srgbClr val="000000">
                <a:alpha val="0"/>
              </a:srgbClr>
            </a:outerShdw>
          </a:effectLst>
        </p:spPr>
        <p:txBody>
          <a:bodyPr wrap="square" lIns="91440" tIns="45720" rIns="91440" bIns="45720">
            <a:spAutoFit/>
          </a:bodyPr>
          <a:lstStyle/>
          <a:p>
            <a:r>
              <a:rPr lang="en-US" sz="3200" b="1" dirty="0">
                <a:ln w="18000">
                  <a:solidFill>
                    <a:schemeClr val="accent2">
                      <a:satMod val="140000"/>
                    </a:schemeClr>
                  </a:solidFill>
                  <a:prstDash val="solid"/>
                  <a:miter lim="800000"/>
                </a:ln>
                <a:solidFill>
                  <a:srgbClr val="FF0000"/>
                </a:solidFill>
              </a:rPr>
              <a:t>Repetitive</a:t>
            </a:r>
          </a:p>
        </p:txBody>
      </p:sp>
      <p:sp>
        <p:nvSpPr>
          <p:cNvPr id="11" name="Rectangle 10"/>
          <p:cNvSpPr/>
          <p:nvPr/>
        </p:nvSpPr>
        <p:spPr>
          <a:xfrm rot="19931073">
            <a:off x="2452277" y="2314677"/>
            <a:ext cx="2467264" cy="584775"/>
          </a:xfrm>
          <a:prstGeom prst="rect">
            <a:avLst/>
          </a:prstGeom>
          <a:noFill/>
          <a:ln>
            <a:noFill/>
          </a:ln>
          <a:effectLst>
            <a:outerShdw blurRad="50800" dist="50800" dir="5400000" algn="ctr" rotWithShape="0">
              <a:srgbClr val="000000">
                <a:alpha val="0"/>
              </a:srgbClr>
            </a:outerShdw>
          </a:effectLst>
        </p:spPr>
        <p:txBody>
          <a:bodyPr wrap="square" lIns="91440" tIns="45720" rIns="91440" bIns="45720">
            <a:spAutoFit/>
          </a:bodyPr>
          <a:lstStyle/>
          <a:p>
            <a:r>
              <a:rPr lang="en-US" sz="3200" b="1" dirty="0">
                <a:ln w="18000">
                  <a:solidFill>
                    <a:schemeClr val="accent2">
                      <a:satMod val="140000"/>
                    </a:schemeClr>
                  </a:solidFill>
                  <a:prstDash val="solid"/>
                  <a:miter lim="800000"/>
                </a:ln>
                <a:solidFill>
                  <a:srgbClr val="FF0000"/>
                </a:solidFill>
              </a:rPr>
              <a:t>Temporary</a:t>
            </a:r>
          </a:p>
        </p:txBody>
      </p:sp>
      <p:sp>
        <p:nvSpPr>
          <p:cNvPr id="12" name="Rectangle 11"/>
          <p:cNvSpPr/>
          <p:nvPr/>
        </p:nvSpPr>
        <p:spPr>
          <a:xfrm rot="19931073">
            <a:off x="2465855" y="3195949"/>
            <a:ext cx="2232248" cy="584775"/>
          </a:xfrm>
          <a:prstGeom prst="rect">
            <a:avLst/>
          </a:prstGeom>
          <a:noFill/>
          <a:ln>
            <a:noFill/>
          </a:ln>
          <a:effectLst>
            <a:outerShdw blurRad="50800" dist="50800" dir="5400000" algn="ctr" rotWithShape="0">
              <a:srgbClr val="000000">
                <a:alpha val="0"/>
              </a:srgbClr>
            </a:outerShdw>
          </a:effectLst>
        </p:spPr>
        <p:txBody>
          <a:bodyPr wrap="square" lIns="91440" tIns="45720" rIns="91440" bIns="45720">
            <a:spAutoFit/>
          </a:bodyPr>
          <a:lstStyle/>
          <a:p>
            <a:r>
              <a:rPr lang="en-US" sz="3200" b="1" dirty="0">
                <a:ln w="18000">
                  <a:solidFill>
                    <a:schemeClr val="accent2">
                      <a:satMod val="140000"/>
                    </a:schemeClr>
                  </a:solidFill>
                  <a:prstDash val="solid"/>
                  <a:miter lim="800000"/>
                </a:ln>
                <a:solidFill>
                  <a:srgbClr val="FF0000"/>
                </a:solidFill>
              </a:rPr>
              <a:t>Unique</a:t>
            </a:r>
          </a:p>
        </p:txBody>
      </p:sp>
      <p:grpSp>
        <p:nvGrpSpPr>
          <p:cNvPr id="18" name="Group 17"/>
          <p:cNvGrpSpPr/>
          <p:nvPr/>
        </p:nvGrpSpPr>
        <p:grpSpPr>
          <a:xfrm>
            <a:off x="3002974" y="5001974"/>
            <a:ext cx="6010440" cy="959322"/>
            <a:chOff x="1487146" y="5517232"/>
            <a:chExt cx="6010440" cy="959322"/>
          </a:xfrm>
        </p:grpSpPr>
        <p:sp>
          <p:nvSpPr>
            <p:cNvPr id="14" name="Up Arrow 13"/>
            <p:cNvSpPr/>
            <p:nvPr/>
          </p:nvSpPr>
          <p:spPr bwMode="auto">
            <a:xfrm>
              <a:off x="2051720" y="5517232"/>
              <a:ext cx="331510" cy="288032"/>
            </a:xfrm>
            <a:prstGeom prst="upArrow">
              <a:avLst/>
            </a:prstGeom>
            <a:solidFill>
              <a:schemeClr val="bg2">
                <a:lumMod val="40000"/>
                <a:lumOff val="60000"/>
              </a:schemeClr>
            </a:solid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a:spcBef>
                  <a:spcPct val="0"/>
                </a:spcBef>
                <a:spcAft>
                  <a:spcPct val="0"/>
                </a:spcAft>
              </a:pPr>
              <a:endParaRPr kumimoji="1" lang="en-US" sz="2000">
                <a:latin typeface="Arial" charset="0"/>
                <a:ea typeface="굴림" pitchFamily="50" charset="-127"/>
              </a:endParaRPr>
            </a:p>
          </p:txBody>
        </p:sp>
        <p:sp>
          <p:nvSpPr>
            <p:cNvPr id="15" name="TextBox 14"/>
            <p:cNvSpPr txBox="1"/>
            <p:nvPr/>
          </p:nvSpPr>
          <p:spPr>
            <a:xfrm>
              <a:off x="1487146" y="5891779"/>
              <a:ext cx="1460657" cy="584775"/>
            </a:xfrm>
            <a:prstGeom prst="rect">
              <a:avLst/>
            </a:prstGeom>
            <a:noFill/>
          </p:spPr>
          <p:txBody>
            <a:bodyPr wrap="none" rtlCol="0">
              <a:spAutoFit/>
            </a:bodyPr>
            <a:lstStyle/>
            <a:p>
              <a:pPr algn="ctr"/>
              <a:r>
                <a:rPr lang="en-US" sz="3200" dirty="0"/>
                <a:t>Project</a:t>
              </a:r>
            </a:p>
          </p:txBody>
        </p:sp>
        <p:sp>
          <p:nvSpPr>
            <p:cNvPr id="16" name="Up Arrow 15"/>
            <p:cNvSpPr/>
            <p:nvPr/>
          </p:nvSpPr>
          <p:spPr bwMode="auto">
            <a:xfrm>
              <a:off x="6340213" y="5517232"/>
              <a:ext cx="331510" cy="288032"/>
            </a:xfrm>
            <a:prstGeom prst="upArrow">
              <a:avLst/>
            </a:prstGeom>
            <a:solidFill>
              <a:schemeClr val="bg2">
                <a:lumMod val="40000"/>
                <a:lumOff val="60000"/>
              </a:schemeClr>
            </a:solid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a:spcBef>
                  <a:spcPct val="0"/>
                </a:spcBef>
                <a:spcAft>
                  <a:spcPct val="0"/>
                </a:spcAft>
              </a:pPr>
              <a:endParaRPr kumimoji="1" lang="en-US" sz="2000">
                <a:latin typeface="Arial" charset="0"/>
                <a:ea typeface="굴림" pitchFamily="50" charset="-127"/>
              </a:endParaRPr>
            </a:p>
          </p:txBody>
        </p:sp>
        <p:sp>
          <p:nvSpPr>
            <p:cNvPr id="17" name="TextBox 16"/>
            <p:cNvSpPr txBox="1"/>
            <p:nvPr/>
          </p:nvSpPr>
          <p:spPr>
            <a:xfrm>
              <a:off x="5514351" y="5891779"/>
              <a:ext cx="1983235" cy="584775"/>
            </a:xfrm>
            <a:prstGeom prst="rect">
              <a:avLst/>
            </a:prstGeom>
            <a:noFill/>
          </p:spPr>
          <p:txBody>
            <a:bodyPr wrap="none" rtlCol="0">
              <a:spAutoFit/>
            </a:bodyPr>
            <a:lstStyle/>
            <a:p>
              <a:pPr algn="ctr"/>
              <a:r>
                <a:rPr lang="en-US" sz="3200" dirty="0"/>
                <a:t>Operation</a:t>
              </a:r>
            </a:p>
          </p:txBody>
        </p:sp>
      </p:grpSp>
    </p:spTree>
    <p:extLst>
      <p:ext uri="{BB962C8B-B14F-4D97-AF65-F5344CB8AC3E}">
        <p14:creationId xmlns:p14="http://schemas.microsoft.com/office/powerpoint/2010/main" val="2061819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down)">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a:t>Project Management</a:t>
            </a:r>
            <a:endParaRPr lang="ko-KR" altLang="en-US" dirty="0"/>
          </a:p>
        </p:txBody>
      </p:sp>
      <p:sp>
        <p:nvSpPr>
          <p:cNvPr id="3" name="Content Placeholder 2"/>
          <p:cNvSpPr>
            <a:spLocks noGrp="1"/>
          </p:cNvSpPr>
          <p:nvPr>
            <p:ph type="body" sz="quarter" idx="10"/>
          </p:nvPr>
        </p:nvSpPr>
        <p:spPr/>
        <p:txBody>
          <a:bodyPr/>
          <a:lstStyle/>
          <a:p>
            <a:r>
              <a:rPr lang="en-US" dirty="0"/>
              <a:t>The process to oversee and control the development of an information system while staying within budget, adhering to the schedule, and aligning with business objectives</a:t>
            </a:r>
          </a:p>
          <a:p>
            <a:r>
              <a:rPr lang="en-US" dirty="0"/>
              <a:t>The key functionalities of project management</a:t>
            </a:r>
          </a:p>
          <a:p>
            <a:pPr lvl="1"/>
            <a:r>
              <a:rPr lang="en-US" dirty="0"/>
              <a:t>Defining project scope and objectives</a:t>
            </a:r>
          </a:p>
          <a:p>
            <a:pPr lvl="1"/>
            <a:r>
              <a:rPr lang="en-US" dirty="0"/>
              <a:t>Managing resources (Allocate resource, Balance workload)</a:t>
            </a:r>
          </a:p>
          <a:p>
            <a:pPr lvl="1"/>
            <a:r>
              <a:rPr lang="en-US" dirty="0"/>
              <a:t>Controlling timelines and budgets</a:t>
            </a:r>
          </a:p>
          <a:p>
            <a:pPr lvl="1"/>
            <a:r>
              <a:rPr lang="en-US" dirty="0"/>
              <a:t>Coordinating tasks (Define work breakdown structure, Monitor)</a:t>
            </a:r>
          </a:p>
          <a:p>
            <a:pPr lvl="1"/>
            <a:r>
              <a:rPr lang="en-US" dirty="0"/>
              <a:t>Mitigating risks and resolve issues</a:t>
            </a:r>
          </a:p>
          <a:p>
            <a:pPr lvl="1"/>
            <a:r>
              <a:rPr lang="en-US" dirty="0"/>
              <a:t>Facilitating communication (Translate technical concepts, Share progress status)</a:t>
            </a:r>
          </a:p>
          <a:p>
            <a:pPr lvl="1"/>
            <a:r>
              <a:rPr lang="en-US" dirty="0"/>
              <a:t>Ensuring quality</a:t>
            </a:r>
          </a:p>
          <a:p>
            <a:pPr lvl="1"/>
            <a:r>
              <a:rPr lang="en-US" dirty="0"/>
              <a:t>Managing changes</a:t>
            </a:r>
          </a:p>
        </p:txBody>
      </p:sp>
    </p:spTree>
    <p:extLst>
      <p:ext uri="{BB962C8B-B14F-4D97-AF65-F5344CB8AC3E}">
        <p14:creationId xmlns:p14="http://schemas.microsoft.com/office/powerpoint/2010/main" val="18455587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8184F-A3EF-03A2-278A-3744FEBFB108}"/>
              </a:ext>
            </a:extLst>
          </p:cNvPr>
          <p:cNvSpPr>
            <a:spLocks noGrp="1"/>
          </p:cNvSpPr>
          <p:nvPr>
            <p:ph type="title"/>
          </p:nvPr>
        </p:nvSpPr>
        <p:spPr/>
        <p:txBody>
          <a:bodyPr/>
          <a:lstStyle/>
          <a:p>
            <a:r>
              <a:rPr lang="en-KR" dirty="0"/>
              <a:t>Project Management Activities</a:t>
            </a:r>
          </a:p>
        </p:txBody>
      </p:sp>
      <p:sp>
        <p:nvSpPr>
          <p:cNvPr id="3" name="Text Placeholder 2">
            <a:extLst>
              <a:ext uri="{FF2B5EF4-FFF2-40B4-BE49-F238E27FC236}">
                <a16:creationId xmlns:a16="http://schemas.microsoft.com/office/drawing/2014/main" id="{8B841F01-CDCF-CF5A-C6B5-061DC0296166}"/>
              </a:ext>
            </a:extLst>
          </p:cNvPr>
          <p:cNvSpPr>
            <a:spLocks noGrp="1"/>
          </p:cNvSpPr>
          <p:nvPr>
            <p:ph type="body" sz="quarter" idx="10"/>
          </p:nvPr>
        </p:nvSpPr>
        <p:spPr/>
        <p:txBody>
          <a:bodyPr/>
          <a:lstStyle/>
          <a:p>
            <a:r>
              <a:rPr lang="en-US" b="1" dirty="0">
                <a:solidFill>
                  <a:srgbClr val="0432FF"/>
                </a:solidFill>
              </a:rPr>
              <a:t>Prompt</a:t>
            </a:r>
            <a:r>
              <a:rPr lang="en-KR" dirty="0"/>
              <a:t>: </a:t>
            </a:r>
            <a:r>
              <a:rPr lang="en-US" dirty="0"/>
              <a:t>Project management is the process of overseeing and controlling the development of an information system while staying within budget, adhering to the schedule, and aligning with business objectives. Please provide a complete list of project management activities and organize them into a few groups</a:t>
            </a:r>
          </a:p>
          <a:p>
            <a:pPr lvl="1"/>
            <a:r>
              <a:rPr lang="en-US" dirty="0"/>
              <a:t>During initiation, projects &amp; participants (PM, SA, etc.) are selected</a:t>
            </a:r>
          </a:p>
          <a:p>
            <a:pPr lvl="1"/>
            <a:r>
              <a:rPr lang="en-US" dirty="0"/>
              <a:t>During planning, the PM asks the SA to plan (estimate costs, times, resources, etc.)</a:t>
            </a:r>
          </a:p>
          <a:p>
            <a:pPr lvl="1"/>
            <a:r>
              <a:rPr lang="en-US" dirty="0"/>
              <a:t>During execution, the PM asks the SA to do the planned tasks at the scheduled time</a:t>
            </a:r>
          </a:p>
          <a:p>
            <a:pPr lvl="1"/>
            <a:r>
              <a:rPr lang="en-US" dirty="0"/>
              <a:t>During monitoring &amp; controlling, the PM adjusts costs, times, resources, etc.</a:t>
            </a:r>
          </a:p>
          <a:p>
            <a:pPr lvl="1"/>
            <a:r>
              <a:rPr lang="en-US" dirty="0"/>
              <a:t>During closing, the PM </a:t>
            </a:r>
          </a:p>
          <a:p>
            <a:r>
              <a:rPr lang="en-US" b="1" dirty="0">
                <a:solidFill>
                  <a:srgbClr val="0432FF"/>
                </a:solidFill>
              </a:rPr>
              <a:t>Prompt</a:t>
            </a:r>
            <a:r>
              <a:rPr lang="en-US" dirty="0"/>
              <a:t>: A project manager perform these activities by interacting with all stakeholders. Identify a list of stakeholders, and explain how a project manager interacts with them?</a:t>
            </a:r>
          </a:p>
        </p:txBody>
      </p:sp>
    </p:spTree>
    <p:extLst>
      <p:ext uri="{BB962C8B-B14F-4D97-AF65-F5344CB8AC3E}">
        <p14:creationId xmlns:p14="http://schemas.microsoft.com/office/powerpoint/2010/main" val="2941026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13ECD54-3010-8D07-2763-BFECDBB21F7F}"/>
              </a:ext>
            </a:extLst>
          </p:cNvPr>
          <p:cNvSpPr>
            <a:spLocks noGrp="1"/>
          </p:cNvSpPr>
          <p:nvPr>
            <p:ph type="title"/>
          </p:nvPr>
        </p:nvSpPr>
        <p:spPr/>
        <p:txBody>
          <a:bodyPr/>
          <a:lstStyle/>
          <a:p>
            <a:r>
              <a:rPr lang="en-KR" dirty="0"/>
              <a:t>Project Manager vs. System Analyst vs. Developer</a:t>
            </a:r>
          </a:p>
        </p:txBody>
      </p:sp>
      <p:sp>
        <p:nvSpPr>
          <p:cNvPr id="3" name="Text Placeholder 2">
            <a:extLst>
              <a:ext uri="{FF2B5EF4-FFF2-40B4-BE49-F238E27FC236}">
                <a16:creationId xmlns:a16="http://schemas.microsoft.com/office/drawing/2014/main" id="{A2B216FD-B7A2-8974-9B75-8D36E03203B9}"/>
              </a:ext>
            </a:extLst>
          </p:cNvPr>
          <p:cNvSpPr>
            <a:spLocks noGrp="1"/>
          </p:cNvSpPr>
          <p:nvPr>
            <p:ph type="body" sz="quarter" idx="10"/>
          </p:nvPr>
        </p:nvSpPr>
        <p:spPr/>
        <p:txBody>
          <a:bodyPr/>
          <a:lstStyle/>
          <a:p>
            <a:r>
              <a:rPr lang="en-US" b="1" dirty="0">
                <a:solidFill>
                  <a:srgbClr val="0432FF"/>
                </a:solidFill>
              </a:rPr>
              <a:t>Prompt</a:t>
            </a:r>
            <a:r>
              <a:rPr lang="en-US" dirty="0"/>
              <a:t>: It is assumed that a project manager interacts with both system analysts and software developers involved in the SDLC. Describe and illustrate their respective relationships in terms of their functionalities</a:t>
            </a:r>
            <a:endParaRPr lang="en-KR" dirty="0"/>
          </a:p>
          <a:p>
            <a:r>
              <a:rPr lang="en-US" dirty="0"/>
              <a:t>Note that a single person can assume all three stakeholder roles depending on the project's size, scope, and resource availability</a:t>
            </a:r>
          </a:p>
          <a:p>
            <a:pPr lvl="1"/>
            <a:r>
              <a:rPr lang="en-US" dirty="0"/>
              <a:t>In smaller projects, one person may be responsible for overseeing project management tasks, analyzing system requirements, and developing the actual system</a:t>
            </a:r>
          </a:p>
          <a:p>
            <a:pPr lvl="1"/>
            <a:r>
              <a:rPr lang="en-US" dirty="0"/>
              <a:t>This consolidation of roles can streamline communication and decision-making but may also pose challenges in balancing responsibilities and maintaining efficiency</a:t>
            </a:r>
            <a:endParaRPr lang="en-KR" dirty="0"/>
          </a:p>
        </p:txBody>
      </p:sp>
    </p:spTree>
    <p:extLst>
      <p:ext uri="{BB962C8B-B14F-4D97-AF65-F5344CB8AC3E}">
        <p14:creationId xmlns:p14="http://schemas.microsoft.com/office/powerpoint/2010/main" val="24896585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8E482-4E79-AFA4-3513-777898CA2D75}"/>
              </a:ext>
            </a:extLst>
          </p:cNvPr>
          <p:cNvSpPr>
            <a:spLocks noGrp="1"/>
          </p:cNvSpPr>
          <p:nvPr>
            <p:ph type="title"/>
          </p:nvPr>
        </p:nvSpPr>
        <p:spPr/>
        <p:txBody>
          <a:bodyPr/>
          <a:lstStyle/>
          <a:p>
            <a:r>
              <a:rPr lang="en-KR" dirty="0"/>
              <a:t>Initiation</a:t>
            </a:r>
          </a:p>
        </p:txBody>
      </p:sp>
    </p:spTree>
    <p:extLst>
      <p:ext uri="{BB962C8B-B14F-4D97-AF65-F5344CB8AC3E}">
        <p14:creationId xmlns:p14="http://schemas.microsoft.com/office/powerpoint/2010/main" val="4171804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468CA-8B22-B174-6AFF-A268220B971E}"/>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72335E73-214E-A666-E7C5-9DFAFCE7838E}"/>
              </a:ext>
            </a:extLst>
          </p:cNvPr>
          <p:cNvSpPr>
            <a:spLocks noGrp="1"/>
          </p:cNvSpPr>
          <p:nvPr>
            <p:ph type="title"/>
          </p:nvPr>
        </p:nvSpPr>
        <p:spPr/>
        <p:txBody>
          <a:bodyPr>
            <a:normAutofit/>
          </a:bodyPr>
          <a:lstStyle/>
          <a:p>
            <a:r>
              <a:rPr kumimoji="1" lang="en" altLang="ko-KR" dirty="0"/>
              <a:t>Developing the Project Charter</a:t>
            </a:r>
          </a:p>
        </p:txBody>
      </p:sp>
      <p:sp>
        <p:nvSpPr>
          <p:cNvPr id="4" name="내용 개체 틀 3">
            <a:extLst>
              <a:ext uri="{FF2B5EF4-FFF2-40B4-BE49-F238E27FC236}">
                <a16:creationId xmlns:a16="http://schemas.microsoft.com/office/drawing/2014/main" id="{977A6296-E1C8-634B-385A-AB1389840302}"/>
              </a:ext>
            </a:extLst>
          </p:cNvPr>
          <p:cNvSpPr>
            <a:spLocks noGrp="1"/>
          </p:cNvSpPr>
          <p:nvPr>
            <p:ph type="body" sz="quarter" idx="10"/>
          </p:nvPr>
        </p:nvSpPr>
        <p:spPr/>
        <p:txBody>
          <a:bodyPr>
            <a:normAutofit/>
          </a:bodyPr>
          <a:lstStyle/>
          <a:p>
            <a:r>
              <a:rPr kumimoji="1" lang="en" altLang="ko-KR" dirty="0"/>
              <a:t>A short (typically one page), high-level document prepared for the customer that describes deliverables and the critical information</a:t>
            </a:r>
          </a:p>
          <a:p>
            <a:r>
              <a:rPr kumimoji="1" lang="en" altLang="ko-KR" dirty="0"/>
              <a:t>Contents</a:t>
            </a:r>
          </a:p>
          <a:p>
            <a:pPr lvl="1"/>
            <a:r>
              <a:rPr kumimoji="1" lang="en" altLang="ko-KR" dirty="0"/>
              <a:t>Project title and date of authorization</a:t>
            </a:r>
          </a:p>
          <a:p>
            <a:pPr lvl="1"/>
            <a:r>
              <a:rPr kumimoji="1" lang="en" altLang="ko-KR" dirty="0"/>
              <a:t>Project manager name and contact</a:t>
            </a:r>
          </a:p>
          <a:p>
            <a:pPr lvl="1"/>
            <a:r>
              <a:rPr kumimoji="1" lang="en" altLang="ko-KR" dirty="0"/>
              <a:t>Customer name and contact</a:t>
            </a:r>
          </a:p>
          <a:p>
            <a:pPr lvl="1"/>
            <a:r>
              <a:rPr kumimoji="1" lang="en" altLang="ko-KR" dirty="0"/>
              <a:t>Projected start and completion dates</a:t>
            </a:r>
          </a:p>
          <a:p>
            <a:pPr lvl="1"/>
            <a:r>
              <a:rPr kumimoji="1" lang="en" altLang="ko-KR" dirty="0"/>
              <a:t>Key stakeholders, project role, and responsibilities</a:t>
            </a:r>
          </a:p>
          <a:p>
            <a:pPr lvl="1"/>
            <a:r>
              <a:rPr kumimoji="1" lang="en" altLang="ko-KR" dirty="0"/>
              <a:t>Project objectives and description</a:t>
            </a:r>
          </a:p>
          <a:p>
            <a:pPr lvl="1"/>
            <a:r>
              <a:rPr kumimoji="1" lang="en" altLang="ko-KR" dirty="0"/>
              <a:t>Key assumptions or approach</a:t>
            </a:r>
          </a:p>
          <a:p>
            <a:pPr lvl="1"/>
            <a:r>
              <a:rPr kumimoji="1" lang="en" altLang="ko-KR" dirty="0"/>
              <a:t>Signature section for key stakeholders</a:t>
            </a:r>
          </a:p>
        </p:txBody>
      </p:sp>
      <p:pic>
        <p:nvPicPr>
          <p:cNvPr id="5" name="Picture 2" descr="Six project initiation activities are as follows. 1. Establishing the Project Initiation Team. 2. Establishing a Relationship with the Customer. 3. Establishing the Project Initiation Plan. 4. Establishing the Management Procedures. 5. Establishing the Project Management Environment and Project Workbook. 6. Developing the Project Charter. ">
            <a:extLst>
              <a:ext uri="{FF2B5EF4-FFF2-40B4-BE49-F238E27FC236}">
                <a16:creationId xmlns:a16="http://schemas.microsoft.com/office/drawing/2014/main" id="{BAC16DEA-97AB-46D2-F6C3-46B44CFDEF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352" y="1628800"/>
            <a:ext cx="5215639" cy="36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a:extLst>
              <a:ext uri="{FF2B5EF4-FFF2-40B4-BE49-F238E27FC236}">
                <a16:creationId xmlns:a16="http://schemas.microsoft.com/office/drawing/2014/main" id="{FBC4084A-F15E-27A3-61EA-966B9D5CAF22}"/>
              </a:ext>
            </a:extLst>
          </p:cNvPr>
          <p:cNvSpPr/>
          <p:nvPr/>
        </p:nvSpPr>
        <p:spPr>
          <a:xfrm>
            <a:off x="191344" y="4725144"/>
            <a:ext cx="4752528" cy="50405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Tree>
    <p:extLst>
      <p:ext uri="{BB962C8B-B14F-4D97-AF65-F5344CB8AC3E}">
        <p14:creationId xmlns:p14="http://schemas.microsoft.com/office/powerpoint/2010/main" val="37717472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548945E-1A13-339F-4971-395DF59218C5}"/>
              </a:ext>
            </a:extLst>
          </p:cNvPr>
          <p:cNvSpPr>
            <a:spLocks noGrp="1"/>
          </p:cNvSpPr>
          <p:nvPr>
            <p:ph type="title"/>
          </p:nvPr>
        </p:nvSpPr>
        <p:spPr/>
        <p:txBody>
          <a:bodyPr>
            <a:normAutofit/>
          </a:bodyPr>
          <a:lstStyle/>
          <a:p>
            <a:r>
              <a:rPr kumimoji="1" lang="en-US" altLang="ko-KR" dirty="0"/>
              <a:t>PVF’s Project Charter</a:t>
            </a:r>
            <a:endParaRPr kumimoji="1" lang="ko-KR" altLang="en-US" dirty="0"/>
          </a:p>
        </p:txBody>
      </p:sp>
      <p:pic>
        <p:nvPicPr>
          <p:cNvPr id="5" name="Picture 2" descr="A P V F project charter document for proposed information systems project has the following header text. Pine Valley Furniture. Project Charter. Prepared on November 2, 2020. Horizontal separator line. Two fields with the corresponding entered text. Project Name, Customer Tracking System. Project Manager, Jim Woo, left parenthesis, j w o o, at symbol, p v f dot com, right parenthesis. Horizontal separator line. Three fields with the corresponding entered text. Customer, Marketing. Project Sponsor, Jackie Judson, left parenthesis, j j u d s o n, at symbol, p v f dot com, right parenthesis. Project Start slash End, left parenthesis, projected, right parenthesis, from October 2, 2020 to February 1, 2021. Horizontal separator line. Project Overview. This project will implement a customer tracking system for the marketing department. The purpose of this system is to automate the dot dot dot to save employee time, reduce errors, have more timely information dot dot dot. Horizontal separator line. Objectives. Minimize data entry errors. Provide more timely information. dot dot dot. Key Assumptions. System will be built in house. Interface will be a Web browser. System will access customer database. dot dot dot. A table, titled, stakeholders and responsibilities. The table has 5 rows and 4 columns. The columns have the following headings from left to right. Stakeholder, Role, Responsibility, Signature. The row entries are as follows. Row 1. Stakeholder, Jackie Judson. Role, V P Marketing. Responsibility, Project Vision, Resources. Signature, Jackie Judson. Row 2. Stakeholder, Alex Datta. Role, C I O. Responsibility, Monitoring, Resources. Signature, Alex Datta. Row 3. Stakeholder, Jim Woo. Role, Project Manager. Responsibility, Planning, Monitoring, Executing Project. Signature, Jim Woo. Row 4. Stakeholder, James Jordan. Role, Director of Sales. Responsibility, System Functionality. Signature, James Jordan. Row 5. Stakeholder, Mary Shide. Role, V P Human Resources. Responsibility, Staff Assignments. Signature, Mary Shide. ">
            <a:extLst>
              <a:ext uri="{FF2B5EF4-FFF2-40B4-BE49-F238E27FC236}">
                <a16:creationId xmlns:a16="http://schemas.microsoft.com/office/drawing/2014/main" id="{1DAB45DF-F0D7-8E19-A161-72E813CF87A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8152"/>
          <a:stretch/>
        </p:blipFill>
        <p:spPr bwMode="auto">
          <a:xfrm>
            <a:off x="6312024" y="1582789"/>
            <a:ext cx="5688632" cy="3692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descr="A P V F project charter document for proposed information systems project has the following header text. Pine Valley Furniture. Project Charter. Prepared on November 2, 2020. Horizontal separator line. Two fields with the corresponding entered text. Project Name, Customer Tracking System. Project Manager, Jim Woo, left parenthesis, j w o o, at symbol, p v f dot com, right parenthesis. Horizontal separator line. Three fields with the corresponding entered text. Customer, Marketing. Project Sponsor, Jackie Judson, left parenthesis, j j u d s o n, at symbol, p v f dot com, right parenthesis. Project Start slash End, left parenthesis, projected, right parenthesis, from October 2, 2020 to February 1, 2021. Horizontal separator line. Project Overview. This project will implement a customer tracking system for the marketing department. The purpose of this system is to automate the dot dot dot to save employee time, reduce errors, have more timely information dot dot dot. Horizontal separator line. Objectives. Minimize data entry errors. Provide more timely information. dot dot dot. Key Assumptions. System will be built in house. Interface will be a Web browser. System will access customer database. dot dot dot. A table, titled, stakeholders and responsibilities. The table has 5 rows and 4 columns. The columns have the following headings from left to right. Stakeholder, Role, Responsibility, Signature. The row entries are as follows. Row 1. Stakeholder, Jackie Judson. Role, V P Marketing. Responsibility, Project Vision, Resources. Signature, Jackie Judson. Row 2. Stakeholder, Alex Datta. Role, C I O. Responsibility, Monitoring, Resources. Signature, Alex Datta. Row 3. Stakeholder, Jim Woo. Role, Project Manager. Responsibility, Planning, Monitoring, Executing Project. Signature, Jim Woo. Row 4. Stakeholder, James Jordan. Role, Director of Sales. Responsibility, System Functionality. Signature, James Jordan. Row 5. Stakeholder, Mary Shide. Role, V P Human Resources. Responsibility, Staff Assignments. Signature, Mary Shide. ">
            <a:extLst>
              <a:ext uri="{FF2B5EF4-FFF2-40B4-BE49-F238E27FC236}">
                <a16:creationId xmlns:a16="http://schemas.microsoft.com/office/drawing/2014/main" id="{EDAC59C2-4D10-6F61-1791-909A0F05FCA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642"/>
          <a:stretch/>
        </p:blipFill>
        <p:spPr bwMode="auto">
          <a:xfrm>
            <a:off x="144016" y="1582789"/>
            <a:ext cx="5972618" cy="3690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96738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F77A7-3855-D502-5031-729DBCCD0B4E}"/>
              </a:ext>
            </a:extLst>
          </p:cNvPr>
          <p:cNvSpPr>
            <a:spLocks noGrp="1"/>
          </p:cNvSpPr>
          <p:nvPr>
            <p:ph type="title"/>
          </p:nvPr>
        </p:nvSpPr>
        <p:spPr/>
        <p:txBody>
          <a:bodyPr/>
          <a:lstStyle/>
          <a:p>
            <a:r>
              <a:rPr lang="en-US" dirty="0"/>
              <a:t>Planning</a:t>
            </a:r>
            <a:endParaRPr lang="en-KR" dirty="0"/>
          </a:p>
        </p:txBody>
      </p:sp>
    </p:spTree>
    <p:extLst>
      <p:ext uri="{BB962C8B-B14F-4D97-AF65-F5344CB8AC3E}">
        <p14:creationId xmlns:p14="http://schemas.microsoft.com/office/powerpoint/2010/main" val="10327376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60B66F-0FE2-8FC3-0FC9-2ECE5734BBB0}"/>
              </a:ext>
            </a:extLst>
          </p:cNvPr>
          <p:cNvSpPr>
            <a:spLocks noGrp="1"/>
          </p:cNvSpPr>
          <p:nvPr>
            <p:ph type="title"/>
          </p:nvPr>
        </p:nvSpPr>
        <p:spPr/>
        <p:txBody>
          <a:bodyPr/>
          <a:lstStyle/>
          <a:p>
            <a:r>
              <a:rPr lang="en-US" altLang="ko-KR" dirty="0"/>
              <a:t>Ten Project Planning Activities</a:t>
            </a:r>
            <a:endParaRPr lang="en-KR" dirty="0"/>
          </a:p>
        </p:txBody>
      </p:sp>
      <p:pic>
        <p:nvPicPr>
          <p:cNvPr id="4" name="Picture 3" descr="Ten project planning activities are as follows. 1. Describing project scope, alternatives, and feasibility. 2. Dividing the project into manageable tasks. 3. Estimating resources and creating a resource plan. 4. Developing a preliminary schedule. 5. Developing a communication plan. 6. Determining project standards and procedures. 7. Identifying and assessing the risk. 8. Creating a preliminary budget. 9. Developing a project scope statement. 10. Setting a baseline project plan. ">
            <a:extLst>
              <a:ext uri="{FF2B5EF4-FFF2-40B4-BE49-F238E27FC236}">
                <a16:creationId xmlns:a16="http://schemas.microsoft.com/office/drawing/2014/main" id="{1504F4BB-B563-B304-9EAA-8CAE69ACB679}"/>
              </a:ext>
            </a:extLst>
          </p:cNvPr>
          <p:cNvPicPr>
            <a:picLocks noChangeAspect="1"/>
          </p:cNvPicPr>
          <p:nvPr/>
        </p:nvPicPr>
        <p:blipFill>
          <a:blip r:embed="rId2">
            <a:extLst>
              <a:ext uri="{28A0092B-C50C-407E-A947-70E740481C1C}">
                <a14:useLocalDpi xmlns:a14="http://schemas.microsoft.com/office/drawing/2010/main" val="0"/>
              </a:ext>
            </a:extLst>
          </a:blip>
          <a:srcRect b="43310"/>
          <a:stretch/>
        </p:blipFill>
        <p:spPr>
          <a:xfrm>
            <a:off x="623392" y="1556792"/>
            <a:ext cx="5374022" cy="3456384"/>
          </a:xfrm>
          <a:prstGeom prst="rect">
            <a:avLst/>
          </a:prstGeom>
        </p:spPr>
      </p:pic>
      <p:pic>
        <p:nvPicPr>
          <p:cNvPr id="5" name="Picture 4" descr="Ten project planning activities are as follows. 1. Describing project scope, alternatives, and feasibility. 2. Dividing the project into manageable tasks. 3. Estimating resources and creating a resource plan. 4. Developing a preliminary schedule. 5. Developing a communication plan. 6. Determining project standards and procedures. 7. Identifying and assessing the risk. 8. Creating a preliminary budget. 9. Developing a project scope statement. 10. Setting a baseline project plan. ">
            <a:extLst>
              <a:ext uri="{FF2B5EF4-FFF2-40B4-BE49-F238E27FC236}">
                <a16:creationId xmlns:a16="http://schemas.microsoft.com/office/drawing/2014/main" id="{AA8556B2-91CA-DB8C-CC3A-9FBDE346FCA7}"/>
              </a:ext>
            </a:extLst>
          </p:cNvPr>
          <p:cNvPicPr>
            <a:picLocks noChangeAspect="1"/>
          </p:cNvPicPr>
          <p:nvPr/>
        </p:nvPicPr>
        <p:blipFill>
          <a:blip r:embed="rId2">
            <a:extLst>
              <a:ext uri="{28A0092B-C50C-407E-A947-70E740481C1C}">
                <a14:useLocalDpi xmlns:a14="http://schemas.microsoft.com/office/drawing/2010/main" val="0"/>
              </a:ext>
            </a:extLst>
          </a:blip>
          <a:srcRect t="57135"/>
          <a:stretch/>
        </p:blipFill>
        <p:spPr>
          <a:xfrm>
            <a:off x="5997414" y="2050510"/>
            <a:ext cx="5669120" cy="2756980"/>
          </a:xfrm>
          <a:prstGeom prst="rect">
            <a:avLst/>
          </a:prstGeom>
        </p:spPr>
      </p:pic>
    </p:spTree>
    <p:extLst>
      <p:ext uri="{BB962C8B-B14F-4D97-AF65-F5344CB8AC3E}">
        <p14:creationId xmlns:p14="http://schemas.microsoft.com/office/powerpoint/2010/main" val="4033200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6341E8-AA11-3583-5C7B-DB97E934ED99}"/>
              </a:ext>
            </a:extLst>
          </p:cNvPr>
          <p:cNvSpPr>
            <a:spLocks noGrp="1"/>
          </p:cNvSpPr>
          <p:nvPr>
            <p:ph type="title"/>
          </p:nvPr>
        </p:nvSpPr>
        <p:spPr/>
        <p:txBody>
          <a:bodyPr/>
          <a:lstStyle/>
          <a:p>
            <a:r>
              <a:rPr lang="en" altLang="ko-KR" dirty="0"/>
              <a:t>Dividing the Project into Manageable Tasks</a:t>
            </a:r>
            <a:endParaRPr lang="en-KR" dirty="0"/>
          </a:p>
        </p:txBody>
      </p:sp>
      <p:sp>
        <p:nvSpPr>
          <p:cNvPr id="3" name="Text Placeholder 2">
            <a:extLst>
              <a:ext uri="{FF2B5EF4-FFF2-40B4-BE49-F238E27FC236}">
                <a16:creationId xmlns:a16="http://schemas.microsoft.com/office/drawing/2014/main" id="{CA40D66F-DE8E-47EC-F3BE-CEE42D07FC90}"/>
              </a:ext>
            </a:extLst>
          </p:cNvPr>
          <p:cNvSpPr>
            <a:spLocks noGrp="1"/>
          </p:cNvSpPr>
          <p:nvPr>
            <p:ph type="body" sz="quarter" idx="10"/>
          </p:nvPr>
        </p:nvSpPr>
        <p:spPr/>
        <p:txBody>
          <a:bodyPr/>
          <a:lstStyle/>
          <a:p>
            <a:r>
              <a:rPr lang="en" altLang="ko-KR" dirty="0"/>
              <a:t>To divide the entire project into manageable tasks and build Work Breakdown Structure (WBS)</a:t>
            </a:r>
          </a:p>
          <a:p>
            <a:r>
              <a:rPr lang="en-IN" dirty="0"/>
              <a:t>Too much detail in task complicates project management, while too little detail obscures the project's status and task interdependencies</a:t>
            </a:r>
          </a:p>
          <a:p>
            <a:r>
              <a:rPr lang="en-IN" dirty="0"/>
              <a:t>Characteristics of a Task:</a:t>
            </a:r>
          </a:p>
          <a:p>
            <a:pPr lvl="1"/>
            <a:r>
              <a:rPr lang="en-IN" dirty="0"/>
              <a:t>Assignable</a:t>
            </a:r>
          </a:p>
          <a:p>
            <a:pPr lvl="1"/>
            <a:r>
              <a:rPr lang="en-IN" dirty="0"/>
              <a:t>Identifiable deliverables</a:t>
            </a:r>
          </a:p>
          <a:p>
            <a:pPr lvl="1"/>
            <a:r>
              <a:rPr lang="en-IN" dirty="0"/>
              <a:t>Known methodologies or techniques</a:t>
            </a:r>
          </a:p>
          <a:p>
            <a:pPr lvl="1"/>
            <a:r>
              <a:rPr lang="en-IN" dirty="0"/>
              <a:t>Defined predecessors and successors</a:t>
            </a:r>
          </a:p>
          <a:p>
            <a:pPr lvl="1"/>
            <a:r>
              <a:rPr lang="en-IN" dirty="0"/>
              <a:t>Measurability in terms of progress</a:t>
            </a:r>
          </a:p>
        </p:txBody>
      </p:sp>
      <p:pic>
        <p:nvPicPr>
          <p:cNvPr id="6" name="Picture 5" descr="Ten project planning activities are as follows. 1. Describing project scope, alternatives, and feasibility. 2. Dividing the project into manageable tasks. 3. Estimating resources and creating a resource plan. 4. Developing a preliminary schedule. 5. Developing a communication plan. 6. Determining project standards and procedures. 7. Identifying and assessing the risk. 8. Creating a preliminary budget. 9. Developing a project scope statement. 10. Setting a baseline project plan. ">
            <a:extLst>
              <a:ext uri="{FF2B5EF4-FFF2-40B4-BE49-F238E27FC236}">
                <a16:creationId xmlns:a16="http://schemas.microsoft.com/office/drawing/2014/main" id="{A3C2281C-7654-9B25-C397-8739A0094119}"/>
              </a:ext>
            </a:extLst>
          </p:cNvPr>
          <p:cNvPicPr>
            <a:picLocks noChangeAspect="1"/>
          </p:cNvPicPr>
          <p:nvPr/>
        </p:nvPicPr>
        <p:blipFill>
          <a:blip r:embed="rId2">
            <a:extLst>
              <a:ext uri="{28A0092B-C50C-407E-A947-70E740481C1C}">
                <a14:useLocalDpi xmlns:a14="http://schemas.microsoft.com/office/drawing/2010/main" val="0"/>
              </a:ext>
            </a:extLst>
          </a:blip>
          <a:srcRect b="43310"/>
          <a:stretch/>
        </p:blipFill>
        <p:spPr>
          <a:xfrm>
            <a:off x="263352" y="1700808"/>
            <a:ext cx="5374022" cy="3456384"/>
          </a:xfrm>
          <a:prstGeom prst="rect">
            <a:avLst/>
          </a:prstGeom>
        </p:spPr>
      </p:pic>
      <p:sp>
        <p:nvSpPr>
          <p:cNvPr id="7" name="Rectangle 6">
            <a:extLst>
              <a:ext uri="{FF2B5EF4-FFF2-40B4-BE49-F238E27FC236}">
                <a16:creationId xmlns:a16="http://schemas.microsoft.com/office/drawing/2014/main" id="{4C95742A-EC8F-E71D-6DF0-2EBE0700962D}"/>
              </a:ext>
            </a:extLst>
          </p:cNvPr>
          <p:cNvSpPr/>
          <p:nvPr/>
        </p:nvSpPr>
        <p:spPr>
          <a:xfrm>
            <a:off x="191344" y="2852936"/>
            <a:ext cx="5112568" cy="57606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Tree>
    <p:extLst>
      <p:ext uri="{BB962C8B-B14F-4D97-AF65-F5344CB8AC3E}">
        <p14:creationId xmlns:p14="http://schemas.microsoft.com/office/powerpoint/2010/main" val="39221856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1960334-A4AD-6CCC-1A7E-E09A01BEC138}"/>
              </a:ext>
            </a:extLst>
          </p:cNvPr>
          <p:cNvSpPr>
            <a:spLocks noGrp="1"/>
          </p:cNvSpPr>
          <p:nvPr>
            <p:ph type="title"/>
          </p:nvPr>
        </p:nvSpPr>
        <p:spPr/>
        <p:txBody>
          <a:bodyPr>
            <a:normAutofit/>
          </a:bodyPr>
          <a:lstStyle/>
          <a:p>
            <a:r>
              <a:rPr lang="en-US" altLang="ko-KR" dirty="0"/>
              <a:t>Example</a:t>
            </a:r>
            <a:r>
              <a:rPr lang="en" altLang="ko-KR" dirty="0"/>
              <a:t> of WBS </a:t>
            </a:r>
          </a:p>
        </p:txBody>
      </p:sp>
      <p:pic>
        <p:nvPicPr>
          <p:cNvPr id="9" name="Picture 8">
            <a:extLst>
              <a:ext uri="{FF2B5EF4-FFF2-40B4-BE49-F238E27FC236}">
                <a16:creationId xmlns:a16="http://schemas.microsoft.com/office/drawing/2014/main" id="{8D1A6E92-DCA0-4B57-E077-1CD2229BA5EE}"/>
              </a:ext>
            </a:extLst>
          </p:cNvPr>
          <p:cNvPicPr>
            <a:picLocks noChangeAspect="1"/>
          </p:cNvPicPr>
          <p:nvPr/>
        </p:nvPicPr>
        <p:blipFill>
          <a:blip r:embed="rId2"/>
          <a:stretch>
            <a:fillRect/>
          </a:stretch>
        </p:blipFill>
        <p:spPr>
          <a:xfrm>
            <a:off x="682078" y="1196752"/>
            <a:ext cx="10827843" cy="4035554"/>
          </a:xfrm>
          <a:prstGeom prst="rect">
            <a:avLst/>
          </a:prstGeom>
        </p:spPr>
      </p:pic>
      <p:sp>
        <p:nvSpPr>
          <p:cNvPr id="3" name="Rounded Rectangle 2">
            <a:extLst>
              <a:ext uri="{FF2B5EF4-FFF2-40B4-BE49-F238E27FC236}">
                <a16:creationId xmlns:a16="http://schemas.microsoft.com/office/drawing/2014/main" id="{08D9ADAB-3CAD-8AFE-0EB7-C38F7DF0C632}"/>
              </a:ext>
            </a:extLst>
          </p:cNvPr>
          <p:cNvSpPr/>
          <p:nvPr/>
        </p:nvSpPr>
        <p:spPr>
          <a:xfrm>
            <a:off x="525466" y="3212976"/>
            <a:ext cx="11141068" cy="2232248"/>
          </a:xfrm>
          <a:prstGeom prst="round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4" name="TextBox 3">
            <a:extLst>
              <a:ext uri="{FF2B5EF4-FFF2-40B4-BE49-F238E27FC236}">
                <a16:creationId xmlns:a16="http://schemas.microsoft.com/office/drawing/2014/main" id="{57A1751D-6277-4C1B-FAB8-65136E1A0E29}"/>
              </a:ext>
            </a:extLst>
          </p:cNvPr>
          <p:cNvSpPr txBox="1"/>
          <p:nvPr/>
        </p:nvSpPr>
        <p:spPr>
          <a:xfrm>
            <a:off x="4295800" y="5589240"/>
            <a:ext cx="2953373" cy="400110"/>
          </a:xfrm>
          <a:prstGeom prst="rect">
            <a:avLst/>
          </a:prstGeom>
          <a:noFill/>
        </p:spPr>
        <p:txBody>
          <a:bodyPr wrap="none" rtlCol="0">
            <a:spAutoFit/>
          </a:bodyPr>
          <a:lstStyle/>
          <a:p>
            <a:r>
              <a:rPr lang="en-US" sz="2000" b="1" dirty="0">
                <a:solidFill>
                  <a:srgbClr val="FF0000"/>
                </a:solidFill>
              </a:rPr>
              <a:t>Tasks to be sequenced</a:t>
            </a:r>
            <a:endParaRPr lang="en-KR" sz="2000" b="1" dirty="0">
              <a:solidFill>
                <a:srgbClr val="FF0000"/>
              </a:solidFill>
            </a:endParaRPr>
          </a:p>
        </p:txBody>
      </p:sp>
    </p:spTree>
    <p:extLst>
      <p:ext uri="{BB962C8B-B14F-4D97-AF65-F5344CB8AC3E}">
        <p14:creationId xmlns:p14="http://schemas.microsoft.com/office/powerpoint/2010/main" val="16155502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 altLang="ko-KR" dirty="0"/>
              <a:t>Task Sequence &amp; Network Diagram</a:t>
            </a:r>
            <a:endParaRPr lang="en-IN" dirty="0"/>
          </a:p>
        </p:txBody>
      </p:sp>
      <p:sp>
        <p:nvSpPr>
          <p:cNvPr id="3" name="Content Placeholder 2"/>
          <p:cNvSpPr>
            <a:spLocks noGrp="1"/>
          </p:cNvSpPr>
          <p:nvPr>
            <p:ph type="body" sz="quarter" idx="10"/>
          </p:nvPr>
        </p:nvSpPr>
        <p:spPr/>
        <p:txBody>
          <a:bodyPr>
            <a:normAutofit/>
          </a:bodyPr>
          <a:lstStyle/>
          <a:p>
            <a:r>
              <a:rPr lang="en" altLang="ko-KR" dirty="0"/>
              <a:t>Determining task sequence depends on the interdependencies of tasks, the availability of critical resources, client-imposed constraints</a:t>
            </a:r>
          </a:p>
          <a:p>
            <a:r>
              <a:rPr lang="en-US" altLang="ko-KR" dirty="0">
                <a:latin typeface="Malgun Gothic" charset="-127"/>
                <a:ea typeface="Malgun Gothic" charset="-127"/>
                <a:cs typeface="Malgun Gothic" charset="-127"/>
              </a:rPr>
              <a:t>Network diagram</a:t>
            </a:r>
          </a:p>
          <a:p>
            <a:pPr lvl="1"/>
            <a:r>
              <a:rPr lang="en-US" altLang="ko-KR" dirty="0">
                <a:solidFill>
                  <a:srgbClr val="FF0000"/>
                </a:solidFill>
                <a:latin typeface="Malgun Gothic" charset="-127"/>
                <a:ea typeface="Malgun Gothic" charset="-127"/>
                <a:cs typeface="Malgun Gothic" charset="-127"/>
              </a:rPr>
              <a:t>Nodes</a:t>
            </a:r>
            <a:r>
              <a:rPr lang="en-US" altLang="ko-KR" dirty="0">
                <a:latin typeface="Malgun Gothic" charset="-127"/>
                <a:ea typeface="Malgun Gothic" charset="-127"/>
                <a:cs typeface="Malgun Gothic" charset="-127"/>
              </a:rPr>
              <a:t> represent tasks</a:t>
            </a:r>
          </a:p>
          <a:p>
            <a:pPr lvl="1"/>
            <a:r>
              <a:rPr lang="en-US" altLang="ko-KR" dirty="0">
                <a:solidFill>
                  <a:srgbClr val="FF0000"/>
                </a:solidFill>
                <a:latin typeface="Malgun Gothic" charset="-127"/>
                <a:ea typeface="Malgun Gothic" charset="-127"/>
                <a:cs typeface="Malgun Gothic" charset="-127"/>
              </a:rPr>
              <a:t>Arrows</a:t>
            </a:r>
            <a:r>
              <a:rPr lang="en-US" altLang="ko-KR" dirty="0">
                <a:latin typeface="Malgun Gothic" charset="-127"/>
                <a:ea typeface="Malgun Gothic" charset="-127"/>
                <a:cs typeface="Malgun Gothic" charset="-127"/>
              </a:rPr>
              <a:t> connect nodes, thus creating a logical relationship between these tasks</a:t>
            </a:r>
          </a:p>
          <a:p>
            <a:pPr lvl="1"/>
            <a:r>
              <a:rPr lang="en-US" altLang="ko-KR" dirty="0">
                <a:latin typeface="Malgun Gothic" charset="-127"/>
                <a:ea typeface="Malgun Gothic" charset="-127"/>
                <a:cs typeface="Malgun Gothic" charset="-127"/>
              </a:rPr>
              <a:t>E.g., ‘Function design’ must finish before ‘Module definition’ starts</a:t>
            </a:r>
          </a:p>
          <a:p>
            <a:pPr lvl="1"/>
            <a:r>
              <a:rPr lang="en-US" altLang="ko-KR" dirty="0">
                <a:latin typeface="Malgun Gothic" charset="-127"/>
                <a:ea typeface="Malgun Gothic" charset="-127"/>
                <a:cs typeface="Malgun Gothic" charset="-127"/>
              </a:rPr>
              <a:t>E.g., ‘Function design’ and ‘System design’ have no precedence</a:t>
            </a:r>
          </a:p>
          <a:p>
            <a:pPr lvl="1"/>
            <a:r>
              <a:rPr lang="en-US" altLang="ko-KR" dirty="0">
                <a:latin typeface="Malgun Gothic" charset="-127"/>
                <a:ea typeface="Malgun Gothic" charset="-127"/>
                <a:cs typeface="Malgun Gothic" charset="-127"/>
              </a:rPr>
              <a:t>E.g., Both ‘Module definition’ and ‘Interface definition’ must finish before ‘Program coding’ starts</a:t>
            </a:r>
          </a:p>
        </p:txBody>
      </p:sp>
      <p:grpSp>
        <p:nvGrpSpPr>
          <p:cNvPr id="75" name="Group 74">
            <a:extLst>
              <a:ext uri="{FF2B5EF4-FFF2-40B4-BE49-F238E27FC236}">
                <a16:creationId xmlns:a16="http://schemas.microsoft.com/office/drawing/2014/main" id="{04E5B05C-BE12-6DA2-6209-CDBF7AD2C74B}"/>
              </a:ext>
            </a:extLst>
          </p:cNvPr>
          <p:cNvGrpSpPr/>
          <p:nvPr/>
        </p:nvGrpSpPr>
        <p:grpSpPr>
          <a:xfrm>
            <a:off x="499398" y="4797152"/>
            <a:ext cx="11167136" cy="1523794"/>
            <a:chOff x="498430" y="3115489"/>
            <a:chExt cx="11167136" cy="1523794"/>
          </a:xfrm>
        </p:grpSpPr>
        <p:sp>
          <p:nvSpPr>
            <p:cNvPr id="4" name="Rounded Rectangle 3">
              <a:extLst>
                <a:ext uri="{FF2B5EF4-FFF2-40B4-BE49-F238E27FC236}">
                  <a16:creationId xmlns:a16="http://schemas.microsoft.com/office/drawing/2014/main" id="{29B0B99C-8E8A-1BFE-8DF0-46F0220499F2}"/>
                </a:ext>
              </a:extLst>
            </p:cNvPr>
            <p:cNvSpPr/>
            <p:nvPr/>
          </p:nvSpPr>
          <p:spPr>
            <a:xfrm>
              <a:off x="498430" y="3612444"/>
              <a:ext cx="1008112"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KR" sz="1200" dirty="0">
                  <a:solidFill>
                    <a:schemeClr val="tx1"/>
                  </a:solidFill>
                </a:rPr>
                <a:t>Initial requirements</a:t>
              </a:r>
            </a:p>
          </p:txBody>
        </p:sp>
        <p:sp>
          <p:nvSpPr>
            <p:cNvPr id="7" name="Rounded Rectangle 6">
              <a:extLst>
                <a:ext uri="{FF2B5EF4-FFF2-40B4-BE49-F238E27FC236}">
                  <a16:creationId xmlns:a16="http://schemas.microsoft.com/office/drawing/2014/main" id="{82424AE2-5EBE-AF5D-AF64-A416219D9625}"/>
                </a:ext>
              </a:extLst>
            </p:cNvPr>
            <p:cNvSpPr/>
            <p:nvPr/>
          </p:nvSpPr>
          <p:spPr>
            <a:xfrm>
              <a:off x="1760329" y="3620439"/>
              <a:ext cx="1008112"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KR" sz="1200" dirty="0">
                  <a:solidFill>
                    <a:schemeClr val="tx1"/>
                  </a:solidFill>
                </a:rPr>
                <a:t>Detailed requirements</a:t>
              </a:r>
            </a:p>
          </p:txBody>
        </p:sp>
        <p:sp>
          <p:nvSpPr>
            <p:cNvPr id="8" name="Rounded Rectangle 7">
              <a:extLst>
                <a:ext uri="{FF2B5EF4-FFF2-40B4-BE49-F238E27FC236}">
                  <a16:creationId xmlns:a16="http://schemas.microsoft.com/office/drawing/2014/main" id="{D80CCB38-2D40-02FC-0F53-C2D5DE5CF4F5}"/>
                </a:ext>
              </a:extLst>
            </p:cNvPr>
            <p:cNvSpPr/>
            <p:nvPr/>
          </p:nvSpPr>
          <p:spPr>
            <a:xfrm>
              <a:off x="3147311" y="3116393"/>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KR" sz="1200" dirty="0">
                  <a:solidFill>
                    <a:schemeClr val="tx1"/>
                  </a:solidFill>
                </a:rPr>
                <a:t>Function design</a:t>
              </a:r>
            </a:p>
          </p:txBody>
        </p:sp>
        <p:sp>
          <p:nvSpPr>
            <p:cNvPr id="9" name="Rounded Rectangle 8">
              <a:extLst>
                <a:ext uri="{FF2B5EF4-FFF2-40B4-BE49-F238E27FC236}">
                  <a16:creationId xmlns:a16="http://schemas.microsoft.com/office/drawing/2014/main" id="{8A74A740-F727-18FC-FAF6-0B63C7175CDB}"/>
                </a:ext>
              </a:extLst>
            </p:cNvPr>
            <p:cNvSpPr/>
            <p:nvPr/>
          </p:nvSpPr>
          <p:spPr>
            <a:xfrm>
              <a:off x="3147311" y="4124495"/>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KR" sz="1200" dirty="0">
                  <a:solidFill>
                    <a:schemeClr val="tx1"/>
                  </a:solidFill>
                </a:rPr>
                <a:t>System design</a:t>
              </a:r>
            </a:p>
          </p:txBody>
        </p:sp>
        <p:sp>
          <p:nvSpPr>
            <p:cNvPr id="10" name="Rounded Rectangle 9">
              <a:extLst>
                <a:ext uri="{FF2B5EF4-FFF2-40B4-BE49-F238E27FC236}">
                  <a16:creationId xmlns:a16="http://schemas.microsoft.com/office/drawing/2014/main" id="{79A55BD0-3C89-B3AF-804C-7A71A3433CC4}"/>
                </a:ext>
              </a:extLst>
            </p:cNvPr>
            <p:cNvSpPr/>
            <p:nvPr/>
          </p:nvSpPr>
          <p:spPr>
            <a:xfrm>
              <a:off x="4143867" y="3115489"/>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Module definition</a:t>
              </a:r>
              <a:endParaRPr lang="en-KR" sz="1200" dirty="0">
                <a:solidFill>
                  <a:schemeClr val="tx1"/>
                </a:solidFill>
              </a:endParaRPr>
            </a:p>
          </p:txBody>
        </p:sp>
        <p:sp>
          <p:nvSpPr>
            <p:cNvPr id="11" name="Rounded Rectangle 10">
              <a:extLst>
                <a:ext uri="{FF2B5EF4-FFF2-40B4-BE49-F238E27FC236}">
                  <a16:creationId xmlns:a16="http://schemas.microsoft.com/office/drawing/2014/main" id="{085E4495-4E11-95AD-2C90-280924AB0787}"/>
                </a:ext>
              </a:extLst>
            </p:cNvPr>
            <p:cNvSpPr/>
            <p:nvPr/>
          </p:nvSpPr>
          <p:spPr>
            <a:xfrm>
              <a:off x="4121290" y="4124495"/>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Interface definition</a:t>
              </a:r>
              <a:endParaRPr lang="en-KR" sz="1200" dirty="0">
                <a:solidFill>
                  <a:schemeClr val="tx1"/>
                </a:solidFill>
              </a:endParaRPr>
            </a:p>
          </p:txBody>
        </p:sp>
        <p:sp>
          <p:nvSpPr>
            <p:cNvPr id="12" name="Rounded Rectangle 11">
              <a:extLst>
                <a:ext uri="{FF2B5EF4-FFF2-40B4-BE49-F238E27FC236}">
                  <a16:creationId xmlns:a16="http://schemas.microsoft.com/office/drawing/2014/main" id="{98A8715F-0437-6D9A-4018-EEF63CE00361}"/>
                </a:ext>
              </a:extLst>
            </p:cNvPr>
            <p:cNvSpPr/>
            <p:nvPr/>
          </p:nvSpPr>
          <p:spPr>
            <a:xfrm>
              <a:off x="5217319" y="3631171"/>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Program coding</a:t>
              </a:r>
              <a:endParaRPr lang="en-KR" sz="1200" dirty="0">
                <a:solidFill>
                  <a:schemeClr val="tx1"/>
                </a:solidFill>
              </a:endParaRPr>
            </a:p>
          </p:txBody>
        </p:sp>
        <p:sp>
          <p:nvSpPr>
            <p:cNvPr id="13" name="Rounded Rectangle 12">
              <a:extLst>
                <a:ext uri="{FF2B5EF4-FFF2-40B4-BE49-F238E27FC236}">
                  <a16:creationId xmlns:a16="http://schemas.microsoft.com/office/drawing/2014/main" id="{16ED8D41-C52B-A256-28AB-99593527F090}"/>
                </a:ext>
              </a:extLst>
            </p:cNvPr>
            <p:cNvSpPr/>
            <p:nvPr/>
          </p:nvSpPr>
          <p:spPr>
            <a:xfrm>
              <a:off x="6209624" y="3631171"/>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Internal test</a:t>
              </a:r>
              <a:endParaRPr lang="en-KR" sz="1200" dirty="0">
                <a:solidFill>
                  <a:schemeClr val="tx1"/>
                </a:solidFill>
              </a:endParaRPr>
            </a:p>
          </p:txBody>
        </p:sp>
        <p:sp>
          <p:nvSpPr>
            <p:cNvPr id="14" name="Rounded Rectangle 13">
              <a:extLst>
                <a:ext uri="{FF2B5EF4-FFF2-40B4-BE49-F238E27FC236}">
                  <a16:creationId xmlns:a16="http://schemas.microsoft.com/office/drawing/2014/main" id="{D3DDD632-F48B-8B44-C6CD-8A30EB971530}"/>
                </a:ext>
              </a:extLst>
            </p:cNvPr>
            <p:cNvSpPr/>
            <p:nvPr/>
          </p:nvSpPr>
          <p:spPr>
            <a:xfrm>
              <a:off x="7181166" y="3631171"/>
              <a:ext cx="90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Integration test</a:t>
              </a:r>
              <a:endParaRPr lang="en-KR" sz="1200" dirty="0">
                <a:solidFill>
                  <a:schemeClr val="tx1"/>
                </a:solidFill>
              </a:endParaRPr>
            </a:p>
          </p:txBody>
        </p:sp>
        <p:sp>
          <p:nvSpPr>
            <p:cNvPr id="15" name="Rounded Rectangle 14">
              <a:extLst>
                <a:ext uri="{FF2B5EF4-FFF2-40B4-BE49-F238E27FC236}">
                  <a16:creationId xmlns:a16="http://schemas.microsoft.com/office/drawing/2014/main" id="{97E452D3-63A0-7A49-E912-EBDC8B291456}"/>
                </a:ext>
              </a:extLst>
            </p:cNvPr>
            <p:cNvSpPr/>
            <p:nvPr/>
          </p:nvSpPr>
          <p:spPr>
            <a:xfrm>
              <a:off x="8335558" y="3631171"/>
              <a:ext cx="90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Report generation</a:t>
              </a:r>
              <a:endParaRPr lang="en-KR" sz="1200" dirty="0">
                <a:solidFill>
                  <a:schemeClr val="tx1"/>
                </a:solidFill>
              </a:endParaRPr>
            </a:p>
          </p:txBody>
        </p:sp>
        <p:sp>
          <p:nvSpPr>
            <p:cNvPr id="16" name="Rounded Rectangle 15">
              <a:extLst>
                <a:ext uri="{FF2B5EF4-FFF2-40B4-BE49-F238E27FC236}">
                  <a16:creationId xmlns:a16="http://schemas.microsoft.com/office/drawing/2014/main" id="{BBE6F201-9E58-C6E7-E8DB-8DE488CF7556}"/>
                </a:ext>
              </a:extLst>
            </p:cNvPr>
            <p:cNvSpPr/>
            <p:nvPr/>
          </p:nvSpPr>
          <p:spPr>
            <a:xfrm>
              <a:off x="9611587" y="3134216"/>
              <a:ext cx="90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Software installment</a:t>
              </a:r>
              <a:endParaRPr lang="en-KR" sz="1200" dirty="0">
                <a:solidFill>
                  <a:schemeClr val="tx1"/>
                </a:solidFill>
              </a:endParaRPr>
            </a:p>
          </p:txBody>
        </p:sp>
        <p:sp>
          <p:nvSpPr>
            <p:cNvPr id="17" name="Rounded Rectangle 16">
              <a:extLst>
                <a:ext uri="{FF2B5EF4-FFF2-40B4-BE49-F238E27FC236}">
                  <a16:creationId xmlns:a16="http://schemas.microsoft.com/office/drawing/2014/main" id="{582C796A-4F3B-3EC2-8E46-7087176A97A8}"/>
                </a:ext>
              </a:extLst>
            </p:cNvPr>
            <p:cNvSpPr/>
            <p:nvPr/>
          </p:nvSpPr>
          <p:spPr>
            <a:xfrm>
              <a:off x="10765566" y="3134216"/>
              <a:ext cx="90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System integration</a:t>
              </a:r>
              <a:endParaRPr lang="en-KR" sz="1200" dirty="0">
                <a:solidFill>
                  <a:schemeClr val="tx1"/>
                </a:solidFill>
              </a:endParaRPr>
            </a:p>
          </p:txBody>
        </p:sp>
        <p:sp>
          <p:nvSpPr>
            <p:cNvPr id="18" name="Rounded Rectangle 17">
              <a:extLst>
                <a:ext uri="{FF2B5EF4-FFF2-40B4-BE49-F238E27FC236}">
                  <a16:creationId xmlns:a16="http://schemas.microsoft.com/office/drawing/2014/main" id="{22B3A681-E5B6-A140-4511-B05AF0161661}"/>
                </a:ext>
              </a:extLst>
            </p:cNvPr>
            <p:cNvSpPr/>
            <p:nvPr/>
          </p:nvSpPr>
          <p:spPr>
            <a:xfrm>
              <a:off x="9611587" y="4135227"/>
              <a:ext cx="90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Training</a:t>
              </a:r>
              <a:endParaRPr lang="en-KR" sz="1200" dirty="0">
                <a:solidFill>
                  <a:schemeClr val="tx1"/>
                </a:solidFill>
              </a:endParaRPr>
            </a:p>
          </p:txBody>
        </p:sp>
        <p:cxnSp>
          <p:nvCxnSpPr>
            <p:cNvPr id="20" name="Straight Arrow Connector 19">
              <a:extLst>
                <a:ext uri="{FF2B5EF4-FFF2-40B4-BE49-F238E27FC236}">
                  <a16:creationId xmlns:a16="http://schemas.microsoft.com/office/drawing/2014/main" id="{EAA7F43F-9436-C408-60CB-1ED356DD34B8}"/>
                </a:ext>
              </a:extLst>
            </p:cNvPr>
            <p:cNvCxnSpPr>
              <a:stCxn id="4" idx="3"/>
              <a:endCxn id="7" idx="1"/>
            </p:cNvCxnSpPr>
            <p:nvPr/>
          </p:nvCxnSpPr>
          <p:spPr>
            <a:xfrm>
              <a:off x="1506542" y="3864472"/>
              <a:ext cx="253787" cy="79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4BADAF0-AB22-72BA-82FB-6AE14EB554AE}"/>
                </a:ext>
              </a:extLst>
            </p:cNvPr>
            <p:cNvCxnSpPr>
              <a:cxnSpLocks/>
              <a:stCxn id="12" idx="3"/>
              <a:endCxn id="13" idx="1"/>
            </p:cNvCxnSpPr>
            <p:nvPr/>
          </p:nvCxnSpPr>
          <p:spPr>
            <a:xfrm>
              <a:off x="5937319" y="3883199"/>
              <a:ext cx="27230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C7B5D93-74F0-7B8D-6C36-5EE72D6923B4}"/>
                </a:ext>
              </a:extLst>
            </p:cNvPr>
            <p:cNvCxnSpPr>
              <a:cxnSpLocks/>
              <a:stCxn id="13" idx="3"/>
              <a:endCxn id="14" idx="1"/>
            </p:cNvCxnSpPr>
            <p:nvPr/>
          </p:nvCxnSpPr>
          <p:spPr>
            <a:xfrm>
              <a:off x="6929624" y="3883199"/>
              <a:ext cx="25154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4D5B03F-3021-D828-6802-F807B41B8792}"/>
                </a:ext>
              </a:extLst>
            </p:cNvPr>
            <p:cNvCxnSpPr>
              <a:cxnSpLocks/>
              <a:stCxn id="14" idx="3"/>
              <a:endCxn id="15" idx="1"/>
            </p:cNvCxnSpPr>
            <p:nvPr/>
          </p:nvCxnSpPr>
          <p:spPr>
            <a:xfrm>
              <a:off x="8081166" y="3883199"/>
              <a:ext cx="25439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E10570CF-1846-65F2-FDDD-309A6B2590C0}"/>
                </a:ext>
              </a:extLst>
            </p:cNvPr>
            <p:cNvCxnSpPr>
              <a:cxnSpLocks/>
              <a:stCxn id="8" idx="3"/>
              <a:endCxn id="10" idx="1"/>
            </p:cNvCxnSpPr>
            <p:nvPr/>
          </p:nvCxnSpPr>
          <p:spPr>
            <a:xfrm flipV="1">
              <a:off x="3867311" y="3367517"/>
              <a:ext cx="276556" cy="9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582A3F60-E93B-50E7-CC6D-DE80E02921D3}"/>
                </a:ext>
              </a:extLst>
            </p:cNvPr>
            <p:cNvCxnSpPr>
              <a:cxnSpLocks/>
              <a:stCxn id="9" idx="3"/>
              <a:endCxn id="11" idx="1"/>
            </p:cNvCxnSpPr>
            <p:nvPr/>
          </p:nvCxnSpPr>
          <p:spPr>
            <a:xfrm>
              <a:off x="3867311" y="4376523"/>
              <a:ext cx="25397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537625DE-5A65-662A-68E9-0B2D2284F495}"/>
                </a:ext>
              </a:extLst>
            </p:cNvPr>
            <p:cNvCxnSpPr>
              <a:cxnSpLocks/>
              <a:stCxn id="16" idx="3"/>
              <a:endCxn id="17" idx="1"/>
            </p:cNvCxnSpPr>
            <p:nvPr/>
          </p:nvCxnSpPr>
          <p:spPr>
            <a:xfrm>
              <a:off x="10511587" y="3386244"/>
              <a:ext cx="25397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8AC8987F-37F3-84F4-33E9-1750F0E4533A}"/>
                </a:ext>
              </a:extLst>
            </p:cNvPr>
            <p:cNvCxnSpPr>
              <a:stCxn id="7" idx="3"/>
              <a:endCxn id="8" idx="1"/>
            </p:cNvCxnSpPr>
            <p:nvPr/>
          </p:nvCxnSpPr>
          <p:spPr>
            <a:xfrm flipV="1">
              <a:off x="2768441" y="3368421"/>
              <a:ext cx="378870" cy="504046"/>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A659B01B-7B67-6E66-1974-3A301F56FFF4}"/>
                </a:ext>
              </a:extLst>
            </p:cNvPr>
            <p:cNvCxnSpPr>
              <a:cxnSpLocks/>
              <a:stCxn id="7" idx="3"/>
              <a:endCxn id="9" idx="1"/>
            </p:cNvCxnSpPr>
            <p:nvPr/>
          </p:nvCxnSpPr>
          <p:spPr>
            <a:xfrm>
              <a:off x="2768441" y="3872467"/>
              <a:ext cx="378870" cy="504056"/>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Elbow Connector 43">
              <a:extLst>
                <a:ext uri="{FF2B5EF4-FFF2-40B4-BE49-F238E27FC236}">
                  <a16:creationId xmlns:a16="http://schemas.microsoft.com/office/drawing/2014/main" id="{C3346C6E-4209-02D8-3A22-EDE686E2BA9A}"/>
                </a:ext>
              </a:extLst>
            </p:cNvPr>
            <p:cNvCxnSpPr>
              <a:cxnSpLocks/>
              <a:stCxn id="10" idx="3"/>
              <a:endCxn id="12" idx="1"/>
            </p:cNvCxnSpPr>
            <p:nvPr/>
          </p:nvCxnSpPr>
          <p:spPr>
            <a:xfrm>
              <a:off x="4863867" y="3367517"/>
              <a:ext cx="353452" cy="515682"/>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Elbow Connector 46">
              <a:extLst>
                <a:ext uri="{FF2B5EF4-FFF2-40B4-BE49-F238E27FC236}">
                  <a16:creationId xmlns:a16="http://schemas.microsoft.com/office/drawing/2014/main" id="{7A9977C0-4B4D-65E5-58C6-64D9AF10A0B5}"/>
                </a:ext>
              </a:extLst>
            </p:cNvPr>
            <p:cNvCxnSpPr>
              <a:cxnSpLocks/>
              <a:stCxn id="11" idx="3"/>
              <a:endCxn id="12" idx="1"/>
            </p:cNvCxnSpPr>
            <p:nvPr/>
          </p:nvCxnSpPr>
          <p:spPr>
            <a:xfrm flipV="1">
              <a:off x="4841290" y="3883199"/>
              <a:ext cx="376029" cy="493324"/>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Elbow Connector 49">
              <a:extLst>
                <a:ext uri="{FF2B5EF4-FFF2-40B4-BE49-F238E27FC236}">
                  <a16:creationId xmlns:a16="http://schemas.microsoft.com/office/drawing/2014/main" id="{1B100C2C-3501-0831-4BCC-0AFD5416C1BA}"/>
                </a:ext>
              </a:extLst>
            </p:cNvPr>
            <p:cNvCxnSpPr>
              <a:cxnSpLocks/>
              <a:stCxn id="15" idx="3"/>
              <a:endCxn id="16" idx="1"/>
            </p:cNvCxnSpPr>
            <p:nvPr/>
          </p:nvCxnSpPr>
          <p:spPr>
            <a:xfrm flipV="1">
              <a:off x="9235558" y="3386244"/>
              <a:ext cx="376029" cy="496955"/>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Elbow Connector 52">
              <a:extLst>
                <a:ext uri="{FF2B5EF4-FFF2-40B4-BE49-F238E27FC236}">
                  <a16:creationId xmlns:a16="http://schemas.microsoft.com/office/drawing/2014/main" id="{3C6487B2-EF44-1DFA-ADBC-96EA13E362E4}"/>
                </a:ext>
              </a:extLst>
            </p:cNvPr>
            <p:cNvCxnSpPr>
              <a:cxnSpLocks/>
              <a:stCxn id="15" idx="3"/>
              <a:endCxn id="18" idx="1"/>
            </p:cNvCxnSpPr>
            <p:nvPr/>
          </p:nvCxnSpPr>
          <p:spPr>
            <a:xfrm>
              <a:off x="9235558" y="3883199"/>
              <a:ext cx="376029" cy="504056"/>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947329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altLang="ko-KR" dirty="0"/>
              <a:t>Three-Point Duration Estimation</a:t>
            </a:r>
          </a:p>
        </p:txBody>
      </p:sp>
      <mc:AlternateContent xmlns:mc="http://schemas.openxmlformats.org/markup-compatibility/2006" xmlns:a14="http://schemas.microsoft.com/office/drawing/2010/main">
        <mc:Choice Requires="a14">
          <p:sp>
            <p:nvSpPr>
              <p:cNvPr id="6" name="Content Placeholder 5"/>
              <p:cNvSpPr>
                <a:spLocks noGrp="1"/>
              </p:cNvSpPr>
              <p:nvPr>
                <p:ph type="body" sz="quarter" idx="10"/>
              </p:nvPr>
            </p:nvSpPr>
            <p:spPr/>
            <p:txBody>
              <a:bodyPr/>
              <a:lstStyle/>
              <a:p>
                <a:r>
                  <a:rPr lang="en-US" altLang="ko-KR" dirty="0"/>
                  <a:t>A technique where a project manager estimates the duration of a task by considering three different scenarios</a:t>
                </a:r>
              </a:p>
              <a:p>
                <a:pPr lvl="1"/>
                <a:r>
                  <a:rPr lang="en-US" altLang="ko-KR" dirty="0"/>
                  <a:t>O: an optimistic estimate (best-case)</a:t>
                </a:r>
              </a:p>
              <a:p>
                <a:pPr lvl="1"/>
                <a:r>
                  <a:rPr lang="en-US" altLang="ko-KR" dirty="0"/>
                  <a:t>M: a most likely estimate (typical scenario)</a:t>
                </a:r>
              </a:p>
              <a:p>
                <a:pPr lvl="1"/>
                <a:r>
                  <a:rPr lang="en-US" altLang="ko-KR" dirty="0"/>
                  <a:t>P: a pessimistic estimate (worst-case)</a:t>
                </a:r>
              </a:p>
              <a:p>
                <a:r>
                  <a:rPr lang="en-US" altLang="ko-KR" dirty="0"/>
                  <a:t>The PERT (Program Evaluation and Review Technique) formula</a:t>
                </a:r>
              </a:p>
              <a:p>
                <a:pPr lvl="1"/>
                <a14:m>
                  <m:oMath xmlns:m="http://schemas.openxmlformats.org/officeDocument/2006/math">
                    <m:r>
                      <a:rPr lang="en-US" i="1" smtClean="0">
                        <a:latin typeface="Cambria Math" charset="0"/>
                      </a:rPr>
                      <m:t>𝑡</m:t>
                    </m:r>
                    <m:r>
                      <a:rPr lang="en-US" i="1">
                        <a:latin typeface="Cambria Math"/>
                      </a:rPr>
                      <m:t>=</m:t>
                    </m:r>
                    <m:f>
                      <m:fPr>
                        <m:ctrlPr>
                          <a:rPr lang="en-US" i="1">
                            <a:latin typeface="Cambria Math" panose="02040503050406030204" pitchFamily="18" charset="0"/>
                          </a:rPr>
                        </m:ctrlPr>
                      </m:fPr>
                      <m:num>
                        <m:r>
                          <a:rPr lang="en-US" i="1">
                            <a:latin typeface="Cambria Math"/>
                          </a:rPr>
                          <m:t>𝑂</m:t>
                        </m:r>
                        <m:r>
                          <a:rPr lang="en-US" i="1">
                            <a:latin typeface="Cambria Math"/>
                          </a:rPr>
                          <m:t>+4</m:t>
                        </m:r>
                        <m:r>
                          <a:rPr lang="en-US" i="1">
                            <a:latin typeface="Cambria Math"/>
                          </a:rPr>
                          <m:t>𝑀</m:t>
                        </m:r>
                        <m:r>
                          <a:rPr lang="en-US" i="1">
                            <a:latin typeface="Cambria Math"/>
                          </a:rPr>
                          <m:t>+</m:t>
                        </m:r>
                        <m:r>
                          <a:rPr lang="en-US" i="1">
                            <a:latin typeface="Cambria Math"/>
                          </a:rPr>
                          <m:t>𝑃</m:t>
                        </m:r>
                      </m:num>
                      <m:den>
                        <m:r>
                          <a:rPr lang="en-US" i="1">
                            <a:latin typeface="Cambria Math"/>
                          </a:rPr>
                          <m:t>6</m:t>
                        </m:r>
                      </m:den>
                    </m:f>
                  </m:oMath>
                </a14:m>
                <a:endParaRPr lang="en-US" altLang="ko-KR" dirty="0"/>
              </a:p>
            </p:txBody>
          </p:sp>
        </mc:Choice>
        <mc:Fallback xmlns="">
          <p:sp>
            <p:nvSpPr>
              <p:cNvPr id="6" name="Content Placeholder 5"/>
              <p:cNvSpPr>
                <a:spLocks noGrp="1" noRot="1" noChangeAspect="1" noMove="1" noResize="1" noEditPoints="1" noAdjustHandles="1" noChangeArrowheads="1" noChangeShapeType="1" noTextEdit="1"/>
              </p:cNvSpPr>
              <p:nvPr>
                <p:ph type="body" sz="quarter" idx="10"/>
              </p:nvPr>
            </p:nvSpPr>
            <p:spPr>
              <a:blipFill>
                <a:blip r:embed="rId3"/>
                <a:stretch>
                  <a:fillRect l="-683" t="-969" r="-228"/>
                </a:stretch>
              </a:blipFill>
            </p:spPr>
            <p:txBody>
              <a:bodyPr/>
              <a:lstStyle/>
              <a:p>
                <a:r>
                  <a:rPr lang="en-KR">
                    <a:noFill/>
                  </a:rPr>
                  <a:t> </a:t>
                </a:r>
              </a:p>
            </p:txBody>
          </p:sp>
        </mc:Fallback>
      </mc:AlternateContent>
      <p:grpSp>
        <p:nvGrpSpPr>
          <p:cNvPr id="46" name="Group 45">
            <a:extLst>
              <a:ext uri="{FF2B5EF4-FFF2-40B4-BE49-F238E27FC236}">
                <a16:creationId xmlns:a16="http://schemas.microsoft.com/office/drawing/2014/main" id="{0D5F886E-BFB5-AC10-D43C-93C4D890A112}"/>
              </a:ext>
            </a:extLst>
          </p:cNvPr>
          <p:cNvGrpSpPr/>
          <p:nvPr/>
        </p:nvGrpSpPr>
        <p:grpSpPr>
          <a:xfrm>
            <a:off x="499398" y="4450465"/>
            <a:ext cx="11167136" cy="1870481"/>
            <a:chOff x="499398" y="4450465"/>
            <a:chExt cx="11167136" cy="1870481"/>
          </a:xfrm>
        </p:grpSpPr>
        <p:sp>
          <p:nvSpPr>
            <p:cNvPr id="7" name="Rounded Rectangle 6">
              <a:extLst>
                <a:ext uri="{FF2B5EF4-FFF2-40B4-BE49-F238E27FC236}">
                  <a16:creationId xmlns:a16="http://schemas.microsoft.com/office/drawing/2014/main" id="{1B979EF3-4F0C-5985-66D6-0D5E906841E0}"/>
                </a:ext>
              </a:extLst>
            </p:cNvPr>
            <p:cNvSpPr/>
            <p:nvPr/>
          </p:nvSpPr>
          <p:spPr>
            <a:xfrm>
              <a:off x="499398" y="5294107"/>
              <a:ext cx="1008112"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KR" sz="1200" dirty="0">
                  <a:solidFill>
                    <a:schemeClr val="tx1"/>
                  </a:solidFill>
                </a:rPr>
                <a:t>Initial requirements</a:t>
              </a:r>
            </a:p>
          </p:txBody>
        </p:sp>
        <p:sp>
          <p:nvSpPr>
            <p:cNvPr id="8" name="Rounded Rectangle 7">
              <a:extLst>
                <a:ext uri="{FF2B5EF4-FFF2-40B4-BE49-F238E27FC236}">
                  <a16:creationId xmlns:a16="http://schemas.microsoft.com/office/drawing/2014/main" id="{91DFF0DC-7D05-8902-B427-C6F56DA6FF0D}"/>
                </a:ext>
              </a:extLst>
            </p:cNvPr>
            <p:cNvSpPr/>
            <p:nvPr/>
          </p:nvSpPr>
          <p:spPr>
            <a:xfrm>
              <a:off x="1761297" y="5302102"/>
              <a:ext cx="1008112"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KR" sz="1200" dirty="0">
                  <a:solidFill>
                    <a:schemeClr val="tx1"/>
                  </a:solidFill>
                </a:rPr>
                <a:t>Detailed requirements</a:t>
              </a:r>
            </a:p>
          </p:txBody>
        </p:sp>
        <p:sp>
          <p:nvSpPr>
            <p:cNvPr id="9" name="Rounded Rectangle 8">
              <a:extLst>
                <a:ext uri="{FF2B5EF4-FFF2-40B4-BE49-F238E27FC236}">
                  <a16:creationId xmlns:a16="http://schemas.microsoft.com/office/drawing/2014/main" id="{9B004A6E-24FE-B547-4EE5-D8588B6C5DA0}"/>
                </a:ext>
              </a:extLst>
            </p:cNvPr>
            <p:cNvSpPr/>
            <p:nvPr/>
          </p:nvSpPr>
          <p:spPr>
            <a:xfrm>
              <a:off x="3148279" y="4798056"/>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KR" sz="1200" dirty="0">
                  <a:solidFill>
                    <a:schemeClr val="tx1"/>
                  </a:solidFill>
                </a:rPr>
                <a:t>Function design</a:t>
              </a:r>
            </a:p>
          </p:txBody>
        </p:sp>
        <p:sp>
          <p:nvSpPr>
            <p:cNvPr id="10" name="Rounded Rectangle 9">
              <a:extLst>
                <a:ext uri="{FF2B5EF4-FFF2-40B4-BE49-F238E27FC236}">
                  <a16:creationId xmlns:a16="http://schemas.microsoft.com/office/drawing/2014/main" id="{97F9A033-197D-1D7F-1B4E-F3C2F2081E78}"/>
                </a:ext>
              </a:extLst>
            </p:cNvPr>
            <p:cNvSpPr/>
            <p:nvPr/>
          </p:nvSpPr>
          <p:spPr>
            <a:xfrm>
              <a:off x="3148279" y="5806158"/>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KR" sz="1200" dirty="0">
                  <a:solidFill>
                    <a:schemeClr val="tx1"/>
                  </a:solidFill>
                </a:rPr>
                <a:t>System design</a:t>
              </a:r>
            </a:p>
          </p:txBody>
        </p:sp>
        <p:sp>
          <p:nvSpPr>
            <p:cNvPr id="11" name="Rounded Rectangle 10">
              <a:extLst>
                <a:ext uri="{FF2B5EF4-FFF2-40B4-BE49-F238E27FC236}">
                  <a16:creationId xmlns:a16="http://schemas.microsoft.com/office/drawing/2014/main" id="{B9E0C0E8-F6AA-3C7F-B37B-28F4C3D3D346}"/>
                </a:ext>
              </a:extLst>
            </p:cNvPr>
            <p:cNvSpPr/>
            <p:nvPr/>
          </p:nvSpPr>
          <p:spPr>
            <a:xfrm>
              <a:off x="4144835" y="4797152"/>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Module definition</a:t>
              </a:r>
              <a:endParaRPr lang="en-KR" sz="1200" dirty="0">
                <a:solidFill>
                  <a:schemeClr val="tx1"/>
                </a:solidFill>
              </a:endParaRPr>
            </a:p>
          </p:txBody>
        </p:sp>
        <p:sp>
          <p:nvSpPr>
            <p:cNvPr id="12" name="Rounded Rectangle 11">
              <a:extLst>
                <a:ext uri="{FF2B5EF4-FFF2-40B4-BE49-F238E27FC236}">
                  <a16:creationId xmlns:a16="http://schemas.microsoft.com/office/drawing/2014/main" id="{6463F77A-6985-A052-5590-5BCDC48533BC}"/>
                </a:ext>
              </a:extLst>
            </p:cNvPr>
            <p:cNvSpPr/>
            <p:nvPr/>
          </p:nvSpPr>
          <p:spPr>
            <a:xfrm>
              <a:off x="4122258" y="5806158"/>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Interface definition</a:t>
              </a:r>
              <a:endParaRPr lang="en-KR" sz="1200" dirty="0">
                <a:solidFill>
                  <a:schemeClr val="tx1"/>
                </a:solidFill>
              </a:endParaRPr>
            </a:p>
          </p:txBody>
        </p:sp>
        <p:sp>
          <p:nvSpPr>
            <p:cNvPr id="13" name="Rounded Rectangle 12">
              <a:extLst>
                <a:ext uri="{FF2B5EF4-FFF2-40B4-BE49-F238E27FC236}">
                  <a16:creationId xmlns:a16="http://schemas.microsoft.com/office/drawing/2014/main" id="{A68D1C56-DB66-0DA8-992C-38AB6539F950}"/>
                </a:ext>
              </a:extLst>
            </p:cNvPr>
            <p:cNvSpPr/>
            <p:nvPr/>
          </p:nvSpPr>
          <p:spPr>
            <a:xfrm>
              <a:off x="5218287" y="5312834"/>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Program coding</a:t>
              </a:r>
              <a:endParaRPr lang="en-KR" sz="1200" dirty="0">
                <a:solidFill>
                  <a:schemeClr val="tx1"/>
                </a:solidFill>
              </a:endParaRPr>
            </a:p>
          </p:txBody>
        </p:sp>
        <p:sp>
          <p:nvSpPr>
            <p:cNvPr id="14" name="Rounded Rectangle 13">
              <a:extLst>
                <a:ext uri="{FF2B5EF4-FFF2-40B4-BE49-F238E27FC236}">
                  <a16:creationId xmlns:a16="http://schemas.microsoft.com/office/drawing/2014/main" id="{7DABFEED-C0E9-FBB5-C3BC-EB81B92CD458}"/>
                </a:ext>
              </a:extLst>
            </p:cNvPr>
            <p:cNvSpPr/>
            <p:nvPr/>
          </p:nvSpPr>
          <p:spPr>
            <a:xfrm>
              <a:off x="6210592" y="5312834"/>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Internal test</a:t>
              </a:r>
              <a:endParaRPr lang="en-KR" sz="1200" dirty="0">
                <a:solidFill>
                  <a:schemeClr val="tx1"/>
                </a:solidFill>
              </a:endParaRPr>
            </a:p>
          </p:txBody>
        </p:sp>
        <p:sp>
          <p:nvSpPr>
            <p:cNvPr id="15" name="Rounded Rectangle 14">
              <a:extLst>
                <a:ext uri="{FF2B5EF4-FFF2-40B4-BE49-F238E27FC236}">
                  <a16:creationId xmlns:a16="http://schemas.microsoft.com/office/drawing/2014/main" id="{B997796B-0413-220A-C5FA-8D378A7C6C6C}"/>
                </a:ext>
              </a:extLst>
            </p:cNvPr>
            <p:cNvSpPr/>
            <p:nvPr/>
          </p:nvSpPr>
          <p:spPr>
            <a:xfrm>
              <a:off x="7182134" y="5312834"/>
              <a:ext cx="90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Integration test</a:t>
              </a:r>
              <a:endParaRPr lang="en-KR" sz="1200" dirty="0">
                <a:solidFill>
                  <a:schemeClr val="tx1"/>
                </a:solidFill>
              </a:endParaRPr>
            </a:p>
          </p:txBody>
        </p:sp>
        <p:sp>
          <p:nvSpPr>
            <p:cNvPr id="16" name="Rounded Rectangle 15">
              <a:extLst>
                <a:ext uri="{FF2B5EF4-FFF2-40B4-BE49-F238E27FC236}">
                  <a16:creationId xmlns:a16="http://schemas.microsoft.com/office/drawing/2014/main" id="{8098131A-478C-625B-A585-AF1C95A88095}"/>
                </a:ext>
              </a:extLst>
            </p:cNvPr>
            <p:cNvSpPr/>
            <p:nvPr/>
          </p:nvSpPr>
          <p:spPr>
            <a:xfrm>
              <a:off x="8336526" y="5312834"/>
              <a:ext cx="90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Report generation</a:t>
              </a:r>
              <a:endParaRPr lang="en-KR" sz="1200" dirty="0">
                <a:solidFill>
                  <a:schemeClr val="tx1"/>
                </a:solidFill>
              </a:endParaRPr>
            </a:p>
          </p:txBody>
        </p:sp>
        <p:sp>
          <p:nvSpPr>
            <p:cNvPr id="17" name="Rounded Rectangle 16">
              <a:extLst>
                <a:ext uri="{FF2B5EF4-FFF2-40B4-BE49-F238E27FC236}">
                  <a16:creationId xmlns:a16="http://schemas.microsoft.com/office/drawing/2014/main" id="{E5BC9A48-FC47-6379-6E5E-D4A8C8EC5586}"/>
                </a:ext>
              </a:extLst>
            </p:cNvPr>
            <p:cNvSpPr/>
            <p:nvPr/>
          </p:nvSpPr>
          <p:spPr>
            <a:xfrm>
              <a:off x="9612555" y="4815879"/>
              <a:ext cx="90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Software installment</a:t>
              </a:r>
              <a:endParaRPr lang="en-KR" sz="1200" dirty="0">
                <a:solidFill>
                  <a:schemeClr val="tx1"/>
                </a:solidFill>
              </a:endParaRPr>
            </a:p>
          </p:txBody>
        </p:sp>
        <p:sp>
          <p:nvSpPr>
            <p:cNvPr id="18" name="Rounded Rectangle 17">
              <a:extLst>
                <a:ext uri="{FF2B5EF4-FFF2-40B4-BE49-F238E27FC236}">
                  <a16:creationId xmlns:a16="http://schemas.microsoft.com/office/drawing/2014/main" id="{6B921622-2209-8A88-2EB5-700F9343013F}"/>
                </a:ext>
              </a:extLst>
            </p:cNvPr>
            <p:cNvSpPr/>
            <p:nvPr/>
          </p:nvSpPr>
          <p:spPr>
            <a:xfrm>
              <a:off x="10766534" y="4815879"/>
              <a:ext cx="90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System integration</a:t>
              </a:r>
              <a:endParaRPr lang="en-KR" sz="1200" dirty="0">
                <a:solidFill>
                  <a:schemeClr val="tx1"/>
                </a:solidFill>
              </a:endParaRPr>
            </a:p>
          </p:txBody>
        </p:sp>
        <p:sp>
          <p:nvSpPr>
            <p:cNvPr id="19" name="Rounded Rectangle 18">
              <a:extLst>
                <a:ext uri="{FF2B5EF4-FFF2-40B4-BE49-F238E27FC236}">
                  <a16:creationId xmlns:a16="http://schemas.microsoft.com/office/drawing/2014/main" id="{2580A0C4-E9E8-EC59-351A-FE823F4B5331}"/>
                </a:ext>
              </a:extLst>
            </p:cNvPr>
            <p:cNvSpPr/>
            <p:nvPr/>
          </p:nvSpPr>
          <p:spPr>
            <a:xfrm>
              <a:off x="9612555" y="5816890"/>
              <a:ext cx="90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Training</a:t>
              </a:r>
              <a:endParaRPr lang="en-KR" sz="1200" dirty="0">
                <a:solidFill>
                  <a:schemeClr val="tx1"/>
                </a:solidFill>
              </a:endParaRPr>
            </a:p>
          </p:txBody>
        </p:sp>
        <p:cxnSp>
          <p:nvCxnSpPr>
            <p:cNvPr id="20" name="Straight Arrow Connector 19">
              <a:extLst>
                <a:ext uri="{FF2B5EF4-FFF2-40B4-BE49-F238E27FC236}">
                  <a16:creationId xmlns:a16="http://schemas.microsoft.com/office/drawing/2014/main" id="{219A5360-BC49-FD51-0435-D241A29B66BD}"/>
                </a:ext>
              </a:extLst>
            </p:cNvPr>
            <p:cNvCxnSpPr>
              <a:stCxn id="7" idx="3"/>
              <a:endCxn id="8" idx="1"/>
            </p:cNvCxnSpPr>
            <p:nvPr/>
          </p:nvCxnSpPr>
          <p:spPr>
            <a:xfrm>
              <a:off x="1507510" y="5546135"/>
              <a:ext cx="253787" cy="79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48FCF0F-911F-76A3-70AA-A2671AB64FE5}"/>
                </a:ext>
              </a:extLst>
            </p:cNvPr>
            <p:cNvCxnSpPr>
              <a:cxnSpLocks/>
              <a:stCxn id="13" idx="3"/>
              <a:endCxn id="14" idx="1"/>
            </p:cNvCxnSpPr>
            <p:nvPr/>
          </p:nvCxnSpPr>
          <p:spPr>
            <a:xfrm>
              <a:off x="5938287" y="5564862"/>
              <a:ext cx="27230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B1823EA-3C6D-CB1D-6631-A6EAAC85D293}"/>
                </a:ext>
              </a:extLst>
            </p:cNvPr>
            <p:cNvCxnSpPr>
              <a:cxnSpLocks/>
              <a:stCxn id="14" idx="3"/>
              <a:endCxn id="15" idx="1"/>
            </p:cNvCxnSpPr>
            <p:nvPr/>
          </p:nvCxnSpPr>
          <p:spPr>
            <a:xfrm>
              <a:off x="6930592" y="5564862"/>
              <a:ext cx="25154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351FCC6-0C3C-0425-C25F-7EB11EB9FCAB}"/>
                </a:ext>
              </a:extLst>
            </p:cNvPr>
            <p:cNvCxnSpPr>
              <a:cxnSpLocks/>
              <a:stCxn id="15" idx="3"/>
              <a:endCxn id="16" idx="1"/>
            </p:cNvCxnSpPr>
            <p:nvPr/>
          </p:nvCxnSpPr>
          <p:spPr>
            <a:xfrm>
              <a:off x="8082134" y="5564862"/>
              <a:ext cx="25439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B0CC357-3F75-6D9A-46F5-8C5A1EE26040}"/>
                </a:ext>
              </a:extLst>
            </p:cNvPr>
            <p:cNvCxnSpPr>
              <a:cxnSpLocks/>
              <a:stCxn id="9" idx="3"/>
              <a:endCxn id="11" idx="1"/>
            </p:cNvCxnSpPr>
            <p:nvPr/>
          </p:nvCxnSpPr>
          <p:spPr>
            <a:xfrm flipV="1">
              <a:off x="3868279" y="5049180"/>
              <a:ext cx="276556" cy="9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7E2CEAF-0116-FA87-4703-50E5904A7BEA}"/>
                </a:ext>
              </a:extLst>
            </p:cNvPr>
            <p:cNvCxnSpPr>
              <a:cxnSpLocks/>
              <a:stCxn id="10" idx="3"/>
              <a:endCxn id="12" idx="1"/>
            </p:cNvCxnSpPr>
            <p:nvPr/>
          </p:nvCxnSpPr>
          <p:spPr>
            <a:xfrm>
              <a:off x="3868279" y="6058186"/>
              <a:ext cx="25397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357CDAE-9858-FAFA-455F-AFBFC20170FB}"/>
                </a:ext>
              </a:extLst>
            </p:cNvPr>
            <p:cNvCxnSpPr>
              <a:cxnSpLocks/>
              <a:stCxn id="17" idx="3"/>
              <a:endCxn id="18" idx="1"/>
            </p:cNvCxnSpPr>
            <p:nvPr/>
          </p:nvCxnSpPr>
          <p:spPr>
            <a:xfrm>
              <a:off x="10512555" y="5067907"/>
              <a:ext cx="25397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D0CE946C-96F1-0092-01EA-A4554AAFFAEF}"/>
                </a:ext>
              </a:extLst>
            </p:cNvPr>
            <p:cNvCxnSpPr>
              <a:stCxn id="8" idx="3"/>
              <a:endCxn id="9" idx="1"/>
            </p:cNvCxnSpPr>
            <p:nvPr/>
          </p:nvCxnSpPr>
          <p:spPr>
            <a:xfrm flipV="1">
              <a:off x="2769409" y="5050084"/>
              <a:ext cx="378870" cy="504046"/>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F06070D1-A0EA-1457-E8C4-31FF6696A47C}"/>
                </a:ext>
              </a:extLst>
            </p:cNvPr>
            <p:cNvCxnSpPr>
              <a:cxnSpLocks/>
              <a:stCxn id="8" idx="3"/>
              <a:endCxn id="10" idx="1"/>
            </p:cNvCxnSpPr>
            <p:nvPr/>
          </p:nvCxnSpPr>
          <p:spPr>
            <a:xfrm>
              <a:off x="2769409" y="5554130"/>
              <a:ext cx="378870" cy="504056"/>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Elbow Connector 28">
              <a:extLst>
                <a:ext uri="{FF2B5EF4-FFF2-40B4-BE49-F238E27FC236}">
                  <a16:creationId xmlns:a16="http://schemas.microsoft.com/office/drawing/2014/main" id="{1AF0856C-2A39-F86B-2BE5-8D949070ED34}"/>
                </a:ext>
              </a:extLst>
            </p:cNvPr>
            <p:cNvCxnSpPr>
              <a:cxnSpLocks/>
              <a:stCxn id="11" idx="3"/>
              <a:endCxn id="13" idx="1"/>
            </p:cNvCxnSpPr>
            <p:nvPr/>
          </p:nvCxnSpPr>
          <p:spPr>
            <a:xfrm>
              <a:off x="4864835" y="5049180"/>
              <a:ext cx="353452" cy="515682"/>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03B64C95-ECA6-F91D-4FA0-336326D83ADC}"/>
                </a:ext>
              </a:extLst>
            </p:cNvPr>
            <p:cNvCxnSpPr>
              <a:cxnSpLocks/>
              <a:stCxn id="12" idx="3"/>
              <a:endCxn id="13" idx="1"/>
            </p:cNvCxnSpPr>
            <p:nvPr/>
          </p:nvCxnSpPr>
          <p:spPr>
            <a:xfrm flipV="1">
              <a:off x="4842258" y="5564862"/>
              <a:ext cx="376029" cy="493324"/>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Elbow Connector 30">
              <a:extLst>
                <a:ext uri="{FF2B5EF4-FFF2-40B4-BE49-F238E27FC236}">
                  <a16:creationId xmlns:a16="http://schemas.microsoft.com/office/drawing/2014/main" id="{A0DE65B2-43CA-1D57-7C72-D26081AB605F}"/>
                </a:ext>
              </a:extLst>
            </p:cNvPr>
            <p:cNvCxnSpPr>
              <a:cxnSpLocks/>
              <a:stCxn id="16" idx="3"/>
              <a:endCxn id="17" idx="1"/>
            </p:cNvCxnSpPr>
            <p:nvPr/>
          </p:nvCxnSpPr>
          <p:spPr>
            <a:xfrm flipV="1">
              <a:off x="9236526" y="5067907"/>
              <a:ext cx="376029" cy="496955"/>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Elbow Connector 31">
              <a:extLst>
                <a:ext uri="{FF2B5EF4-FFF2-40B4-BE49-F238E27FC236}">
                  <a16:creationId xmlns:a16="http://schemas.microsoft.com/office/drawing/2014/main" id="{79409474-3F44-3F61-52E1-9FD06D416E23}"/>
                </a:ext>
              </a:extLst>
            </p:cNvPr>
            <p:cNvCxnSpPr>
              <a:cxnSpLocks/>
              <a:stCxn id="16" idx="3"/>
              <a:endCxn id="19" idx="1"/>
            </p:cNvCxnSpPr>
            <p:nvPr/>
          </p:nvCxnSpPr>
          <p:spPr>
            <a:xfrm>
              <a:off x="9236526" y="5564862"/>
              <a:ext cx="376029" cy="504056"/>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B55EF5E-3BC1-875A-1274-2383E977FD01}"/>
                </a:ext>
              </a:extLst>
            </p:cNvPr>
            <p:cNvSpPr txBox="1"/>
            <p:nvPr/>
          </p:nvSpPr>
          <p:spPr>
            <a:xfrm>
              <a:off x="847802" y="4931876"/>
              <a:ext cx="311304" cy="369332"/>
            </a:xfrm>
            <a:prstGeom prst="rect">
              <a:avLst/>
            </a:prstGeom>
            <a:noFill/>
          </p:spPr>
          <p:txBody>
            <a:bodyPr wrap="none" rtlCol="0">
              <a:spAutoFit/>
            </a:bodyPr>
            <a:lstStyle/>
            <a:p>
              <a:r>
                <a:rPr lang="en-KR" dirty="0"/>
                <a:t>5</a:t>
              </a:r>
            </a:p>
          </p:txBody>
        </p:sp>
        <p:sp>
          <p:nvSpPr>
            <p:cNvPr id="34" name="TextBox 33">
              <a:extLst>
                <a:ext uri="{FF2B5EF4-FFF2-40B4-BE49-F238E27FC236}">
                  <a16:creationId xmlns:a16="http://schemas.microsoft.com/office/drawing/2014/main" id="{89CA815D-1E44-7653-67B7-2241ACF2C5AE}"/>
                </a:ext>
              </a:extLst>
            </p:cNvPr>
            <p:cNvSpPr txBox="1"/>
            <p:nvPr/>
          </p:nvSpPr>
          <p:spPr>
            <a:xfrm>
              <a:off x="2109701" y="4931876"/>
              <a:ext cx="311304" cy="369332"/>
            </a:xfrm>
            <a:prstGeom prst="rect">
              <a:avLst/>
            </a:prstGeom>
            <a:noFill/>
          </p:spPr>
          <p:txBody>
            <a:bodyPr wrap="none" rtlCol="0">
              <a:spAutoFit/>
            </a:bodyPr>
            <a:lstStyle/>
            <a:p>
              <a:r>
                <a:rPr lang="en-KR" dirty="0"/>
                <a:t>8</a:t>
              </a:r>
            </a:p>
          </p:txBody>
        </p:sp>
        <p:sp>
          <p:nvSpPr>
            <p:cNvPr id="35" name="TextBox 34">
              <a:extLst>
                <a:ext uri="{FF2B5EF4-FFF2-40B4-BE49-F238E27FC236}">
                  <a16:creationId xmlns:a16="http://schemas.microsoft.com/office/drawing/2014/main" id="{0280AF85-8A1A-F1DA-E899-63775FB8D1C8}"/>
                </a:ext>
              </a:extLst>
            </p:cNvPr>
            <p:cNvSpPr txBox="1"/>
            <p:nvPr/>
          </p:nvSpPr>
          <p:spPr>
            <a:xfrm>
              <a:off x="3401325" y="4450465"/>
              <a:ext cx="311304" cy="369332"/>
            </a:xfrm>
            <a:prstGeom prst="rect">
              <a:avLst/>
            </a:prstGeom>
            <a:noFill/>
          </p:spPr>
          <p:txBody>
            <a:bodyPr wrap="none" rtlCol="0">
              <a:spAutoFit/>
            </a:bodyPr>
            <a:lstStyle/>
            <a:p>
              <a:r>
                <a:rPr lang="en-KR" dirty="0"/>
                <a:t>9</a:t>
              </a:r>
            </a:p>
          </p:txBody>
        </p:sp>
        <p:sp>
          <p:nvSpPr>
            <p:cNvPr id="36" name="TextBox 35">
              <a:extLst>
                <a:ext uri="{FF2B5EF4-FFF2-40B4-BE49-F238E27FC236}">
                  <a16:creationId xmlns:a16="http://schemas.microsoft.com/office/drawing/2014/main" id="{3281FEB2-25BC-C658-D0B6-972B70A1D727}"/>
                </a:ext>
              </a:extLst>
            </p:cNvPr>
            <p:cNvSpPr txBox="1"/>
            <p:nvPr/>
          </p:nvSpPr>
          <p:spPr>
            <a:xfrm>
              <a:off x="4409653" y="4450944"/>
              <a:ext cx="311304" cy="369332"/>
            </a:xfrm>
            <a:prstGeom prst="rect">
              <a:avLst/>
            </a:prstGeom>
            <a:noFill/>
          </p:spPr>
          <p:txBody>
            <a:bodyPr wrap="none" rtlCol="0">
              <a:spAutoFit/>
            </a:bodyPr>
            <a:lstStyle/>
            <a:p>
              <a:r>
                <a:rPr lang="en-KR" dirty="0"/>
                <a:t>8</a:t>
              </a:r>
            </a:p>
          </p:txBody>
        </p:sp>
        <p:sp>
          <p:nvSpPr>
            <p:cNvPr id="37" name="TextBox 36">
              <a:extLst>
                <a:ext uri="{FF2B5EF4-FFF2-40B4-BE49-F238E27FC236}">
                  <a16:creationId xmlns:a16="http://schemas.microsoft.com/office/drawing/2014/main" id="{EF4E3117-FD64-CF15-0D3B-2CAF44EF35A0}"/>
                </a:ext>
              </a:extLst>
            </p:cNvPr>
            <p:cNvSpPr txBox="1"/>
            <p:nvPr/>
          </p:nvSpPr>
          <p:spPr>
            <a:xfrm>
              <a:off x="3400564" y="5474624"/>
              <a:ext cx="311304" cy="369332"/>
            </a:xfrm>
            <a:prstGeom prst="rect">
              <a:avLst/>
            </a:prstGeom>
            <a:noFill/>
          </p:spPr>
          <p:txBody>
            <a:bodyPr wrap="none" rtlCol="0">
              <a:spAutoFit/>
            </a:bodyPr>
            <a:lstStyle/>
            <a:p>
              <a:r>
                <a:rPr lang="en-KR" dirty="0"/>
                <a:t>8</a:t>
              </a:r>
            </a:p>
          </p:txBody>
        </p:sp>
        <p:sp>
          <p:nvSpPr>
            <p:cNvPr id="38" name="TextBox 37">
              <a:extLst>
                <a:ext uri="{FF2B5EF4-FFF2-40B4-BE49-F238E27FC236}">
                  <a16:creationId xmlns:a16="http://schemas.microsoft.com/office/drawing/2014/main" id="{D5045412-4D28-567C-2904-ED58D2E18638}"/>
                </a:ext>
              </a:extLst>
            </p:cNvPr>
            <p:cNvSpPr txBox="1"/>
            <p:nvPr/>
          </p:nvSpPr>
          <p:spPr>
            <a:xfrm>
              <a:off x="4405821" y="5474624"/>
              <a:ext cx="311304" cy="369332"/>
            </a:xfrm>
            <a:prstGeom prst="rect">
              <a:avLst/>
            </a:prstGeom>
            <a:noFill/>
          </p:spPr>
          <p:txBody>
            <a:bodyPr wrap="none" rtlCol="0">
              <a:spAutoFit/>
            </a:bodyPr>
            <a:lstStyle/>
            <a:p>
              <a:r>
                <a:rPr lang="en-KR" dirty="0"/>
                <a:t>7</a:t>
              </a:r>
            </a:p>
          </p:txBody>
        </p:sp>
        <p:sp>
          <p:nvSpPr>
            <p:cNvPr id="39" name="TextBox 38">
              <a:extLst>
                <a:ext uri="{FF2B5EF4-FFF2-40B4-BE49-F238E27FC236}">
                  <a16:creationId xmlns:a16="http://schemas.microsoft.com/office/drawing/2014/main" id="{A911F0AA-F05A-8EEA-5499-43C753539468}"/>
                </a:ext>
              </a:extLst>
            </p:cNvPr>
            <p:cNvSpPr txBox="1"/>
            <p:nvPr/>
          </p:nvSpPr>
          <p:spPr>
            <a:xfrm>
              <a:off x="5417422" y="4957266"/>
              <a:ext cx="311304" cy="369332"/>
            </a:xfrm>
            <a:prstGeom prst="rect">
              <a:avLst/>
            </a:prstGeom>
            <a:noFill/>
          </p:spPr>
          <p:txBody>
            <a:bodyPr wrap="none" rtlCol="0">
              <a:spAutoFit/>
            </a:bodyPr>
            <a:lstStyle/>
            <a:p>
              <a:r>
                <a:rPr lang="en-KR" dirty="0"/>
                <a:t>5</a:t>
              </a:r>
            </a:p>
          </p:txBody>
        </p:sp>
        <p:sp>
          <p:nvSpPr>
            <p:cNvPr id="40" name="TextBox 39">
              <a:extLst>
                <a:ext uri="{FF2B5EF4-FFF2-40B4-BE49-F238E27FC236}">
                  <a16:creationId xmlns:a16="http://schemas.microsoft.com/office/drawing/2014/main" id="{596CD5CB-BD06-8740-1B68-48F9F7AF3063}"/>
                </a:ext>
              </a:extLst>
            </p:cNvPr>
            <p:cNvSpPr txBox="1"/>
            <p:nvPr/>
          </p:nvSpPr>
          <p:spPr>
            <a:xfrm>
              <a:off x="6414940" y="4957266"/>
              <a:ext cx="311304" cy="369332"/>
            </a:xfrm>
            <a:prstGeom prst="rect">
              <a:avLst/>
            </a:prstGeom>
            <a:noFill/>
          </p:spPr>
          <p:txBody>
            <a:bodyPr wrap="none" rtlCol="0">
              <a:spAutoFit/>
            </a:bodyPr>
            <a:lstStyle/>
            <a:p>
              <a:r>
                <a:rPr lang="en-KR" dirty="0"/>
                <a:t>4</a:t>
              </a:r>
            </a:p>
          </p:txBody>
        </p:sp>
        <p:sp>
          <p:nvSpPr>
            <p:cNvPr id="41" name="TextBox 40">
              <a:extLst>
                <a:ext uri="{FF2B5EF4-FFF2-40B4-BE49-F238E27FC236}">
                  <a16:creationId xmlns:a16="http://schemas.microsoft.com/office/drawing/2014/main" id="{06E1BAE0-0EE4-BB2A-210E-FCDB777955E9}"/>
                </a:ext>
              </a:extLst>
            </p:cNvPr>
            <p:cNvSpPr txBox="1"/>
            <p:nvPr/>
          </p:nvSpPr>
          <p:spPr>
            <a:xfrm>
              <a:off x="7470592" y="4959733"/>
              <a:ext cx="311304" cy="369332"/>
            </a:xfrm>
            <a:prstGeom prst="rect">
              <a:avLst/>
            </a:prstGeom>
            <a:noFill/>
          </p:spPr>
          <p:txBody>
            <a:bodyPr wrap="square" rtlCol="0">
              <a:spAutoFit/>
            </a:bodyPr>
            <a:lstStyle/>
            <a:p>
              <a:r>
                <a:rPr lang="en-KR" dirty="0"/>
                <a:t>7</a:t>
              </a:r>
            </a:p>
          </p:txBody>
        </p:sp>
        <p:sp>
          <p:nvSpPr>
            <p:cNvPr id="42" name="TextBox 41">
              <a:extLst>
                <a:ext uri="{FF2B5EF4-FFF2-40B4-BE49-F238E27FC236}">
                  <a16:creationId xmlns:a16="http://schemas.microsoft.com/office/drawing/2014/main" id="{9370BC72-57F9-EB55-ED3F-8E7074814930}"/>
                </a:ext>
              </a:extLst>
            </p:cNvPr>
            <p:cNvSpPr txBox="1"/>
            <p:nvPr/>
          </p:nvSpPr>
          <p:spPr>
            <a:xfrm>
              <a:off x="8630874" y="4959733"/>
              <a:ext cx="311304" cy="369332"/>
            </a:xfrm>
            <a:prstGeom prst="rect">
              <a:avLst/>
            </a:prstGeom>
            <a:noFill/>
          </p:spPr>
          <p:txBody>
            <a:bodyPr wrap="none" rtlCol="0">
              <a:spAutoFit/>
            </a:bodyPr>
            <a:lstStyle/>
            <a:p>
              <a:r>
                <a:rPr lang="en-KR" dirty="0"/>
                <a:t>3</a:t>
              </a:r>
            </a:p>
          </p:txBody>
        </p:sp>
        <p:sp>
          <p:nvSpPr>
            <p:cNvPr id="43" name="TextBox 42">
              <a:extLst>
                <a:ext uri="{FF2B5EF4-FFF2-40B4-BE49-F238E27FC236}">
                  <a16:creationId xmlns:a16="http://schemas.microsoft.com/office/drawing/2014/main" id="{6ED1BC1C-06D0-14B5-9A19-5FFA9A346576}"/>
                </a:ext>
              </a:extLst>
            </p:cNvPr>
            <p:cNvSpPr txBox="1"/>
            <p:nvPr/>
          </p:nvSpPr>
          <p:spPr>
            <a:xfrm>
              <a:off x="9950860" y="4476377"/>
              <a:ext cx="311304" cy="369332"/>
            </a:xfrm>
            <a:prstGeom prst="rect">
              <a:avLst/>
            </a:prstGeom>
            <a:noFill/>
          </p:spPr>
          <p:txBody>
            <a:bodyPr wrap="none" rtlCol="0">
              <a:spAutoFit/>
            </a:bodyPr>
            <a:lstStyle/>
            <a:p>
              <a:r>
                <a:rPr lang="en-KR" dirty="0"/>
                <a:t>3</a:t>
              </a:r>
            </a:p>
          </p:txBody>
        </p:sp>
        <p:sp>
          <p:nvSpPr>
            <p:cNvPr id="44" name="TextBox 43">
              <a:extLst>
                <a:ext uri="{FF2B5EF4-FFF2-40B4-BE49-F238E27FC236}">
                  <a16:creationId xmlns:a16="http://schemas.microsoft.com/office/drawing/2014/main" id="{F07C186C-2AA5-67E9-0818-0F2C79465D18}"/>
                </a:ext>
              </a:extLst>
            </p:cNvPr>
            <p:cNvSpPr txBox="1"/>
            <p:nvPr/>
          </p:nvSpPr>
          <p:spPr>
            <a:xfrm>
              <a:off x="11060882" y="4476377"/>
              <a:ext cx="311304" cy="369332"/>
            </a:xfrm>
            <a:prstGeom prst="rect">
              <a:avLst/>
            </a:prstGeom>
            <a:noFill/>
          </p:spPr>
          <p:txBody>
            <a:bodyPr wrap="none" rtlCol="0">
              <a:spAutoFit/>
            </a:bodyPr>
            <a:lstStyle/>
            <a:p>
              <a:r>
                <a:rPr lang="en-KR" dirty="0"/>
                <a:t>9</a:t>
              </a:r>
            </a:p>
          </p:txBody>
        </p:sp>
        <p:sp>
          <p:nvSpPr>
            <p:cNvPr id="45" name="TextBox 44">
              <a:extLst>
                <a:ext uri="{FF2B5EF4-FFF2-40B4-BE49-F238E27FC236}">
                  <a16:creationId xmlns:a16="http://schemas.microsoft.com/office/drawing/2014/main" id="{72B19E9E-451A-C165-B7A6-A61DADE9E4FD}"/>
                </a:ext>
              </a:extLst>
            </p:cNvPr>
            <p:cNvSpPr txBox="1"/>
            <p:nvPr/>
          </p:nvSpPr>
          <p:spPr>
            <a:xfrm>
              <a:off x="9950860" y="5506210"/>
              <a:ext cx="311304" cy="369332"/>
            </a:xfrm>
            <a:prstGeom prst="rect">
              <a:avLst/>
            </a:prstGeom>
            <a:noFill/>
          </p:spPr>
          <p:txBody>
            <a:bodyPr wrap="none" rtlCol="0">
              <a:spAutoFit/>
            </a:bodyPr>
            <a:lstStyle/>
            <a:p>
              <a:r>
                <a:rPr lang="en-KR" dirty="0"/>
                <a:t>5</a:t>
              </a:r>
            </a:p>
          </p:txBody>
        </p:sp>
      </p:grpSp>
    </p:spTree>
    <p:extLst>
      <p:ext uri="{BB962C8B-B14F-4D97-AF65-F5344CB8AC3E}">
        <p14:creationId xmlns:p14="http://schemas.microsoft.com/office/powerpoint/2010/main" val="1252619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r>
              <a:rPr lang="en-US"/>
              <a:t>Critical Path Method (CPM)</a:t>
            </a:r>
            <a:endParaRPr lang="en-US" dirty="0"/>
          </a:p>
        </p:txBody>
      </p:sp>
      <p:sp>
        <p:nvSpPr>
          <p:cNvPr id="146435" name="Rectangle 3"/>
          <p:cNvSpPr>
            <a:spLocks noGrp="1" noChangeArrowheads="1"/>
          </p:cNvSpPr>
          <p:nvPr>
            <p:ph type="body" sz="quarter" idx="10"/>
          </p:nvPr>
        </p:nvSpPr>
        <p:spPr>
          <a:prstGeom prst="rect">
            <a:avLst/>
          </a:prstGeom>
        </p:spPr>
        <p:txBody>
          <a:bodyPr/>
          <a:lstStyle/>
          <a:p>
            <a:r>
              <a:rPr lang="en-US" dirty="0"/>
              <a:t>The critical path is the sequence of tasks that represent the longest path through a project</a:t>
            </a:r>
          </a:p>
          <a:p>
            <a:pPr lvl="1"/>
            <a:r>
              <a:rPr lang="en-US" dirty="0"/>
              <a:t>This determines the shortest project “duration”</a:t>
            </a:r>
          </a:p>
          <a:p>
            <a:pPr lvl="1"/>
            <a:r>
              <a:rPr lang="en-US" dirty="0"/>
              <a:t>Note that all the tasks need to be completed</a:t>
            </a:r>
          </a:p>
          <a:p>
            <a:r>
              <a:rPr lang="en-US" dirty="0">
                <a:solidFill>
                  <a:srgbClr val="FF0000"/>
                </a:solidFill>
              </a:rPr>
              <a:t>Slack or float</a:t>
            </a:r>
            <a:r>
              <a:rPr lang="en-US" dirty="0"/>
              <a:t> is the amount of time that a task can be delayed without delaying the project finish date</a:t>
            </a:r>
          </a:p>
          <a:p>
            <a:pPr lvl="1"/>
            <a:r>
              <a:rPr lang="en-US" dirty="0"/>
              <a:t>The slack of critical tasks is zero</a:t>
            </a:r>
          </a:p>
        </p:txBody>
      </p:sp>
      <p:grpSp>
        <p:nvGrpSpPr>
          <p:cNvPr id="4" name="Group 3">
            <a:extLst>
              <a:ext uri="{FF2B5EF4-FFF2-40B4-BE49-F238E27FC236}">
                <a16:creationId xmlns:a16="http://schemas.microsoft.com/office/drawing/2014/main" id="{0D052F10-F69B-F9BC-615E-E89E4235663F}"/>
              </a:ext>
            </a:extLst>
          </p:cNvPr>
          <p:cNvGrpSpPr/>
          <p:nvPr/>
        </p:nvGrpSpPr>
        <p:grpSpPr>
          <a:xfrm>
            <a:off x="499398" y="4450465"/>
            <a:ext cx="11167136" cy="1870481"/>
            <a:chOff x="499398" y="4450465"/>
            <a:chExt cx="11167136" cy="1870481"/>
          </a:xfrm>
        </p:grpSpPr>
        <p:sp>
          <p:nvSpPr>
            <p:cNvPr id="5" name="Rounded Rectangle 4">
              <a:extLst>
                <a:ext uri="{FF2B5EF4-FFF2-40B4-BE49-F238E27FC236}">
                  <a16:creationId xmlns:a16="http://schemas.microsoft.com/office/drawing/2014/main" id="{42F02DDF-D891-D2E3-0EC1-5FC3338144B8}"/>
                </a:ext>
              </a:extLst>
            </p:cNvPr>
            <p:cNvSpPr/>
            <p:nvPr/>
          </p:nvSpPr>
          <p:spPr>
            <a:xfrm>
              <a:off x="499398" y="5294107"/>
              <a:ext cx="1008112" cy="504056"/>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KR" sz="1200" dirty="0">
                  <a:solidFill>
                    <a:schemeClr val="tx1"/>
                  </a:solidFill>
                </a:rPr>
                <a:t>Initial requirements</a:t>
              </a:r>
            </a:p>
          </p:txBody>
        </p:sp>
        <p:sp>
          <p:nvSpPr>
            <p:cNvPr id="6" name="Rounded Rectangle 5">
              <a:extLst>
                <a:ext uri="{FF2B5EF4-FFF2-40B4-BE49-F238E27FC236}">
                  <a16:creationId xmlns:a16="http://schemas.microsoft.com/office/drawing/2014/main" id="{412ABEC7-3FD8-7712-3622-27EA55F31F37}"/>
                </a:ext>
              </a:extLst>
            </p:cNvPr>
            <p:cNvSpPr/>
            <p:nvPr/>
          </p:nvSpPr>
          <p:spPr>
            <a:xfrm>
              <a:off x="1761297" y="5302102"/>
              <a:ext cx="1008112" cy="504056"/>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KR" sz="1200" dirty="0">
                  <a:solidFill>
                    <a:schemeClr val="tx1"/>
                  </a:solidFill>
                </a:rPr>
                <a:t>Detailed requirements</a:t>
              </a:r>
            </a:p>
          </p:txBody>
        </p:sp>
        <p:sp>
          <p:nvSpPr>
            <p:cNvPr id="7" name="Rounded Rectangle 6">
              <a:extLst>
                <a:ext uri="{FF2B5EF4-FFF2-40B4-BE49-F238E27FC236}">
                  <a16:creationId xmlns:a16="http://schemas.microsoft.com/office/drawing/2014/main" id="{C6809557-717D-975A-3DBF-C626936D211F}"/>
                </a:ext>
              </a:extLst>
            </p:cNvPr>
            <p:cNvSpPr/>
            <p:nvPr/>
          </p:nvSpPr>
          <p:spPr>
            <a:xfrm>
              <a:off x="3148279" y="4798056"/>
              <a:ext cx="720000" cy="504056"/>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KR" sz="1200" dirty="0">
                  <a:solidFill>
                    <a:schemeClr val="tx1"/>
                  </a:solidFill>
                </a:rPr>
                <a:t>Function design</a:t>
              </a:r>
            </a:p>
          </p:txBody>
        </p:sp>
        <p:sp>
          <p:nvSpPr>
            <p:cNvPr id="8" name="Rounded Rectangle 7">
              <a:extLst>
                <a:ext uri="{FF2B5EF4-FFF2-40B4-BE49-F238E27FC236}">
                  <a16:creationId xmlns:a16="http://schemas.microsoft.com/office/drawing/2014/main" id="{AFCAAD4C-2877-7417-DF65-D0DD699131C6}"/>
                </a:ext>
              </a:extLst>
            </p:cNvPr>
            <p:cNvSpPr/>
            <p:nvPr/>
          </p:nvSpPr>
          <p:spPr>
            <a:xfrm>
              <a:off x="3148279" y="5806158"/>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KR" sz="1200" dirty="0">
                  <a:solidFill>
                    <a:schemeClr val="tx1"/>
                  </a:solidFill>
                </a:rPr>
                <a:t>System design</a:t>
              </a:r>
            </a:p>
          </p:txBody>
        </p:sp>
        <p:sp>
          <p:nvSpPr>
            <p:cNvPr id="9" name="Rounded Rectangle 8">
              <a:extLst>
                <a:ext uri="{FF2B5EF4-FFF2-40B4-BE49-F238E27FC236}">
                  <a16:creationId xmlns:a16="http://schemas.microsoft.com/office/drawing/2014/main" id="{71C25F56-3848-81A4-AB41-462591521E67}"/>
                </a:ext>
              </a:extLst>
            </p:cNvPr>
            <p:cNvSpPr/>
            <p:nvPr/>
          </p:nvSpPr>
          <p:spPr>
            <a:xfrm>
              <a:off x="4144835" y="4797152"/>
              <a:ext cx="720000" cy="504056"/>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Module definition</a:t>
              </a:r>
              <a:endParaRPr lang="en-KR" sz="1200" dirty="0">
                <a:solidFill>
                  <a:schemeClr val="tx1"/>
                </a:solidFill>
              </a:endParaRPr>
            </a:p>
          </p:txBody>
        </p:sp>
        <p:sp>
          <p:nvSpPr>
            <p:cNvPr id="10" name="Rounded Rectangle 9">
              <a:extLst>
                <a:ext uri="{FF2B5EF4-FFF2-40B4-BE49-F238E27FC236}">
                  <a16:creationId xmlns:a16="http://schemas.microsoft.com/office/drawing/2014/main" id="{08D4C70A-C089-CE02-7680-1432C7D454C2}"/>
                </a:ext>
              </a:extLst>
            </p:cNvPr>
            <p:cNvSpPr/>
            <p:nvPr/>
          </p:nvSpPr>
          <p:spPr>
            <a:xfrm>
              <a:off x="4122258" y="5806158"/>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Interface definition</a:t>
              </a:r>
              <a:endParaRPr lang="en-KR" sz="1200" dirty="0">
                <a:solidFill>
                  <a:schemeClr val="tx1"/>
                </a:solidFill>
              </a:endParaRPr>
            </a:p>
          </p:txBody>
        </p:sp>
        <p:sp>
          <p:nvSpPr>
            <p:cNvPr id="11" name="Rounded Rectangle 10">
              <a:extLst>
                <a:ext uri="{FF2B5EF4-FFF2-40B4-BE49-F238E27FC236}">
                  <a16:creationId xmlns:a16="http://schemas.microsoft.com/office/drawing/2014/main" id="{775166EB-AB7F-5411-E80C-B07F4D121460}"/>
                </a:ext>
              </a:extLst>
            </p:cNvPr>
            <p:cNvSpPr/>
            <p:nvPr/>
          </p:nvSpPr>
          <p:spPr>
            <a:xfrm>
              <a:off x="5218287" y="5312834"/>
              <a:ext cx="720000" cy="504056"/>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Program coding</a:t>
              </a:r>
              <a:endParaRPr lang="en-KR" sz="1200" dirty="0">
                <a:solidFill>
                  <a:schemeClr val="tx1"/>
                </a:solidFill>
              </a:endParaRPr>
            </a:p>
          </p:txBody>
        </p:sp>
        <p:sp>
          <p:nvSpPr>
            <p:cNvPr id="12" name="Rounded Rectangle 11">
              <a:extLst>
                <a:ext uri="{FF2B5EF4-FFF2-40B4-BE49-F238E27FC236}">
                  <a16:creationId xmlns:a16="http://schemas.microsoft.com/office/drawing/2014/main" id="{508D2DBD-14CD-B8DE-664F-9E72B4E61D56}"/>
                </a:ext>
              </a:extLst>
            </p:cNvPr>
            <p:cNvSpPr/>
            <p:nvPr/>
          </p:nvSpPr>
          <p:spPr>
            <a:xfrm>
              <a:off x="6210592" y="5312834"/>
              <a:ext cx="720000" cy="504056"/>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Internal test</a:t>
              </a:r>
              <a:endParaRPr lang="en-KR" sz="1200" dirty="0">
                <a:solidFill>
                  <a:schemeClr val="tx1"/>
                </a:solidFill>
              </a:endParaRPr>
            </a:p>
          </p:txBody>
        </p:sp>
        <p:sp>
          <p:nvSpPr>
            <p:cNvPr id="13" name="Rounded Rectangle 12">
              <a:extLst>
                <a:ext uri="{FF2B5EF4-FFF2-40B4-BE49-F238E27FC236}">
                  <a16:creationId xmlns:a16="http://schemas.microsoft.com/office/drawing/2014/main" id="{F99473A5-D76D-B74C-9BC0-382FD0FFEBE9}"/>
                </a:ext>
              </a:extLst>
            </p:cNvPr>
            <p:cNvSpPr/>
            <p:nvPr/>
          </p:nvSpPr>
          <p:spPr>
            <a:xfrm>
              <a:off x="7182134" y="5312834"/>
              <a:ext cx="900000" cy="504056"/>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Integration test</a:t>
              </a:r>
              <a:endParaRPr lang="en-KR" sz="1200" dirty="0">
                <a:solidFill>
                  <a:schemeClr val="tx1"/>
                </a:solidFill>
              </a:endParaRPr>
            </a:p>
          </p:txBody>
        </p:sp>
        <p:sp>
          <p:nvSpPr>
            <p:cNvPr id="14" name="Rounded Rectangle 13">
              <a:extLst>
                <a:ext uri="{FF2B5EF4-FFF2-40B4-BE49-F238E27FC236}">
                  <a16:creationId xmlns:a16="http://schemas.microsoft.com/office/drawing/2014/main" id="{A1C09650-463D-064D-8EA5-E556A45157F1}"/>
                </a:ext>
              </a:extLst>
            </p:cNvPr>
            <p:cNvSpPr/>
            <p:nvPr/>
          </p:nvSpPr>
          <p:spPr>
            <a:xfrm>
              <a:off x="8336526" y="5312834"/>
              <a:ext cx="900000" cy="504056"/>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Report generation</a:t>
              </a:r>
              <a:endParaRPr lang="en-KR" sz="1200" dirty="0">
                <a:solidFill>
                  <a:schemeClr val="tx1"/>
                </a:solidFill>
              </a:endParaRPr>
            </a:p>
          </p:txBody>
        </p:sp>
        <p:sp>
          <p:nvSpPr>
            <p:cNvPr id="15" name="Rounded Rectangle 14">
              <a:extLst>
                <a:ext uri="{FF2B5EF4-FFF2-40B4-BE49-F238E27FC236}">
                  <a16:creationId xmlns:a16="http://schemas.microsoft.com/office/drawing/2014/main" id="{2DB4669A-BC3E-554E-3657-9CD94BFB2554}"/>
                </a:ext>
              </a:extLst>
            </p:cNvPr>
            <p:cNvSpPr/>
            <p:nvPr/>
          </p:nvSpPr>
          <p:spPr>
            <a:xfrm>
              <a:off x="9612555" y="4815879"/>
              <a:ext cx="900000" cy="504056"/>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Software installment</a:t>
              </a:r>
              <a:endParaRPr lang="en-KR" sz="1200" dirty="0">
                <a:solidFill>
                  <a:schemeClr val="tx1"/>
                </a:solidFill>
              </a:endParaRPr>
            </a:p>
          </p:txBody>
        </p:sp>
        <p:sp>
          <p:nvSpPr>
            <p:cNvPr id="16" name="Rounded Rectangle 15">
              <a:extLst>
                <a:ext uri="{FF2B5EF4-FFF2-40B4-BE49-F238E27FC236}">
                  <a16:creationId xmlns:a16="http://schemas.microsoft.com/office/drawing/2014/main" id="{20D8F42B-8AC6-EBAA-1CD3-37A76FDC122B}"/>
                </a:ext>
              </a:extLst>
            </p:cNvPr>
            <p:cNvSpPr/>
            <p:nvPr/>
          </p:nvSpPr>
          <p:spPr>
            <a:xfrm>
              <a:off x="10766534" y="4815879"/>
              <a:ext cx="900000" cy="504056"/>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System integration</a:t>
              </a:r>
              <a:endParaRPr lang="en-KR" sz="1200" dirty="0">
                <a:solidFill>
                  <a:schemeClr val="tx1"/>
                </a:solidFill>
              </a:endParaRPr>
            </a:p>
          </p:txBody>
        </p:sp>
        <p:sp>
          <p:nvSpPr>
            <p:cNvPr id="17" name="Rounded Rectangle 16">
              <a:extLst>
                <a:ext uri="{FF2B5EF4-FFF2-40B4-BE49-F238E27FC236}">
                  <a16:creationId xmlns:a16="http://schemas.microsoft.com/office/drawing/2014/main" id="{18CA1284-8B6F-5E02-5224-E13B96D4F567}"/>
                </a:ext>
              </a:extLst>
            </p:cNvPr>
            <p:cNvSpPr/>
            <p:nvPr/>
          </p:nvSpPr>
          <p:spPr>
            <a:xfrm>
              <a:off x="9612555" y="5816890"/>
              <a:ext cx="90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Training</a:t>
              </a:r>
              <a:endParaRPr lang="en-KR" sz="1200" dirty="0">
                <a:solidFill>
                  <a:schemeClr val="tx1"/>
                </a:solidFill>
              </a:endParaRPr>
            </a:p>
          </p:txBody>
        </p:sp>
        <p:cxnSp>
          <p:nvCxnSpPr>
            <p:cNvPr id="18" name="Straight Arrow Connector 17">
              <a:extLst>
                <a:ext uri="{FF2B5EF4-FFF2-40B4-BE49-F238E27FC236}">
                  <a16:creationId xmlns:a16="http://schemas.microsoft.com/office/drawing/2014/main" id="{93A2CA51-BCC9-BBA2-6468-40BE8497F6F4}"/>
                </a:ext>
              </a:extLst>
            </p:cNvPr>
            <p:cNvCxnSpPr>
              <a:stCxn id="5" idx="3"/>
              <a:endCxn id="6" idx="1"/>
            </p:cNvCxnSpPr>
            <p:nvPr/>
          </p:nvCxnSpPr>
          <p:spPr>
            <a:xfrm>
              <a:off x="1507510" y="5546135"/>
              <a:ext cx="253787" cy="799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0080B8C-FA81-979A-BDC3-E640772865B2}"/>
                </a:ext>
              </a:extLst>
            </p:cNvPr>
            <p:cNvCxnSpPr>
              <a:cxnSpLocks/>
              <a:stCxn id="11" idx="3"/>
              <a:endCxn id="12" idx="1"/>
            </p:cNvCxnSpPr>
            <p:nvPr/>
          </p:nvCxnSpPr>
          <p:spPr>
            <a:xfrm>
              <a:off x="5938287" y="5564862"/>
              <a:ext cx="272305"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F17182D-B910-3A7B-0AD8-49AF807B6647}"/>
                </a:ext>
              </a:extLst>
            </p:cNvPr>
            <p:cNvCxnSpPr>
              <a:cxnSpLocks/>
              <a:stCxn id="12" idx="3"/>
              <a:endCxn id="13" idx="1"/>
            </p:cNvCxnSpPr>
            <p:nvPr/>
          </p:nvCxnSpPr>
          <p:spPr>
            <a:xfrm>
              <a:off x="6930592" y="5564862"/>
              <a:ext cx="251542"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6DCE2A1-DCBD-91FD-F974-D9A8C095E373}"/>
                </a:ext>
              </a:extLst>
            </p:cNvPr>
            <p:cNvCxnSpPr>
              <a:cxnSpLocks/>
              <a:stCxn id="13" idx="3"/>
              <a:endCxn id="14" idx="1"/>
            </p:cNvCxnSpPr>
            <p:nvPr/>
          </p:nvCxnSpPr>
          <p:spPr>
            <a:xfrm>
              <a:off x="8082134" y="5564862"/>
              <a:ext cx="254392"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1ABAAABD-7D46-FC93-6940-C358A7EC8559}"/>
                </a:ext>
              </a:extLst>
            </p:cNvPr>
            <p:cNvCxnSpPr>
              <a:cxnSpLocks/>
              <a:stCxn id="7" idx="3"/>
              <a:endCxn id="9" idx="1"/>
            </p:cNvCxnSpPr>
            <p:nvPr/>
          </p:nvCxnSpPr>
          <p:spPr>
            <a:xfrm flipV="1">
              <a:off x="3868279" y="5049180"/>
              <a:ext cx="276556" cy="90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B3E8198-C10D-9751-937A-119EE302CF8A}"/>
                </a:ext>
              </a:extLst>
            </p:cNvPr>
            <p:cNvCxnSpPr>
              <a:cxnSpLocks/>
              <a:stCxn id="8" idx="3"/>
              <a:endCxn id="10" idx="1"/>
            </p:cNvCxnSpPr>
            <p:nvPr/>
          </p:nvCxnSpPr>
          <p:spPr>
            <a:xfrm>
              <a:off x="3868279" y="6058186"/>
              <a:ext cx="25397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540F793-0AF4-1D69-636B-56102A321487}"/>
                </a:ext>
              </a:extLst>
            </p:cNvPr>
            <p:cNvCxnSpPr>
              <a:cxnSpLocks/>
              <a:stCxn id="15" idx="3"/>
              <a:endCxn id="16" idx="1"/>
            </p:cNvCxnSpPr>
            <p:nvPr/>
          </p:nvCxnSpPr>
          <p:spPr>
            <a:xfrm>
              <a:off x="10512555" y="5067907"/>
              <a:ext cx="253979"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Elbow Connector 25">
              <a:extLst>
                <a:ext uri="{FF2B5EF4-FFF2-40B4-BE49-F238E27FC236}">
                  <a16:creationId xmlns:a16="http://schemas.microsoft.com/office/drawing/2014/main" id="{52446CDF-3889-E0B0-DE31-43E798CD50CA}"/>
                </a:ext>
              </a:extLst>
            </p:cNvPr>
            <p:cNvCxnSpPr>
              <a:cxnSpLocks/>
              <a:stCxn id="6" idx="3"/>
              <a:endCxn id="8" idx="1"/>
            </p:cNvCxnSpPr>
            <p:nvPr/>
          </p:nvCxnSpPr>
          <p:spPr>
            <a:xfrm>
              <a:off x="2769409" y="5554130"/>
              <a:ext cx="378870" cy="504056"/>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7F8F78A2-9A07-CDB9-6F7E-C97BE4E25688}"/>
                </a:ext>
              </a:extLst>
            </p:cNvPr>
            <p:cNvCxnSpPr>
              <a:cxnSpLocks/>
              <a:stCxn id="9" idx="3"/>
              <a:endCxn id="11" idx="1"/>
            </p:cNvCxnSpPr>
            <p:nvPr/>
          </p:nvCxnSpPr>
          <p:spPr>
            <a:xfrm>
              <a:off x="4864835" y="5049180"/>
              <a:ext cx="353452" cy="515682"/>
            </a:xfrm>
            <a:prstGeom prst="bentConnector3">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7723CCCA-4345-7297-FE51-A07B18FEA54B}"/>
                </a:ext>
              </a:extLst>
            </p:cNvPr>
            <p:cNvCxnSpPr>
              <a:cxnSpLocks/>
              <a:stCxn id="10" idx="3"/>
              <a:endCxn id="11" idx="1"/>
            </p:cNvCxnSpPr>
            <p:nvPr/>
          </p:nvCxnSpPr>
          <p:spPr>
            <a:xfrm flipV="1">
              <a:off x="4842258" y="5564862"/>
              <a:ext cx="376029" cy="493324"/>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Elbow Connector 51">
              <a:extLst>
                <a:ext uri="{FF2B5EF4-FFF2-40B4-BE49-F238E27FC236}">
                  <a16:creationId xmlns:a16="http://schemas.microsoft.com/office/drawing/2014/main" id="{221F0DD6-9D39-BBAF-F49C-F3237A8CA702}"/>
                </a:ext>
              </a:extLst>
            </p:cNvPr>
            <p:cNvCxnSpPr>
              <a:cxnSpLocks/>
              <a:stCxn id="14" idx="3"/>
              <a:endCxn id="17" idx="1"/>
            </p:cNvCxnSpPr>
            <p:nvPr/>
          </p:nvCxnSpPr>
          <p:spPr>
            <a:xfrm>
              <a:off x="9236526" y="5564862"/>
              <a:ext cx="376029" cy="504056"/>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634EEB88-56DE-0678-8104-A82AF1976A93}"/>
                </a:ext>
              </a:extLst>
            </p:cNvPr>
            <p:cNvSpPr txBox="1"/>
            <p:nvPr/>
          </p:nvSpPr>
          <p:spPr>
            <a:xfrm>
              <a:off x="847802" y="4931876"/>
              <a:ext cx="311304" cy="369332"/>
            </a:xfrm>
            <a:prstGeom prst="rect">
              <a:avLst/>
            </a:prstGeom>
            <a:noFill/>
          </p:spPr>
          <p:txBody>
            <a:bodyPr wrap="none" rtlCol="0">
              <a:spAutoFit/>
            </a:bodyPr>
            <a:lstStyle/>
            <a:p>
              <a:r>
                <a:rPr lang="en-KR" dirty="0"/>
                <a:t>5</a:t>
              </a:r>
            </a:p>
          </p:txBody>
        </p:sp>
        <p:sp>
          <p:nvSpPr>
            <p:cNvPr id="54" name="TextBox 53">
              <a:extLst>
                <a:ext uri="{FF2B5EF4-FFF2-40B4-BE49-F238E27FC236}">
                  <a16:creationId xmlns:a16="http://schemas.microsoft.com/office/drawing/2014/main" id="{3BCBF889-2518-A838-1963-70EA665C378C}"/>
                </a:ext>
              </a:extLst>
            </p:cNvPr>
            <p:cNvSpPr txBox="1"/>
            <p:nvPr/>
          </p:nvSpPr>
          <p:spPr>
            <a:xfrm>
              <a:off x="2109701" y="4931876"/>
              <a:ext cx="311304" cy="369332"/>
            </a:xfrm>
            <a:prstGeom prst="rect">
              <a:avLst/>
            </a:prstGeom>
            <a:noFill/>
          </p:spPr>
          <p:txBody>
            <a:bodyPr wrap="none" rtlCol="0">
              <a:spAutoFit/>
            </a:bodyPr>
            <a:lstStyle/>
            <a:p>
              <a:r>
                <a:rPr lang="en-KR" dirty="0"/>
                <a:t>8</a:t>
              </a:r>
            </a:p>
          </p:txBody>
        </p:sp>
        <p:sp>
          <p:nvSpPr>
            <p:cNvPr id="55" name="TextBox 54">
              <a:extLst>
                <a:ext uri="{FF2B5EF4-FFF2-40B4-BE49-F238E27FC236}">
                  <a16:creationId xmlns:a16="http://schemas.microsoft.com/office/drawing/2014/main" id="{9D26253D-FA04-1F01-E103-83C2A991926A}"/>
                </a:ext>
              </a:extLst>
            </p:cNvPr>
            <p:cNvSpPr txBox="1"/>
            <p:nvPr/>
          </p:nvSpPr>
          <p:spPr>
            <a:xfrm>
              <a:off x="3401325" y="4450465"/>
              <a:ext cx="311304" cy="369332"/>
            </a:xfrm>
            <a:prstGeom prst="rect">
              <a:avLst/>
            </a:prstGeom>
            <a:noFill/>
          </p:spPr>
          <p:txBody>
            <a:bodyPr wrap="none" rtlCol="0">
              <a:spAutoFit/>
            </a:bodyPr>
            <a:lstStyle/>
            <a:p>
              <a:r>
                <a:rPr lang="en-KR" dirty="0"/>
                <a:t>9</a:t>
              </a:r>
            </a:p>
          </p:txBody>
        </p:sp>
        <p:sp>
          <p:nvSpPr>
            <p:cNvPr id="56" name="TextBox 55">
              <a:extLst>
                <a:ext uri="{FF2B5EF4-FFF2-40B4-BE49-F238E27FC236}">
                  <a16:creationId xmlns:a16="http://schemas.microsoft.com/office/drawing/2014/main" id="{F9A6BE88-56AC-6F24-9B28-B72CEE63984D}"/>
                </a:ext>
              </a:extLst>
            </p:cNvPr>
            <p:cNvSpPr txBox="1"/>
            <p:nvPr/>
          </p:nvSpPr>
          <p:spPr>
            <a:xfrm>
              <a:off x="4409653" y="4450944"/>
              <a:ext cx="311304" cy="369332"/>
            </a:xfrm>
            <a:prstGeom prst="rect">
              <a:avLst/>
            </a:prstGeom>
            <a:noFill/>
          </p:spPr>
          <p:txBody>
            <a:bodyPr wrap="none" rtlCol="0">
              <a:spAutoFit/>
            </a:bodyPr>
            <a:lstStyle/>
            <a:p>
              <a:r>
                <a:rPr lang="en-KR" dirty="0"/>
                <a:t>8</a:t>
              </a:r>
            </a:p>
          </p:txBody>
        </p:sp>
        <p:sp>
          <p:nvSpPr>
            <p:cNvPr id="57" name="TextBox 56">
              <a:extLst>
                <a:ext uri="{FF2B5EF4-FFF2-40B4-BE49-F238E27FC236}">
                  <a16:creationId xmlns:a16="http://schemas.microsoft.com/office/drawing/2014/main" id="{EB0D9636-DA86-301D-2D62-3508ED59C12D}"/>
                </a:ext>
              </a:extLst>
            </p:cNvPr>
            <p:cNvSpPr txBox="1"/>
            <p:nvPr/>
          </p:nvSpPr>
          <p:spPr>
            <a:xfrm>
              <a:off x="3400564" y="5474624"/>
              <a:ext cx="311304" cy="369332"/>
            </a:xfrm>
            <a:prstGeom prst="rect">
              <a:avLst/>
            </a:prstGeom>
            <a:noFill/>
          </p:spPr>
          <p:txBody>
            <a:bodyPr wrap="none" rtlCol="0">
              <a:spAutoFit/>
            </a:bodyPr>
            <a:lstStyle/>
            <a:p>
              <a:r>
                <a:rPr lang="en-KR" dirty="0"/>
                <a:t>8</a:t>
              </a:r>
            </a:p>
          </p:txBody>
        </p:sp>
        <p:sp>
          <p:nvSpPr>
            <p:cNvPr id="58" name="TextBox 57">
              <a:extLst>
                <a:ext uri="{FF2B5EF4-FFF2-40B4-BE49-F238E27FC236}">
                  <a16:creationId xmlns:a16="http://schemas.microsoft.com/office/drawing/2014/main" id="{614A8234-185F-7671-D2B8-7D6399382963}"/>
                </a:ext>
              </a:extLst>
            </p:cNvPr>
            <p:cNvSpPr txBox="1"/>
            <p:nvPr/>
          </p:nvSpPr>
          <p:spPr>
            <a:xfrm>
              <a:off x="4405821" y="5474624"/>
              <a:ext cx="311304" cy="369332"/>
            </a:xfrm>
            <a:prstGeom prst="rect">
              <a:avLst/>
            </a:prstGeom>
            <a:noFill/>
          </p:spPr>
          <p:txBody>
            <a:bodyPr wrap="none" rtlCol="0">
              <a:spAutoFit/>
            </a:bodyPr>
            <a:lstStyle/>
            <a:p>
              <a:r>
                <a:rPr lang="en-KR" dirty="0"/>
                <a:t>7</a:t>
              </a:r>
            </a:p>
          </p:txBody>
        </p:sp>
        <p:sp>
          <p:nvSpPr>
            <p:cNvPr id="59" name="TextBox 58">
              <a:extLst>
                <a:ext uri="{FF2B5EF4-FFF2-40B4-BE49-F238E27FC236}">
                  <a16:creationId xmlns:a16="http://schemas.microsoft.com/office/drawing/2014/main" id="{4A49018F-AECF-2C56-A857-7A090EEC93BA}"/>
                </a:ext>
              </a:extLst>
            </p:cNvPr>
            <p:cNvSpPr txBox="1"/>
            <p:nvPr/>
          </p:nvSpPr>
          <p:spPr>
            <a:xfrm>
              <a:off x="5417422" y="4957266"/>
              <a:ext cx="311304" cy="369332"/>
            </a:xfrm>
            <a:prstGeom prst="rect">
              <a:avLst/>
            </a:prstGeom>
            <a:noFill/>
          </p:spPr>
          <p:txBody>
            <a:bodyPr wrap="none" rtlCol="0">
              <a:spAutoFit/>
            </a:bodyPr>
            <a:lstStyle/>
            <a:p>
              <a:r>
                <a:rPr lang="en-KR" dirty="0"/>
                <a:t>5</a:t>
              </a:r>
            </a:p>
          </p:txBody>
        </p:sp>
        <p:sp>
          <p:nvSpPr>
            <p:cNvPr id="60" name="TextBox 59">
              <a:extLst>
                <a:ext uri="{FF2B5EF4-FFF2-40B4-BE49-F238E27FC236}">
                  <a16:creationId xmlns:a16="http://schemas.microsoft.com/office/drawing/2014/main" id="{E002029D-4A9B-A440-44D4-0807D5BF72ED}"/>
                </a:ext>
              </a:extLst>
            </p:cNvPr>
            <p:cNvSpPr txBox="1"/>
            <p:nvPr/>
          </p:nvSpPr>
          <p:spPr>
            <a:xfrm>
              <a:off x="6414940" y="4957266"/>
              <a:ext cx="311304" cy="369332"/>
            </a:xfrm>
            <a:prstGeom prst="rect">
              <a:avLst/>
            </a:prstGeom>
            <a:noFill/>
          </p:spPr>
          <p:txBody>
            <a:bodyPr wrap="none" rtlCol="0">
              <a:spAutoFit/>
            </a:bodyPr>
            <a:lstStyle/>
            <a:p>
              <a:r>
                <a:rPr lang="en-KR" dirty="0"/>
                <a:t>4</a:t>
              </a:r>
            </a:p>
          </p:txBody>
        </p:sp>
        <p:sp>
          <p:nvSpPr>
            <p:cNvPr id="61" name="TextBox 60">
              <a:extLst>
                <a:ext uri="{FF2B5EF4-FFF2-40B4-BE49-F238E27FC236}">
                  <a16:creationId xmlns:a16="http://schemas.microsoft.com/office/drawing/2014/main" id="{98F54D97-A9A6-5C50-7C42-D70C7061AA51}"/>
                </a:ext>
              </a:extLst>
            </p:cNvPr>
            <p:cNvSpPr txBox="1"/>
            <p:nvPr/>
          </p:nvSpPr>
          <p:spPr>
            <a:xfrm>
              <a:off x="7470592" y="4959733"/>
              <a:ext cx="311304" cy="369332"/>
            </a:xfrm>
            <a:prstGeom prst="rect">
              <a:avLst/>
            </a:prstGeom>
            <a:noFill/>
          </p:spPr>
          <p:txBody>
            <a:bodyPr wrap="square" rtlCol="0">
              <a:spAutoFit/>
            </a:bodyPr>
            <a:lstStyle/>
            <a:p>
              <a:r>
                <a:rPr lang="en-KR" dirty="0"/>
                <a:t>7</a:t>
              </a:r>
            </a:p>
          </p:txBody>
        </p:sp>
        <p:sp>
          <p:nvSpPr>
            <p:cNvPr id="62" name="TextBox 61">
              <a:extLst>
                <a:ext uri="{FF2B5EF4-FFF2-40B4-BE49-F238E27FC236}">
                  <a16:creationId xmlns:a16="http://schemas.microsoft.com/office/drawing/2014/main" id="{136148A4-3DF1-ADCD-4D36-78651F836428}"/>
                </a:ext>
              </a:extLst>
            </p:cNvPr>
            <p:cNvSpPr txBox="1"/>
            <p:nvPr/>
          </p:nvSpPr>
          <p:spPr>
            <a:xfrm>
              <a:off x="8630874" y="4959733"/>
              <a:ext cx="311304" cy="369332"/>
            </a:xfrm>
            <a:prstGeom prst="rect">
              <a:avLst/>
            </a:prstGeom>
            <a:noFill/>
          </p:spPr>
          <p:txBody>
            <a:bodyPr wrap="none" rtlCol="0">
              <a:spAutoFit/>
            </a:bodyPr>
            <a:lstStyle/>
            <a:p>
              <a:r>
                <a:rPr lang="en-KR" dirty="0"/>
                <a:t>3</a:t>
              </a:r>
            </a:p>
          </p:txBody>
        </p:sp>
        <p:sp>
          <p:nvSpPr>
            <p:cNvPr id="63" name="TextBox 62">
              <a:extLst>
                <a:ext uri="{FF2B5EF4-FFF2-40B4-BE49-F238E27FC236}">
                  <a16:creationId xmlns:a16="http://schemas.microsoft.com/office/drawing/2014/main" id="{59589972-2E87-1BB1-1C8F-44E301549E08}"/>
                </a:ext>
              </a:extLst>
            </p:cNvPr>
            <p:cNvSpPr txBox="1"/>
            <p:nvPr/>
          </p:nvSpPr>
          <p:spPr>
            <a:xfrm>
              <a:off x="9950860" y="4476377"/>
              <a:ext cx="311304" cy="369332"/>
            </a:xfrm>
            <a:prstGeom prst="rect">
              <a:avLst/>
            </a:prstGeom>
            <a:noFill/>
          </p:spPr>
          <p:txBody>
            <a:bodyPr wrap="none" rtlCol="0">
              <a:spAutoFit/>
            </a:bodyPr>
            <a:lstStyle/>
            <a:p>
              <a:r>
                <a:rPr lang="en-KR" dirty="0"/>
                <a:t>3</a:t>
              </a:r>
            </a:p>
          </p:txBody>
        </p:sp>
        <p:sp>
          <p:nvSpPr>
            <p:cNvPr id="146432" name="TextBox 146431">
              <a:extLst>
                <a:ext uri="{FF2B5EF4-FFF2-40B4-BE49-F238E27FC236}">
                  <a16:creationId xmlns:a16="http://schemas.microsoft.com/office/drawing/2014/main" id="{45B48348-2CEC-99F8-F894-A6DDC281A042}"/>
                </a:ext>
              </a:extLst>
            </p:cNvPr>
            <p:cNvSpPr txBox="1"/>
            <p:nvPr/>
          </p:nvSpPr>
          <p:spPr>
            <a:xfrm>
              <a:off x="11060882" y="4476377"/>
              <a:ext cx="311304" cy="369332"/>
            </a:xfrm>
            <a:prstGeom prst="rect">
              <a:avLst/>
            </a:prstGeom>
            <a:noFill/>
          </p:spPr>
          <p:txBody>
            <a:bodyPr wrap="none" rtlCol="0">
              <a:spAutoFit/>
            </a:bodyPr>
            <a:lstStyle/>
            <a:p>
              <a:r>
                <a:rPr lang="en-KR" dirty="0"/>
                <a:t>9</a:t>
              </a:r>
            </a:p>
          </p:txBody>
        </p:sp>
        <p:sp>
          <p:nvSpPr>
            <p:cNvPr id="146433" name="TextBox 146432">
              <a:extLst>
                <a:ext uri="{FF2B5EF4-FFF2-40B4-BE49-F238E27FC236}">
                  <a16:creationId xmlns:a16="http://schemas.microsoft.com/office/drawing/2014/main" id="{C42FBC32-2804-8202-7E3F-03728246C11E}"/>
                </a:ext>
              </a:extLst>
            </p:cNvPr>
            <p:cNvSpPr txBox="1"/>
            <p:nvPr/>
          </p:nvSpPr>
          <p:spPr>
            <a:xfrm>
              <a:off x="9950860" y="5506210"/>
              <a:ext cx="311304" cy="369332"/>
            </a:xfrm>
            <a:prstGeom prst="rect">
              <a:avLst/>
            </a:prstGeom>
            <a:noFill/>
          </p:spPr>
          <p:txBody>
            <a:bodyPr wrap="none" rtlCol="0">
              <a:spAutoFit/>
            </a:bodyPr>
            <a:lstStyle/>
            <a:p>
              <a:r>
                <a:rPr lang="en-KR" dirty="0"/>
                <a:t>5</a:t>
              </a:r>
            </a:p>
          </p:txBody>
        </p:sp>
        <p:cxnSp>
          <p:nvCxnSpPr>
            <p:cNvPr id="25" name="Elbow Connector 24">
              <a:extLst>
                <a:ext uri="{FF2B5EF4-FFF2-40B4-BE49-F238E27FC236}">
                  <a16:creationId xmlns:a16="http://schemas.microsoft.com/office/drawing/2014/main" id="{B7C4087A-0F10-91D8-4BB3-35A1CB043A94}"/>
                </a:ext>
              </a:extLst>
            </p:cNvPr>
            <p:cNvCxnSpPr>
              <a:stCxn id="6" idx="3"/>
              <a:endCxn id="7" idx="1"/>
            </p:cNvCxnSpPr>
            <p:nvPr/>
          </p:nvCxnSpPr>
          <p:spPr>
            <a:xfrm flipV="1">
              <a:off x="2769409" y="5050084"/>
              <a:ext cx="378870" cy="504046"/>
            </a:xfrm>
            <a:prstGeom prst="bentConnector3">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Elbow Connector 28">
              <a:extLst>
                <a:ext uri="{FF2B5EF4-FFF2-40B4-BE49-F238E27FC236}">
                  <a16:creationId xmlns:a16="http://schemas.microsoft.com/office/drawing/2014/main" id="{D811A913-890E-9307-11D9-494CCFDF47CB}"/>
                </a:ext>
              </a:extLst>
            </p:cNvPr>
            <p:cNvCxnSpPr>
              <a:cxnSpLocks/>
              <a:stCxn id="14" idx="3"/>
              <a:endCxn id="15" idx="1"/>
            </p:cNvCxnSpPr>
            <p:nvPr/>
          </p:nvCxnSpPr>
          <p:spPr>
            <a:xfrm flipV="1">
              <a:off x="9236526" y="5067907"/>
              <a:ext cx="376029" cy="496955"/>
            </a:xfrm>
            <a:prstGeom prst="bentConnector3">
              <a:avLst>
                <a:gd name="adj1" fmla="val 50000"/>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433464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3C3C7C2-F2C0-CDA6-F1B9-E324840D41B3}"/>
              </a:ext>
            </a:extLst>
          </p:cNvPr>
          <p:cNvSpPr>
            <a:spLocks noGrp="1"/>
          </p:cNvSpPr>
          <p:nvPr>
            <p:ph type="title"/>
          </p:nvPr>
        </p:nvSpPr>
        <p:spPr/>
        <p:txBody>
          <a:bodyPr/>
          <a:lstStyle/>
          <a:p>
            <a:r>
              <a:rPr lang="en-US" dirty="0"/>
              <a:t>Calculating the Critical Path</a:t>
            </a:r>
            <a:endParaRPr lang="en-KR" dirty="0"/>
          </a:p>
        </p:txBody>
      </p:sp>
      <p:grpSp>
        <p:nvGrpSpPr>
          <p:cNvPr id="5" name="Group 4">
            <a:extLst>
              <a:ext uri="{FF2B5EF4-FFF2-40B4-BE49-F238E27FC236}">
                <a16:creationId xmlns:a16="http://schemas.microsoft.com/office/drawing/2014/main" id="{3DB1B33C-D65D-5E62-0871-35512D5301B8}"/>
              </a:ext>
            </a:extLst>
          </p:cNvPr>
          <p:cNvGrpSpPr/>
          <p:nvPr/>
        </p:nvGrpSpPr>
        <p:grpSpPr>
          <a:xfrm>
            <a:off x="499398" y="1932826"/>
            <a:ext cx="11167136" cy="1870481"/>
            <a:chOff x="499398" y="4450465"/>
            <a:chExt cx="11167136" cy="1870481"/>
          </a:xfrm>
        </p:grpSpPr>
        <p:sp>
          <p:nvSpPr>
            <p:cNvPr id="6" name="Rounded Rectangle 5">
              <a:extLst>
                <a:ext uri="{FF2B5EF4-FFF2-40B4-BE49-F238E27FC236}">
                  <a16:creationId xmlns:a16="http://schemas.microsoft.com/office/drawing/2014/main" id="{DCDC2E26-A93A-135A-FA3D-402F53A9209E}"/>
                </a:ext>
              </a:extLst>
            </p:cNvPr>
            <p:cNvSpPr/>
            <p:nvPr/>
          </p:nvSpPr>
          <p:spPr>
            <a:xfrm>
              <a:off x="499398" y="5294107"/>
              <a:ext cx="1008112"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KR" sz="1200" dirty="0">
                  <a:solidFill>
                    <a:schemeClr val="tx1"/>
                  </a:solidFill>
                </a:rPr>
                <a:t>Initial requirements</a:t>
              </a:r>
            </a:p>
          </p:txBody>
        </p:sp>
        <p:sp>
          <p:nvSpPr>
            <p:cNvPr id="7" name="Rounded Rectangle 6">
              <a:extLst>
                <a:ext uri="{FF2B5EF4-FFF2-40B4-BE49-F238E27FC236}">
                  <a16:creationId xmlns:a16="http://schemas.microsoft.com/office/drawing/2014/main" id="{81B32DBB-F676-4652-7C1A-E07CB4CC8C1D}"/>
                </a:ext>
              </a:extLst>
            </p:cNvPr>
            <p:cNvSpPr/>
            <p:nvPr/>
          </p:nvSpPr>
          <p:spPr>
            <a:xfrm>
              <a:off x="1761297" y="5302102"/>
              <a:ext cx="1008112"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KR" sz="1200" dirty="0">
                  <a:solidFill>
                    <a:schemeClr val="tx1"/>
                  </a:solidFill>
                </a:rPr>
                <a:t>Detailed requirements</a:t>
              </a:r>
            </a:p>
          </p:txBody>
        </p:sp>
        <p:sp>
          <p:nvSpPr>
            <p:cNvPr id="8" name="Rounded Rectangle 7">
              <a:extLst>
                <a:ext uri="{FF2B5EF4-FFF2-40B4-BE49-F238E27FC236}">
                  <a16:creationId xmlns:a16="http://schemas.microsoft.com/office/drawing/2014/main" id="{C5DD8907-5AD5-36CE-845C-3B60720FB43D}"/>
                </a:ext>
              </a:extLst>
            </p:cNvPr>
            <p:cNvSpPr/>
            <p:nvPr/>
          </p:nvSpPr>
          <p:spPr>
            <a:xfrm>
              <a:off x="3148279" y="4798056"/>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KR" sz="1200" dirty="0">
                  <a:solidFill>
                    <a:schemeClr val="tx1"/>
                  </a:solidFill>
                </a:rPr>
                <a:t>Function design</a:t>
              </a:r>
            </a:p>
          </p:txBody>
        </p:sp>
        <p:sp>
          <p:nvSpPr>
            <p:cNvPr id="9" name="Rounded Rectangle 8">
              <a:extLst>
                <a:ext uri="{FF2B5EF4-FFF2-40B4-BE49-F238E27FC236}">
                  <a16:creationId xmlns:a16="http://schemas.microsoft.com/office/drawing/2014/main" id="{5E9207F7-E41D-578F-F164-09C2155E112A}"/>
                </a:ext>
              </a:extLst>
            </p:cNvPr>
            <p:cNvSpPr/>
            <p:nvPr/>
          </p:nvSpPr>
          <p:spPr>
            <a:xfrm>
              <a:off x="3148279" y="5806158"/>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KR" sz="1200" dirty="0">
                  <a:solidFill>
                    <a:schemeClr val="tx1"/>
                  </a:solidFill>
                </a:rPr>
                <a:t>System design</a:t>
              </a:r>
            </a:p>
          </p:txBody>
        </p:sp>
        <p:sp>
          <p:nvSpPr>
            <p:cNvPr id="10" name="Rounded Rectangle 9">
              <a:extLst>
                <a:ext uri="{FF2B5EF4-FFF2-40B4-BE49-F238E27FC236}">
                  <a16:creationId xmlns:a16="http://schemas.microsoft.com/office/drawing/2014/main" id="{CAA44380-869D-1DB4-B3BA-70F803C55DD7}"/>
                </a:ext>
              </a:extLst>
            </p:cNvPr>
            <p:cNvSpPr/>
            <p:nvPr/>
          </p:nvSpPr>
          <p:spPr>
            <a:xfrm>
              <a:off x="4144835" y="4797152"/>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Module definition</a:t>
              </a:r>
              <a:endParaRPr lang="en-KR" sz="1200" dirty="0">
                <a:solidFill>
                  <a:schemeClr val="tx1"/>
                </a:solidFill>
              </a:endParaRPr>
            </a:p>
          </p:txBody>
        </p:sp>
        <p:sp>
          <p:nvSpPr>
            <p:cNvPr id="11" name="Rounded Rectangle 10">
              <a:extLst>
                <a:ext uri="{FF2B5EF4-FFF2-40B4-BE49-F238E27FC236}">
                  <a16:creationId xmlns:a16="http://schemas.microsoft.com/office/drawing/2014/main" id="{693CE122-9570-5276-290B-3EF8B8B72A56}"/>
                </a:ext>
              </a:extLst>
            </p:cNvPr>
            <p:cNvSpPr/>
            <p:nvPr/>
          </p:nvSpPr>
          <p:spPr>
            <a:xfrm>
              <a:off x="4122258" y="5806158"/>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Interface definition</a:t>
              </a:r>
              <a:endParaRPr lang="en-KR" sz="1200" dirty="0">
                <a:solidFill>
                  <a:schemeClr val="tx1"/>
                </a:solidFill>
              </a:endParaRPr>
            </a:p>
          </p:txBody>
        </p:sp>
        <p:sp>
          <p:nvSpPr>
            <p:cNvPr id="12" name="Rounded Rectangle 11">
              <a:extLst>
                <a:ext uri="{FF2B5EF4-FFF2-40B4-BE49-F238E27FC236}">
                  <a16:creationId xmlns:a16="http://schemas.microsoft.com/office/drawing/2014/main" id="{13F45A63-1BB0-C16E-D9E3-3408FEB8A86F}"/>
                </a:ext>
              </a:extLst>
            </p:cNvPr>
            <p:cNvSpPr/>
            <p:nvPr/>
          </p:nvSpPr>
          <p:spPr>
            <a:xfrm>
              <a:off x="5218287" y="5312834"/>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Program coding</a:t>
              </a:r>
              <a:endParaRPr lang="en-KR" sz="1200" dirty="0">
                <a:solidFill>
                  <a:schemeClr val="tx1"/>
                </a:solidFill>
              </a:endParaRPr>
            </a:p>
          </p:txBody>
        </p:sp>
        <p:sp>
          <p:nvSpPr>
            <p:cNvPr id="13" name="Rounded Rectangle 12">
              <a:extLst>
                <a:ext uri="{FF2B5EF4-FFF2-40B4-BE49-F238E27FC236}">
                  <a16:creationId xmlns:a16="http://schemas.microsoft.com/office/drawing/2014/main" id="{45FE2AD4-6530-8197-2A6F-821CD266E022}"/>
                </a:ext>
              </a:extLst>
            </p:cNvPr>
            <p:cNvSpPr/>
            <p:nvPr/>
          </p:nvSpPr>
          <p:spPr>
            <a:xfrm>
              <a:off x="6210592" y="5312834"/>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Internal test</a:t>
              </a:r>
              <a:endParaRPr lang="en-KR" sz="1200" dirty="0">
                <a:solidFill>
                  <a:schemeClr val="tx1"/>
                </a:solidFill>
              </a:endParaRPr>
            </a:p>
          </p:txBody>
        </p:sp>
        <p:sp>
          <p:nvSpPr>
            <p:cNvPr id="14" name="Rounded Rectangle 13">
              <a:extLst>
                <a:ext uri="{FF2B5EF4-FFF2-40B4-BE49-F238E27FC236}">
                  <a16:creationId xmlns:a16="http://schemas.microsoft.com/office/drawing/2014/main" id="{7C8E12B4-FA1E-AE91-3872-3960C1416474}"/>
                </a:ext>
              </a:extLst>
            </p:cNvPr>
            <p:cNvSpPr/>
            <p:nvPr/>
          </p:nvSpPr>
          <p:spPr>
            <a:xfrm>
              <a:off x="7182134" y="5312834"/>
              <a:ext cx="90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Integration test</a:t>
              </a:r>
              <a:endParaRPr lang="en-KR" sz="1200" dirty="0">
                <a:solidFill>
                  <a:schemeClr val="tx1"/>
                </a:solidFill>
              </a:endParaRPr>
            </a:p>
          </p:txBody>
        </p:sp>
        <p:sp>
          <p:nvSpPr>
            <p:cNvPr id="15" name="Rounded Rectangle 14">
              <a:extLst>
                <a:ext uri="{FF2B5EF4-FFF2-40B4-BE49-F238E27FC236}">
                  <a16:creationId xmlns:a16="http://schemas.microsoft.com/office/drawing/2014/main" id="{71DA6A2D-9C4A-8F91-3DCC-F2F8254B6059}"/>
                </a:ext>
              </a:extLst>
            </p:cNvPr>
            <p:cNvSpPr/>
            <p:nvPr/>
          </p:nvSpPr>
          <p:spPr>
            <a:xfrm>
              <a:off x="8336526" y="5312834"/>
              <a:ext cx="90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Report generation</a:t>
              </a:r>
              <a:endParaRPr lang="en-KR" sz="1200" dirty="0">
                <a:solidFill>
                  <a:schemeClr val="tx1"/>
                </a:solidFill>
              </a:endParaRPr>
            </a:p>
          </p:txBody>
        </p:sp>
        <p:sp>
          <p:nvSpPr>
            <p:cNvPr id="16" name="Rounded Rectangle 15">
              <a:extLst>
                <a:ext uri="{FF2B5EF4-FFF2-40B4-BE49-F238E27FC236}">
                  <a16:creationId xmlns:a16="http://schemas.microsoft.com/office/drawing/2014/main" id="{329BE42E-4B7B-649E-EF64-1FC3B3DEAEE5}"/>
                </a:ext>
              </a:extLst>
            </p:cNvPr>
            <p:cNvSpPr/>
            <p:nvPr/>
          </p:nvSpPr>
          <p:spPr>
            <a:xfrm>
              <a:off x="9612555" y="4815879"/>
              <a:ext cx="90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Software installment</a:t>
              </a:r>
              <a:endParaRPr lang="en-KR" sz="1200" dirty="0">
                <a:solidFill>
                  <a:schemeClr val="tx1"/>
                </a:solidFill>
              </a:endParaRPr>
            </a:p>
          </p:txBody>
        </p:sp>
        <p:sp>
          <p:nvSpPr>
            <p:cNvPr id="17" name="Rounded Rectangle 16">
              <a:extLst>
                <a:ext uri="{FF2B5EF4-FFF2-40B4-BE49-F238E27FC236}">
                  <a16:creationId xmlns:a16="http://schemas.microsoft.com/office/drawing/2014/main" id="{FBCC789D-CD10-E9AD-53E9-E6223B4F4C72}"/>
                </a:ext>
              </a:extLst>
            </p:cNvPr>
            <p:cNvSpPr/>
            <p:nvPr/>
          </p:nvSpPr>
          <p:spPr>
            <a:xfrm>
              <a:off x="10766534" y="4815879"/>
              <a:ext cx="90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System integration</a:t>
              </a:r>
              <a:endParaRPr lang="en-KR" sz="1200" dirty="0">
                <a:solidFill>
                  <a:schemeClr val="tx1"/>
                </a:solidFill>
              </a:endParaRPr>
            </a:p>
          </p:txBody>
        </p:sp>
        <p:sp>
          <p:nvSpPr>
            <p:cNvPr id="18" name="Rounded Rectangle 17">
              <a:extLst>
                <a:ext uri="{FF2B5EF4-FFF2-40B4-BE49-F238E27FC236}">
                  <a16:creationId xmlns:a16="http://schemas.microsoft.com/office/drawing/2014/main" id="{9B58B9C3-21C9-7CB9-591A-0626D86B6199}"/>
                </a:ext>
              </a:extLst>
            </p:cNvPr>
            <p:cNvSpPr/>
            <p:nvPr/>
          </p:nvSpPr>
          <p:spPr>
            <a:xfrm>
              <a:off x="9612555" y="5816890"/>
              <a:ext cx="90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Training</a:t>
              </a:r>
              <a:endParaRPr lang="en-KR" sz="1200" dirty="0">
                <a:solidFill>
                  <a:schemeClr val="tx1"/>
                </a:solidFill>
              </a:endParaRPr>
            </a:p>
          </p:txBody>
        </p:sp>
        <p:cxnSp>
          <p:nvCxnSpPr>
            <p:cNvPr id="19" name="Straight Arrow Connector 18">
              <a:extLst>
                <a:ext uri="{FF2B5EF4-FFF2-40B4-BE49-F238E27FC236}">
                  <a16:creationId xmlns:a16="http://schemas.microsoft.com/office/drawing/2014/main" id="{A786EDE3-09C1-D66F-AFC4-B1E273BFD3FD}"/>
                </a:ext>
              </a:extLst>
            </p:cNvPr>
            <p:cNvCxnSpPr>
              <a:stCxn id="6" idx="3"/>
              <a:endCxn id="7" idx="1"/>
            </p:cNvCxnSpPr>
            <p:nvPr/>
          </p:nvCxnSpPr>
          <p:spPr>
            <a:xfrm>
              <a:off x="1507510" y="5546135"/>
              <a:ext cx="253787" cy="79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9A9E5CC-9623-0C55-7918-89592FF44A17}"/>
                </a:ext>
              </a:extLst>
            </p:cNvPr>
            <p:cNvCxnSpPr>
              <a:cxnSpLocks/>
              <a:stCxn id="12" idx="3"/>
              <a:endCxn id="13" idx="1"/>
            </p:cNvCxnSpPr>
            <p:nvPr/>
          </p:nvCxnSpPr>
          <p:spPr>
            <a:xfrm>
              <a:off x="5938287" y="5564862"/>
              <a:ext cx="27230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A583509-7494-7607-DFBD-256AA9E6C72F}"/>
                </a:ext>
              </a:extLst>
            </p:cNvPr>
            <p:cNvCxnSpPr>
              <a:cxnSpLocks/>
              <a:stCxn id="13" idx="3"/>
              <a:endCxn id="14" idx="1"/>
            </p:cNvCxnSpPr>
            <p:nvPr/>
          </p:nvCxnSpPr>
          <p:spPr>
            <a:xfrm>
              <a:off x="6930592" y="5564862"/>
              <a:ext cx="25154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D6838C0-5315-CC80-35D2-F2F6A898D34C}"/>
                </a:ext>
              </a:extLst>
            </p:cNvPr>
            <p:cNvCxnSpPr>
              <a:cxnSpLocks/>
              <a:stCxn id="14" idx="3"/>
              <a:endCxn id="15" idx="1"/>
            </p:cNvCxnSpPr>
            <p:nvPr/>
          </p:nvCxnSpPr>
          <p:spPr>
            <a:xfrm>
              <a:off x="8082134" y="5564862"/>
              <a:ext cx="25439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F6E3DDD-E302-379E-C722-58EAA767394D}"/>
                </a:ext>
              </a:extLst>
            </p:cNvPr>
            <p:cNvCxnSpPr>
              <a:cxnSpLocks/>
              <a:stCxn id="8" idx="3"/>
              <a:endCxn id="10" idx="1"/>
            </p:cNvCxnSpPr>
            <p:nvPr/>
          </p:nvCxnSpPr>
          <p:spPr>
            <a:xfrm flipV="1">
              <a:off x="3868279" y="5049180"/>
              <a:ext cx="276556" cy="9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F4785C2-B522-2DFB-2B9A-9E04AB39E966}"/>
                </a:ext>
              </a:extLst>
            </p:cNvPr>
            <p:cNvCxnSpPr>
              <a:cxnSpLocks/>
              <a:stCxn id="9" idx="3"/>
              <a:endCxn id="11" idx="1"/>
            </p:cNvCxnSpPr>
            <p:nvPr/>
          </p:nvCxnSpPr>
          <p:spPr>
            <a:xfrm>
              <a:off x="3868279" y="6058186"/>
              <a:ext cx="25397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9B1AA3B-12E7-6E3F-1C79-F2F4B1DB44A8}"/>
                </a:ext>
              </a:extLst>
            </p:cNvPr>
            <p:cNvCxnSpPr>
              <a:cxnSpLocks/>
              <a:stCxn id="16" idx="3"/>
              <a:endCxn id="17" idx="1"/>
            </p:cNvCxnSpPr>
            <p:nvPr/>
          </p:nvCxnSpPr>
          <p:spPr>
            <a:xfrm>
              <a:off x="10512555" y="5067907"/>
              <a:ext cx="25397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Elbow Connector 25">
              <a:extLst>
                <a:ext uri="{FF2B5EF4-FFF2-40B4-BE49-F238E27FC236}">
                  <a16:creationId xmlns:a16="http://schemas.microsoft.com/office/drawing/2014/main" id="{61EDAFED-E677-6B66-8923-8CB46EF1A799}"/>
                </a:ext>
              </a:extLst>
            </p:cNvPr>
            <p:cNvCxnSpPr>
              <a:cxnSpLocks/>
              <a:stCxn id="7" idx="3"/>
              <a:endCxn id="9" idx="1"/>
            </p:cNvCxnSpPr>
            <p:nvPr/>
          </p:nvCxnSpPr>
          <p:spPr>
            <a:xfrm>
              <a:off x="2769409" y="5554130"/>
              <a:ext cx="378870" cy="504056"/>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ED798FB7-00BF-17B1-1499-0445F82D4310}"/>
                </a:ext>
              </a:extLst>
            </p:cNvPr>
            <p:cNvCxnSpPr>
              <a:cxnSpLocks/>
              <a:stCxn id="10" idx="3"/>
              <a:endCxn id="12" idx="1"/>
            </p:cNvCxnSpPr>
            <p:nvPr/>
          </p:nvCxnSpPr>
          <p:spPr>
            <a:xfrm>
              <a:off x="4864835" y="5049180"/>
              <a:ext cx="353452" cy="515682"/>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0EFBFF37-3CC7-9C50-AB5F-3A66F2A27418}"/>
                </a:ext>
              </a:extLst>
            </p:cNvPr>
            <p:cNvCxnSpPr>
              <a:cxnSpLocks/>
              <a:stCxn id="11" idx="3"/>
              <a:endCxn id="12" idx="1"/>
            </p:cNvCxnSpPr>
            <p:nvPr/>
          </p:nvCxnSpPr>
          <p:spPr>
            <a:xfrm flipV="1">
              <a:off x="4842258" y="5564862"/>
              <a:ext cx="376029" cy="493324"/>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Elbow Connector 28">
              <a:extLst>
                <a:ext uri="{FF2B5EF4-FFF2-40B4-BE49-F238E27FC236}">
                  <a16:creationId xmlns:a16="http://schemas.microsoft.com/office/drawing/2014/main" id="{967ABED7-0BE6-07C0-68B8-98B38FA526FB}"/>
                </a:ext>
              </a:extLst>
            </p:cNvPr>
            <p:cNvCxnSpPr>
              <a:cxnSpLocks/>
              <a:stCxn id="15" idx="3"/>
              <a:endCxn id="18" idx="1"/>
            </p:cNvCxnSpPr>
            <p:nvPr/>
          </p:nvCxnSpPr>
          <p:spPr>
            <a:xfrm>
              <a:off x="9236526" y="5564862"/>
              <a:ext cx="376029" cy="504056"/>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A2561ECA-1BD2-9AB7-16BB-1D2087A42518}"/>
                </a:ext>
              </a:extLst>
            </p:cNvPr>
            <p:cNvSpPr txBox="1"/>
            <p:nvPr/>
          </p:nvSpPr>
          <p:spPr>
            <a:xfrm>
              <a:off x="847802" y="4931876"/>
              <a:ext cx="311304" cy="369332"/>
            </a:xfrm>
            <a:prstGeom prst="rect">
              <a:avLst/>
            </a:prstGeom>
            <a:noFill/>
          </p:spPr>
          <p:txBody>
            <a:bodyPr wrap="none" rtlCol="0">
              <a:spAutoFit/>
            </a:bodyPr>
            <a:lstStyle/>
            <a:p>
              <a:r>
                <a:rPr lang="en-KR" dirty="0"/>
                <a:t>5</a:t>
              </a:r>
            </a:p>
          </p:txBody>
        </p:sp>
        <p:sp>
          <p:nvSpPr>
            <p:cNvPr id="31" name="TextBox 30">
              <a:extLst>
                <a:ext uri="{FF2B5EF4-FFF2-40B4-BE49-F238E27FC236}">
                  <a16:creationId xmlns:a16="http://schemas.microsoft.com/office/drawing/2014/main" id="{F63D83A8-F800-20AC-0C35-CFA6813B071A}"/>
                </a:ext>
              </a:extLst>
            </p:cNvPr>
            <p:cNvSpPr txBox="1"/>
            <p:nvPr/>
          </p:nvSpPr>
          <p:spPr>
            <a:xfrm>
              <a:off x="2109701" y="4931876"/>
              <a:ext cx="311304" cy="369332"/>
            </a:xfrm>
            <a:prstGeom prst="rect">
              <a:avLst/>
            </a:prstGeom>
            <a:noFill/>
          </p:spPr>
          <p:txBody>
            <a:bodyPr wrap="none" rtlCol="0">
              <a:spAutoFit/>
            </a:bodyPr>
            <a:lstStyle/>
            <a:p>
              <a:r>
                <a:rPr lang="en-KR" dirty="0"/>
                <a:t>8</a:t>
              </a:r>
            </a:p>
          </p:txBody>
        </p:sp>
        <p:sp>
          <p:nvSpPr>
            <p:cNvPr id="32" name="TextBox 31">
              <a:extLst>
                <a:ext uri="{FF2B5EF4-FFF2-40B4-BE49-F238E27FC236}">
                  <a16:creationId xmlns:a16="http://schemas.microsoft.com/office/drawing/2014/main" id="{C5324352-6BBE-64BC-2BD8-405D4A82494C}"/>
                </a:ext>
              </a:extLst>
            </p:cNvPr>
            <p:cNvSpPr txBox="1"/>
            <p:nvPr/>
          </p:nvSpPr>
          <p:spPr>
            <a:xfrm>
              <a:off x="3401325" y="4450465"/>
              <a:ext cx="311304" cy="369332"/>
            </a:xfrm>
            <a:prstGeom prst="rect">
              <a:avLst/>
            </a:prstGeom>
            <a:noFill/>
          </p:spPr>
          <p:txBody>
            <a:bodyPr wrap="none" rtlCol="0">
              <a:spAutoFit/>
            </a:bodyPr>
            <a:lstStyle/>
            <a:p>
              <a:r>
                <a:rPr lang="en-KR" dirty="0"/>
                <a:t>9</a:t>
              </a:r>
            </a:p>
          </p:txBody>
        </p:sp>
        <p:sp>
          <p:nvSpPr>
            <p:cNvPr id="33" name="TextBox 32">
              <a:extLst>
                <a:ext uri="{FF2B5EF4-FFF2-40B4-BE49-F238E27FC236}">
                  <a16:creationId xmlns:a16="http://schemas.microsoft.com/office/drawing/2014/main" id="{5AB43667-F7F1-2B26-5D7A-D3024D5CA0E6}"/>
                </a:ext>
              </a:extLst>
            </p:cNvPr>
            <p:cNvSpPr txBox="1"/>
            <p:nvPr/>
          </p:nvSpPr>
          <p:spPr>
            <a:xfrm>
              <a:off x="4409653" y="4450944"/>
              <a:ext cx="311304" cy="369332"/>
            </a:xfrm>
            <a:prstGeom prst="rect">
              <a:avLst/>
            </a:prstGeom>
            <a:noFill/>
          </p:spPr>
          <p:txBody>
            <a:bodyPr wrap="none" rtlCol="0">
              <a:spAutoFit/>
            </a:bodyPr>
            <a:lstStyle/>
            <a:p>
              <a:r>
                <a:rPr lang="en-KR" dirty="0"/>
                <a:t>8</a:t>
              </a:r>
            </a:p>
          </p:txBody>
        </p:sp>
        <p:sp>
          <p:nvSpPr>
            <p:cNvPr id="34" name="TextBox 33">
              <a:extLst>
                <a:ext uri="{FF2B5EF4-FFF2-40B4-BE49-F238E27FC236}">
                  <a16:creationId xmlns:a16="http://schemas.microsoft.com/office/drawing/2014/main" id="{7B35BE9A-F3B2-89B3-841A-440ECF1A315E}"/>
                </a:ext>
              </a:extLst>
            </p:cNvPr>
            <p:cNvSpPr txBox="1"/>
            <p:nvPr/>
          </p:nvSpPr>
          <p:spPr>
            <a:xfrm>
              <a:off x="3400564" y="5474624"/>
              <a:ext cx="311304" cy="369332"/>
            </a:xfrm>
            <a:prstGeom prst="rect">
              <a:avLst/>
            </a:prstGeom>
            <a:noFill/>
          </p:spPr>
          <p:txBody>
            <a:bodyPr wrap="none" rtlCol="0">
              <a:spAutoFit/>
            </a:bodyPr>
            <a:lstStyle/>
            <a:p>
              <a:r>
                <a:rPr lang="en-KR" dirty="0"/>
                <a:t>8</a:t>
              </a:r>
            </a:p>
          </p:txBody>
        </p:sp>
        <p:sp>
          <p:nvSpPr>
            <p:cNvPr id="35" name="TextBox 34">
              <a:extLst>
                <a:ext uri="{FF2B5EF4-FFF2-40B4-BE49-F238E27FC236}">
                  <a16:creationId xmlns:a16="http://schemas.microsoft.com/office/drawing/2014/main" id="{326195A6-FAA1-DA7B-C4CD-05E043F5AC6F}"/>
                </a:ext>
              </a:extLst>
            </p:cNvPr>
            <p:cNvSpPr txBox="1"/>
            <p:nvPr/>
          </p:nvSpPr>
          <p:spPr>
            <a:xfrm>
              <a:off x="4405821" y="5474624"/>
              <a:ext cx="311304" cy="369332"/>
            </a:xfrm>
            <a:prstGeom prst="rect">
              <a:avLst/>
            </a:prstGeom>
            <a:noFill/>
          </p:spPr>
          <p:txBody>
            <a:bodyPr wrap="none" rtlCol="0">
              <a:spAutoFit/>
            </a:bodyPr>
            <a:lstStyle/>
            <a:p>
              <a:r>
                <a:rPr lang="en-KR" dirty="0"/>
                <a:t>7</a:t>
              </a:r>
            </a:p>
          </p:txBody>
        </p:sp>
        <p:sp>
          <p:nvSpPr>
            <p:cNvPr id="36" name="TextBox 35">
              <a:extLst>
                <a:ext uri="{FF2B5EF4-FFF2-40B4-BE49-F238E27FC236}">
                  <a16:creationId xmlns:a16="http://schemas.microsoft.com/office/drawing/2014/main" id="{E4647522-389D-824C-EC2E-5A76DA276DC8}"/>
                </a:ext>
              </a:extLst>
            </p:cNvPr>
            <p:cNvSpPr txBox="1"/>
            <p:nvPr/>
          </p:nvSpPr>
          <p:spPr>
            <a:xfrm>
              <a:off x="5417422" y="4957266"/>
              <a:ext cx="311304" cy="369332"/>
            </a:xfrm>
            <a:prstGeom prst="rect">
              <a:avLst/>
            </a:prstGeom>
            <a:noFill/>
          </p:spPr>
          <p:txBody>
            <a:bodyPr wrap="none" rtlCol="0">
              <a:spAutoFit/>
            </a:bodyPr>
            <a:lstStyle/>
            <a:p>
              <a:r>
                <a:rPr lang="en-KR" dirty="0"/>
                <a:t>5</a:t>
              </a:r>
            </a:p>
          </p:txBody>
        </p:sp>
        <p:sp>
          <p:nvSpPr>
            <p:cNvPr id="37" name="TextBox 36">
              <a:extLst>
                <a:ext uri="{FF2B5EF4-FFF2-40B4-BE49-F238E27FC236}">
                  <a16:creationId xmlns:a16="http://schemas.microsoft.com/office/drawing/2014/main" id="{143292E9-C4F7-EB4C-FE53-FE923A7F43C4}"/>
                </a:ext>
              </a:extLst>
            </p:cNvPr>
            <p:cNvSpPr txBox="1"/>
            <p:nvPr/>
          </p:nvSpPr>
          <p:spPr>
            <a:xfrm>
              <a:off x="6414940" y="4957266"/>
              <a:ext cx="311304" cy="369332"/>
            </a:xfrm>
            <a:prstGeom prst="rect">
              <a:avLst/>
            </a:prstGeom>
            <a:noFill/>
          </p:spPr>
          <p:txBody>
            <a:bodyPr wrap="none" rtlCol="0">
              <a:spAutoFit/>
            </a:bodyPr>
            <a:lstStyle/>
            <a:p>
              <a:r>
                <a:rPr lang="en-KR" dirty="0"/>
                <a:t>4</a:t>
              </a:r>
            </a:p>
          </p:txBody>
        </p:sp>
        <p:sp>
          <p:nvSpPr>
            <p:cNvPr id="38" name="TextBox 37">
              <a:extLst>
                <a:ext uri="{FF2B5EF4-FFF2-40B4-BE49-F238E27FC236}">
                  <a16:creationId xmlns:a16="http://schemas.microsoft.com/office/drawing/2014/main" id="{47D2BD38-03E4-A4AA-91BB-529AA3A6DEBA}"/>
                </a:ext>
              </a:extLst>
            </p:cNvPr>
            <p:cNvSpPr txBox="1"/>
            <p:nvPr/>
          </p:nvSpPr>
          <p:spPr>
            <a:xfrm>
              <a:off x="7470592" y="4959733"/>
              <a:ext cx="311304" cy="369332"/>
            </a:xfrm>
            <a:prstGeom prst="rect">
              <a:avLst/>
            </a:prstGeom>
            <a:noFill/>
          </p:spPr>
          <p:txBody>
            <a:bodyPr wrap="square" rtlCol="0">
              <a:spAutoFit/>
            </a:bodyPr>
            <a:lstStyle/>
            <a:p>
              <a:r>
                <a:rPr lang="en-KR" dirty="0"/>
                <a:t>7</a:t>
              </a:r>
            </a:p>
          </p:txBody>
        </p:sp>
        <p:sp>
          <p:nvSpPr>
            <p:cNvPr id="39" name="TextBox 38">
              <a:extLst>
                <a:ext uri="{FF2B5EF4-FFF2-40B4-BE49-F238E27FC236}">
                  <a16:creationId xmlns:a16="http://schemas.microsoft.com/office/drawing/2014/main" id="{64CE4129-3C78-81E5-C8E7-3744F2434380}"/>
                </a:ext>
              </a:extLst>
            </p:cNvPr>
            <p:cNvSpPr txBox="1"/>
            <p:nvPr/>
          </p:nvSpPr>
          <p:spPr>
            <a:xfrm>
              <a:off x="8630874" y="4959733"/>
              <a:ext cx="311304" cy="369332"/>
            </a:xfrm>
            <a:prstGeom prst="rect">
              <a:avLst/>
            </a:prstGeom>
            <a:noFill/>
          </p:spPr>
          <p:txBody>
            <a:bodyPr wrap="none" rtlCol="0">
              <a:spAutoFit/>
            </a:bodyPr>
            <a:lstStyle/>
            <a:p>
              <a:r>
                <a:rPr lang="en-KR" dirty="0"/>
                <a:t>3</a:t>
              </a:r>
            </a:p>
          </p:txBody>
        </p:sp>
        <p:sp>
          <p:nvSpPr>
            <p:cNvPr id="40" name="TextBox 39">
              <a:extLst>
                <a:ext uri="{FF2B5EF4-FFF2-40B4-BE49-F238E27FC236}">
                  <a16:creationId xmlns:a16="http://schemas.microsoft.com/office/drawing/2014/main" id="{AB21BFE5-8BA4-5764-17E2-261BFB86BD40}"/>
                </a:ext>
              </a:extLst>
            </p:cNvPr>
            <p:cNvSpPr txBox="1"/>
            <p:nvPr/>
          </p:nvSpPr>
          <p:spPr>
            <a:xfrm>
              <a:off x="9950860" y="4476377"/>
              <a:ext cx="311304" cy="369332"/>
            </a:xfrm>
            <a:prstGeom prst="rect">
              <a:avLst/>
            </a:prstGeom>
            <a:noFill/>
          </p:spPr>
          <p:txBody>
            <a:bodyPr wrap="none" rtlCol="0">
              <a:spAutoFit/>
            </a:bodyPr>
            <a:lstStyle/>
            <a:p>
              <a:r>
                <a:rPr lang="en-KR" dirty="0"/>
                <a:t>3</a:t>
              </a:r>
            </a:p>
          </p:txBody>
        </p:sp>
        <p:sp>
          <p:nvSpPr>
            <p:cNvPr id="41" name="TextBox 40">
              <a:extLst>
                <a:ext uri="{FF2B5EF4-FFF2-40B4-BE49-F238E27FC236}">
                  <a16:creationId xmlns:a16="http://schemas.microsoft.com/office/drawing/2014/main" id="{0D64408A-6783-2700-90D0-4D74036E1532}"/>
                </a:ext>
              </a:extLst>
            </p:cNvPr>
            <p:cNvSpPr txBox="1"/>
            <p:nvPr/>
          </p:nvSpPr>
          <p:spPr>
            <a:xfrm>
              <a:off x="11060882" y="4476377"/>
              <a:ext cx="311304" cy="369332"/>
            </a:xfrm>
            <a:prstGeom prst="rect">
              <a:avLst/>
            </a:prstGeom>
            <a:noFill/>
          </p:spPr>
          <p:txBody>
            <a:bodyPr wrap="none" rtlCol="0">
              <a:spAutoFit/>
            </a:bodyPr>
            <a:lstStyle/>
            <a:p>
              <a:r>
                <a:rPr lang="en-KR" dirty="0"/>
                <a:t>9</a:t>
              </a:r>
            </a:p>
          </p:txBody>
        </p:sp>
        <p:sp>
          <p:nvSpPr>
            <p:cNvPr id="42" name="TextBox 41">
              <a:extLst>
                <a:ext uri="{FF2B5EF4-FFF2-40B4-BE49-F238E27FC236}">
                  <a16:creationId xmlns:a16="http://schemas.microsoft.com/office/drawing/2014/main" id="{F238133A-50CD-2A7C-E724-1292AEF00D13}"/>
                </a:ext>
              </a:extLst>
            </p:cNvPr>
            <p:cNvSpPr txBox="1"/>
            <p:nvPr/>
          </p:nvSpPr>
          <p:spPr>
            <a:xfrm>
              <a:off x="9950860" y="5506210"/>
              <a:ext cx="311304" cy="369332"/>
            </a:xfrm>
            <a:prstGeom prst="rect">
              <a:avLst/>
            </a:prstGeom>
            <a:noFill/>
          </p:spPr>
          <p:txBody>
            <a:bodyPr wrap="none" rtlCol="0">
              <a:spAutoFit/>
            </a:bodyPr>
            <a:lstStyle/>
            <a:p>
              <a:r>
                <a:rPr lang="en-KR" dirty="0"/>
                <a:t>5</a:t>
              </a:r>
            </a:p>
          </p:txBody>
        </p:sp>
        <p:cxnSp>
          <p:nvCxnSpPr>
            <p:cNvPr id="43" name="Elbow Connector 42">
              <a:extLst>
                <a:ext uri="{FF2B5EF4-FFF2-40B4-BE49-F238E27FC236}">
                  <a16:creationId xmlns:a16="http://schemas.microsoft.com/office/drawing/2014/main" id="{6AD74DA4-6E40-BD07-193B-8196FE2C15F8}"/>
                </a:ext>
              </a:extLst>
            </p:cNvPr>
            <p:cNvCxnSpPr>
              <a:stCxn id="7" idx="3"/>
              <a:endCxn id="8" idx="1"/>
            </p:cNvCxnSpPr>
            <p:nvPr/>
          </p:nvCxnSpPr>
          <p:spPr>
            <a:xfrm flipV="1">
              <a:off x="2769409" y="5050084"/>
              <a:ext cx="378870" cy="504046"/>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Elbow Connector 43">
              <a:extLst>
                <a:ext uri="{FF2B5EF4-FFF2-40B4-BE49-F238E27FC236}">
                  <a16:creationId xmlns:a16="http://schemas.microsoft.com/office/drawing/2014/main" id="{E73B6B0B-DB59-B048-D59E-DCAD6D04B2B8}"/>
                </a:ext>
              </a:extLst>
            </p:cNvPr>
            <p:cNvCxnSpPr>
              <a:cxnSpLocks/>
              <a:stCxn id="15" idx="3"/>
              <a:endCxn id="16" idx="1"/>
            </p:cNvCxnSpPr>
            <p:nvPr/>
          </p:nvCxnSpPr>
          <p:spPr>
            <a:xfrm flipV="1">
              <a:off x="9236526" y="5067907"/>
              <a:ext cx="376029" cy="496955"/>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5285EC22-027D-0FB6-F59F-77956480F7DB}"/>
              </a:ext>
            </a:extLst>
          </p:cNvPr>
          <p:cNvSpPr txBox="1"/>
          <p:nvPr/>
        </p:nvSpPr>
        <p:spPr>
          <a:xfrm>
            <a:off x="448654" y="2101073"/>
            <a:ext cx="978153" cy="276999"/>
          </a:xfrm>
          <a:prstGeom prst="rect">
            <a:avLst/>
          </a:prstGeom>
          <a:noFill/>
        </p:spPr>
        <p:txBody>
          <a:bodyPr wrap="none" rtlCol="0">
            <a:spAutoFit/>
          </a:bodyPr>
          <a:lstStyle/>
          <a:p>
            <a:r>
              <a:rPr lang="en-KR" sz="1200" dirty="0"/>
              <a:t>ES=0, EF=5</a:t>
            </a:r>
          </a:p>
        </p:txBody>
      </p:sp>
      <p:sp>
        <p:nvSpPr>
          <p:cNvPr id="46" name="TextBox 45">
            <a:extLst>
              <a:ext uri="{FF2B5EF4-FFF2-40B4-BE49-F238E27FC236}">
                <a16:creationId xmlns:a16="http://schemas.microsoft.com/office/drawing/2014/main" id="{A84F0183-031D-2A3E-BB71-BF29090D8686}"/>
              </a:ext>
            </a:extLst>
          </p:cNvPr>
          <p:cNvSpPr txBox="1"/>
          <p:nvPr/>
        </p:nvSpPr>
        <p:spPr>
          <a:xfrm>
            <a:off x="1660860" y="2101073"/>
            <a:ext cx="1063112" cy="276999"/>
          </a:xfrm>
          <a:prstGeom prst="rect">
            <a:avLst/>
          </a:prstGeom>
          <a:noFill/>
        </p:spPr>
        <p:txBody>
          <a:bodyPr wrap="none" rtlCol="0">
            <a:spAutoFit/>
          </a:bodyPr>
          <a:lstStyle/>
          <a:p>
            <a:r>
              <a:rPr lang="en-KR" sz="1200" dirty="0"/>
              <a:t>ES=5, EF=13</a:t>
            </a:r>
          </a:p>
        </p:txBody>
      </p:sp>
      <p:sp>
        <p:nvSpPr>
          <p:cNvPr id="47" name="TextBox 46">
            <a:extLst>
              <a:ext uri="{FF2B5EF4-FFF2-40B4-BE49-F238E27FC236}">
                <a16:creationId xmlns:a16="http://schemas.microsoft.com/office/drawing/2014/main" id="{0F38B30A-CECA-B6EF-3E7E-2F8238A8820A}"/>
              </a:ext>
            </a:extLst>
          </p:cNvPr>
          <p:cNvSpPr txBox="1"/>
          <p:nvPr/>
        </p:nvSpPr>
        <p:spPr>
          <a:xfrm>
            <a:off x="2934242" y="1717575"/>
            <a:ext cx="1148071" cy="276999"/>
          </a:xfrm>
          <a:prstGeom prst="rect">
            <a:avLst/>
          </a:prstGeom>
          <a:noFill/>
        </p:spPr>
        <p:txBody>
          <a:bodyPr wrap="none" rtlCol="0">
            <a:spAutoFit/>
          </a:bodyPr>
          <a:lstStyle/>
          <a:p>
            <a:r>
              <a:rPr lang="en-KR" sz="1200" dirty="0"/>
              <a:t>ES=13, EF=22</a:t>
            </a:r>
          </a:p>
        </p:txBody>
      </p:sp>
      <p:sp>
        <p:nvSpPr>
          <p:cNvPr id="48" name="TextBox 47">
            <a:extLst>
              <a:ext uri="{FF2B5EF4-FFF2-40B4-BE49-F238E27FC236}">
                <a16:creationId xmlns:a16="http://schemas.microsoft.com/office/drawing/2014/main" id="{459CD1F0-2544-00C6-A751-788678FDB4EA}"/>
              </a:ext>
            </a:extLst>
          </p:cNvPr>
          <p:cNvSpPr txBox="1"/>
          <p:nvPr/>
        </p:nvSpPr>
        <p:spPr>
          <a:xfrm>
            <a:off x="2866369" y="3872081"/>
            <a:ext cx="1148071" cy="276999"/>
          </a:xfrm>
          <a:prstGeom prst="rect">
            <a:avLst/>
          </a:prstGeom>
          <a:noFill/>
        </p:spPr>
        <p:txBody>
          <a:bodyPr wrap="none" rtlCol="0">
            <a:spAutoFit/>
          </a:bodyPr>
          <a:lstStyle/>
          <a:p>
            <a:r>
              <a:rPr lang="en-KR" sz="1200" dirty="0"/>
              <a:t>ES=13, EF=21</a:t>
            </a:r>
          </a:p>
        </p:txBody>
      </p:sp>
      <p:sp>
        <p:nvSpPr>
          <p:cNvPr id="49" name="TextBox 48">
            <a:extLst>
              <a:ext uri="{FF2B5EF4-FFF2-40B4-BE49-F238E27FC236}">
                <a16:creationId xmlns:a16="http://schemas.microsoft.com/office/drawing/2014/main" id="{8578811B-F618-EB5C-D4C9-CF7D1AEA3305}"/>
              </a:ext>
            </a:extLst>
          </p:cNvPr>
          <p:cNvSpPr txBox="1"/>
          <p:nvPr/>
        </p:nvSpPr>
        <p:spPr>
          <a:xfrm>
            <a:off x="3987437" y="1720501"/>
            <a:ext cx="1148071" cy="276999"/>
          </a:xfrm>
          <a:prstGeom prst="rect">
            <a:avLst/>
          </a:prstGeom>
          <a:noFill/>
        </p:spPr>
        <p:txBody>
          <a:bodyPr wrap="none" rtlCol="0">
            <a:spAutoFit/>
          </a:bodyPr>
          <a:lstStyle/>
          <a:p>
            <a:r>
              <a:rPr lang="en-KR" sz="1200" dirty="0"/>
              <a:t>ES=22, EF=30</a:t>
            </a:r>
          </a:p>
        </p:txBody>
      </p:sp>
      <p:sp>
        <p:nvSpPr>
          <p:cNvPr id="50" name="TextBox 49">
            <a:extLst>
              <a:ext uri="{FF2B5EF4-FFF2-40B4-BE49-F238E27FC236}">
                <a16:creationId xmlns:a16="http://schemas.microsoft.com/office/drawing/2014/main" id="{EA01265F-B4BA-DA33-3FB3-BF845147E31B}"/>
              </a:ext>
            </a:extLst>
          </p:cNvPr>
          <p:cNvSpPr txBox="1"/>
          <p:nvPr/>
        </p:nvSpPr>
        <p:spPr>
          <a:xfrm>
            <a:off x="3908222" y="3872081"/>
            <a:ext cx="1148071" cy="276999"/>
          </a:xfrm>
          <a:prstGeom prst="rect">
            <a:avLst/>
          </a:prstGeom>
          <a:noFill/>
        </p:spPr>
        <p:txBody>
          <a:bodyPr wrap="none" rtlCol="0">
            <a:spAutoFit/>
          </a:bodyPr>
          <a:lstStyle/>
          <a:p>
            <a:r>
              <a:rPr lang="en-KR" sz="1200" dirty="0"/>
              <a:t>ES=21, EF=28</a:t>
            </a:r>
          </a:p>
        </p:txBody>
      </p:sp>
      <p:sp>
        <p:nvSpPr>
          <p:cNvPr id="2" name="TextBox 1">
            <a:extLst>
              <a:ext uri="{FF2B5EF4-FFF2-40B4-BE49-F238E27FC236}">
                <a16:creationId xmlns:a16="http://schemas.microsoft.com/office/drawing/2014/main" id="{479D1DA0-69AB-E654-527B-5E69B9AF7EAE}"/>
              </a:ext>
            </a:extLst>
          </p:cNvPr>
          <p:cNvSpPr txBox="1"/>
          <p:nvPr/>
        </p:nvSpPr>
        <p:spPr>
          <a:xfrm>
            <a:off x="4954642" y="2215258"/>
            <a:ext cx="1148071" cy="276999"/>
          </a:xfrm>
          <a:prstGeom prst="rect">
            <a:avLst/>
          </a:prstGeom>
          <a:noFill/>
        </p:spPr>
        <p:txBody>
          <a:bodyPr wrap="none" rtlCol="0">
            <a:spAutoFit/>
          </a:bodyPr>
          <a:lstStyle/>
          <a:p>
            <a:r>
              <a:rPr lang="en-KR" sz="1200" dirty="0"/>
              <a:t>ES=</a:t>
            </a:r>
            <a:r>
              <a:rPr lang="en-US" altLang="ko-KR" sz="1200" dirty="0"/>
              <a:t>30</a:t>
            </a:r>
            <a:r>
              <a:rPr lang="en-KR" sz="1200" dirty="0"/>
              <a:t>, EF=</a:t>
            </a:r>
            <a:r>
              <a:rPr lang="en-US" altLang="ko-KR" sz="1200" dirty="0"/>
              <a:t>35</a:t>
            </a:r>
            <a:endParaRPr lang="en-KR" sz="1200" dirty="0"/>
          </a:p>
        </p:txBody>
      </p:sp>
      <p:sp>
        <p:nvSpPr>
          <p:cNvPr id="3" name="TextBox 2">
            <a:extLst>
              <a:ext uri="{FF2B5EF4-FFF2-40B4-BE49-F238E27FC236}">
                <a16:creationId xmlns:a16="http://schemas.microsoft.com/office/drawing/2014/main" id="{251EC947-52CE-0B81-D9EF-74DC4BED2E27}"/>
              </a:ext>
            </a:extLst>
          </p:cNvPr>
          <p:cNvSpPr txBox="1"/>
          <p:nvPr/>
        </p:nvSpPr>
        <p:spPr>
          <a:xfrm>
            <a:off x="9488519" y="1789604"/>
            <a:ext cx="1148071" cy="276999"/>
          </a:xfrm>
          <a:prstGeom prst="rect">
            <a:avLst/>
          </a:prstGeom>
          <a:noFill/>
        </p:spPr>
        <p:txBody>
          <a:bodyPr wrap="none" rtlCol="0">
            <a:spAutoFit/>
          </a:bodyPr>
          <a:lstStyle/>
          <a:p>
            <a:r>
              <a:rPr lang="en-KR" sz="1200" dirty="0"/>
              <a:t>ES=</a:t>
            </a:r>
            <a:r>
              <a:rPr lang="en-US" altLang="ko-KR" sz="1200" dirty="0"/>
              <a:t>49</a:t>
            </a:r>
            <a:r>
              <a:rPr lang="en-KR" sz="1200" dirty="0"/>
              <a:t>, EF=</a:t>
            </a:r>
            <a:r>
              <a:rPr lang="en-US" altLang="ko-KR" sz="1200" dirty="0"/>
              <a:t>52</a:t>
            </a:r>
            <a:endParaRPr lang="en-KR" sz="1200" dirty="0"/>
          </a:p>
        </p:txBody>
      </p:sp>
      <p:sp>
        <p:nvSpPr>
          <p:cNvPr id="51" name="TextBox 50">
            <a:extLst>
              <a:ext uri="{FF2B5EF4-FFF2-40B4-BE49-F238E27FC236}">
                <a16:creationId xmlns:a16="http://schemas.microsoft.com/office/drawing/2014/main" id="{ED96B4A4-FF9E-9085-E8B7-96B2D7915595}"/>
              </a:ext>
            </a:extLst>
          </p:cNvPr>
          <p:cNvSpPr txBox="1"/>
          <p:nvPr/>
        </p:nvSpPr>
        <p:spPr>
          <a:xfrm>
            <a:off x="10642498" y="1786497"/>
            <a:ext cx="1148071" cy="276999"/>
          </a:xfrm>
          <a:prstGeom prst="rect">
            <a:avLst/>
          </a:prstGeom>
          <a:noFill/>
        </p:spPr>
        <p:txBody>
          <a:bodyPr wrap="none" rtlCol="0">
            <a:spAutoFit/>
          </a:bodyPr>
          <a:lstStyle/>
          <a:p>
            <a:r>
              <a:rPr lang="en-KR" sz="1200" dirty="0"/>
              <a:t>ES=</a:t>
            </a:r>
            <a:r>
              <a:rPr lang="en-US" altLang="ko-KR" sz="1200" dirty="0"/>
              <a:t>52</a:t>
            </a:r>
            <a:r>
              <a:rPr lang="en-KR" sz="1200" dirty="0"/>
              <a:t>, EF=</a:t>
            </a:r>
            <a:r>
              <a:rPr lang="en-US" altLang="ko-KR" sz="1200" dirty="0"/>
              <a:t>61</a:t>
            </a:r>
            <a:endParaRPr lang="en-KR" sz="1200" dirty="0"/>
          </a:p>
        </p:txBody>
      </p:sp>
      <p:sp>
        <p:nvSpPr>
          <p:cNvPr id="52" name="TextBox 51">
            <a:extLst>
              <a:ext uri="{FF2B5EF4-FFF2-40B4-BE49-F238E27FC236}">
                <a16:creationId xmlns:a16="http://schemas.microsoft.com/office/drawing/2014/main" id="{D098882B-6FE8-E78A-440C-5F6D24E00BE6}"/>
              </a:ext>
            </a:extLst>
          </p:cNvPr>
          <p:cNvSpPr txBox="1"/>
          <p:nvPr/>
        </p:nvSpPr>
        <p:spPr>
          <a:xfrm>
            <a:off x="9532476" y="3836988"/>
            <a:ext cx="1148071" cy="276999"/>
          </a:xfrm>
          <a:prstGeom prst="rect">
            <a:avLst/>
          </a:prstGeom>
          <a:noFill/>
        </p:spPr>
        <p:txBody>
          <a:bodyPr wrap="none" rtlCol="0">
            <a:spAutoFit/>
          </a:bodyPr>
          <a:lstStyle/>
          <a:p>
            <a:r>
              <a:rPr lang="en-KR" sz="1200" dirty="0"/>
              <a:t>ES=</a:t>
            </a:r>
            <a:r>
              <a:rPr lang="en-US" altLang="ko-KR" sz="1200" dirty="0"/>
              <a:t>49</a:t>
            </a:r>
            <a:r>
              <a:rPr lang="en-KR" sz="1200" dirty="0"/>
              <a:t>, EF=</a:t>
            </a:r>
            <a:r>
              <a:rPr lang="en-US" altLang="ko-KR" sz="1200" dirty="0"/>
              <a:t>54</a:t>
            </a:r>
            <a:endParaRPr lang="en-KR" sz="1200" dirty="0"/>
          </a:p>
        </p:txBody>
      </p:sp>
      <p:grpSp>
        <p:nvGrpSpPr>
          <p:cNvPr id="53" name="Group 52">
            <a:extLst>
              <a:ext uri="{FF2B5EF4-FFF2-40B4-BE49-F238E27FC236}">
                <a16:creationId xmlns:a16="http://schemas.microsoft.com/office/drawing/2014/main" id="{7F59D662-85AE-7ABE-1D7C-5906102F9A32}"/>
              </a:ext>
            </a:extLst>
          </p:cNvPr>
          <p:cNvGrpSpPr/>
          <p:nvPr/>
        </p:nvGrpSpPr>
        <p:grpSpPr>
          <a:xfrm>
            <a:off x="499398" y="4484464"/>
            <a:ext cx="11167136" cy="1870481"/>
            <a:chOff x="499398" y="4450465"/>
            <a:chExt cx="11167136" cy="1870481"/>
          </a:xfrm>
        </p:grpSpPr>
        <p:sp>
          <p:nvSpPr>
            <p:cNvPr id="54" name="Rounded Rectangle 53">
              <a:extLst>
                <a:ext uri="{FF2B5EF4-FFF2-40B4-BE49-F238E27FC236}">
                  <a16:creationId xmlns:a16="http://schemas.microsoft.com/office/drawing/2014/main" id="{FFF51B9D-63D4-8A1D-7A22-979C7580CBAA}"/>
                </a:ext>
              </a:extLst>
            </p:cNvPr>
            <p:cNvSpPr/>
            <p:nvPr/>
          </p:nvSpPr>
          <p:spPr>
            <a:xfrm>
              <a:off x="499398" y="5294107"/>
              <a:ext cx="1008112" cy="504056"/>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KR" sz="1200" dirty="0">
                  <a:solidFill>
                    <a:schemeClr val="tx1"/>
                  </a:solidFill>
                </a:rPr>
                <a:t>Initial requirements</a:t>
              </a:r>
            </a:p>
          </p:txBody>
        </p:sp>
        <p:sp>
          <p:nvSpPr>
            <p:cNvPr id="55" name="Rounded Rectangle 54">
              <a:extLst>
                <a:ext uri="{FF2B5EF4-FFF2-40B4-BE49-F238E27FC236}">
                  <a16:creationId xmlns:a16="http://schemas.microsoft.com/office/drawing/2014/main" id="{EB239F8D-9E84-13F9-884E-29FC113E3F0D}"/>
                </a:ext>
              </a:extLst>
            </p:cNvPr>
            <p:cNvSpPr/>
            <p:nvPr/>
          </p:nvSpPr>
          <p:spPr>
            <a:xfrm>
              <a:off x="1761297" y="5302102"/>
              <a:ext cx="1008112" cy="504056"/>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KR" sz="1200" dirty="0">
                  <a:solidFill>
                    <a:schemeClr val="tx1"/>
                  </a:solidFill>
                </a:rPr>
                <a:t>Detailed requirements</a:t>
              </a:r>
            </a:p>
          </p:txBody>
        </p:sp>
        <p:sp>
          <p:nvSpPr>
            <p:cNvPr id="56" name="Rounded Rectangle 55">
              <a:extLst>
                <a:ext uri="{FF2B5EF4-FFF2-40B4-BE49-F238E27FC236}">
                  <a16:creationId xmlns:a16="http://schemas.microsoft.com/office/drawing/2014/main" id="{123A8A9F-3D2D-0E97-A1FE-CE86C6CDEA13}"/>
                </a:ext>
              </a:extLst>
            </p:cNvPr>
            <p:cNvSpPr/>
            <p:nvPr/>
          </p:nvSpPr>
          <p:spPr>
            <a:xfrm>
              <a:off x="3148279" y="4798056"/>
              <a:ext cx="720000" cy="504056"/>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KR" sz="1200" dirty="0">
                  <a:solidFill>
                    <a:schemeClr val="tx1"/>
                  </a:solidFill>
                </a:rPr>
                <a:t>Function design</a:t>
              </a:r>
            </a:p>
          </p:txBody>
        </p:sp>
        <p:sp>
          <p:nvSpPr>
            <p:cNvPr id="57" name="Rounded Rectangle 56">
              <a:extLst>
                <a:ext uri="{FF2B5EF4-FFF2-40B4-BE49-F238E27FC236}">
                  <a16:creationId xmlns:a16="http://schemas.microsoft.com/office/drawing/2014/main" id="{B3FC829A-D633-6287-FE39-15820CEBDBB2}"/>
                </a:ext>
              </a:extLst>
            </p:cNvPr>
            <p:cNvSpPr/>
            <p:nvPr/>
          </p:nvSpPr>
          <p:spPr>
            <a:xfrm>
              <a:off x="3148279" y="5806158"/>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KR" sz="1200" dirty="0">
                  <a:solidFill>
                    <a:schemeClr val="tx1"/>
                  </a:solidFill>
                </a:rPr>
                <a:t>System design</a:t>
              </a:r>
            </a:p>
          </p:txBody>
        </p:sp>
        <p:sp>
          <p:nvSpPr>
            <p:cNvPr id="58" name="Rounded Rectangle 57">
              <a:extLst>
                <a:ext uri="{FF2B5EF4-FFF2-40B4-BE49-F238E27FC236}">
                  <a16:creationId xmlns:a16="http://schemas.microsoft.com/office/drawing/2014/main" id="{3309EE5B-2A05-EB94-51D0-1EB0C887A042}"/>
                </a:ext>
              </a:extLst>
            </p:cNvPr>
            <p:cNvSpPr/>
            <p:nvPr/>
          </p:nvSpPr>
          <p:spPr>
            <a:xfrm>
              <a:off x="4144835" y="4797152"/>
              <a:ext cx="720000" cy="504056"/>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Module definition</a:t>
              </a:r>
              <a:endParaRPr lang="en-KR" sz="1200" dirty="0">
                <a:solidFill>
                  <a:schemeClr val="tx1"/>
                </a:solidFill>
              </a:endParaRPr>
            </a:p>
          </p:txBody>
        </p:sp>
        <p:sp>
          <p:nvSpPr>
            <p:cNvPr id="59" name="Rounded Rectangle 58">
              <a:extLst>
                <a:ext uri="{FF2B5EF4-FFF2-40B4-BE49-F238E27FC236}">
                  <a16:creationId xmlns:a16="http://schemas.microsoft.com/office/drawing/2014/main" id="{F5394BEE-06AA-93AF-B8C9-49F56932EEDF}"/>
                </a:ext>
              </a:extLst>
            </p:cNvPr>
            <p:cNvSpPr/>
            <p:nvPr/>
          </p:nvSpPr>
          <p:spPr>
            <a:xfrm>
              <a:off x="4122258" y="5806158"/>
              <a:ext cx="72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Interface definition</a:t>
              </a:r>
              <a:endParaRPr lang="en-KR" sz="1200" dirty="0">
                <a:solidFill>
                  <a:schemeClr val="tx1"/>
                </a:solidFill>
              </a:endParaRPr>
            </a:p>
          </p:txBody>
        </p:sp>
        <p:sp>
          <p:nvSpPr>
            <p:cNvPr id="60" name="Rounded Rectangle 59">
              <a:extLst>
                <a:ext uri="{FF2B5EF4-FFF2-40B4-BE49-F238E27FC236}">
                  <a16:creationId xmlns:a16="http://schemas.microsoft.com/office/drawing/2014/main" id="{7C643F42-6576-C5C1-10EF-7B8CA08194FA}"/>
                </a:ext>
              </a:extLst>
            </p:cNvPr>
            <p:cNvSpPr/>
            <p:nvPr/>
          </p:nvSpPr>
          <p:spPr>
            <a:xfrm>
              <a:off x="5218287" y="5312834"/>
              <a:ext cx="720000" cy="504056"/>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Program coding</a:t>
              </a:r>
              <a:endParaRPr lang="en-KR" sz="1200" dirty="0">
                <a:solidFill>
                  <a:schemeClr val="tx1"/>
                </a:solidFill>
              </a:endParaRPr>
            </a:p>
          </p:txBody>
        </p:sp>
        <p:sp>
          <p:nvSpPr>
            <p:cNvPr id="61" name="Rounded Rectangle 60">
              <a:extLst>
                <a:ext uri="{FF2B5EF4-FFF2-40B4-BE49-F238E27FC236}">
                  <a16:creationId xmlns:a16="http://schemas.microsoft.com/office/drawing/2014/main" id="{46AA86B4-7B86-E729-ABEA-A1D225425597}"/>
                </a:ext>
              </a:extLst>
            </p:cNvPr>
            <p:cNvSpPr/>
            <p:nvPr/>
          </p:nvSpPr>
          <p:spPr>
            <a:xfrm>
              <a:off x="6210592" y="5312834"/>
              <a:ext cx="720000" cy="504056"/>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Internal test</a:t>
              </a:r>
              <a:endParaRPr lang="en-KR" sz="1200" dirty="0">
                <a:solidFill>
                  <a:schemeClr val="tx1"/>
                </a:solidFill>
              </a:endParaRPr>
            </a:p>
          </p:txBody>
        </p:sp>
        <p:sp>
          <p:nvSpPr>
            <p:cNvPr id="62" name="Rounded Rectangle 61">
              <a:extLst>
                <a:ext uri="{FF2B5EF4-FFF2-40B4-BE49-F238E27FC236}">
                  <a16:creationId xmlns:a16="http://schemas.microsoft.com/office/drawing/2014/main" id="{5183A8FB-A475-15FB-1A80-1AF7944412F3}"/>
                </a:ext>
              </a:extLst>
            </p:cNvPr>
            <p:cNvSpPr/>
            <p:nvPr/>
          </p:nvSpPr>
          <p:spPr>
            <a:xfrm>
              <a:off x="7182134" y="5312834"/>
              <a:ext cx="900000" cy="504056"/>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Integration test</a:t>
              </a:r>
              <a:endParaRPr lang="en-KR" sz="1200" dirty="0">
                <a:solidFill>
                  <a:schemeClr val="tx1"/>
                </a:solidFill>
              </a:endParaRPr>
            </a:p>
          </p:txBody>
        </p:sp>
        <p:sp>
          <p:nvSpPr>
            <p:cNvPr id="63" name="Rounded Rectangle 62">
              <a:extLst>
                <a:ext uri="{FF2B5EF4-FFF2-40B4-BE49-F238E27FC236}">
                  <a16:creationId xmlns:a16="http://schemas.microsoft.com/office/drawing/2014/main" id="{486D9949-6E5B-1E84-DABB-1F24052565FA}"/>
                </a:ext>
              </a:extLst>
            </p:cNvPr>
            <p:cNvSpPr/>
            <p:nvPr/>
          </p:nvSpPr>
          <p:spPr>
            <a:xfrm>
              <a:off x="8336526" y="5312834"/>
              <a:ext cx="900000" cy="504056"/>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Report generation</a:t>
              </a:r>
              <a:endParaRPr lang="en-KR" sz="1200" dirty="0">
                <a:solidFill>
                  <a:schemeClr val="tx1"/>
                </a:solidFill>
              </a:endParaRPr>
            </a:p>
          </p:txBody>
        </p:sp>
        <p:sp>
          <p:nvSpPr>
            <p:cNvPr id="64" name="Rounded Rectangle 63">
              <a:extLst>
                <a:ext uri="{FF2B5EF4-FFF2-40B4-BE49-F238E27FC236}">
                  <a16:creationId xmlns:a16="http://schemas.microsoft.com/office/drawing/2014/main" id="{7637A0FF-2B82-B794-916F-7C08F4973262}"/>
                </a:ext>
              </a:extLst>
            </p:cNvPr>
            <p:cNvSpPr/>
            <p:nvPr/>
          </p:nvSpPr>
          <p:spPr>
            <a:xfrm>
              <a:off x="9612555" y="4815879"/>
              <a:ext cx="900000" cy="504056"/>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Software installment</a:t>
              </a:r>
              <a:endParaRPr lang="en-KR" sz="1200" dirty="0">
                <a:solidFill>
                  <a:schemeClr val="tx1"/>
                </a:solidFill>
              </a:endParaRPr>
            </a:p>
          </p:txBody>
        </p:sp>
        <p:sp>
          <p:nvSpPr>
            <p:cNvPr id="65" name="Rounded Rectangle 64">
              <a:extLst>
                <a:ext uri="{FF2B5EF4-FFF2-40B4-BE49-F238E27FC236}">
                  <a16:creationId xmlns:a16="http://schemas.microsoft.com/office/drawing/2014/main" id="{F7CE2A63-7B2A-7357-CCE0-C8E7B8F72121}"/>
                </a:ext>
              </a:extLst>
            </p:cNvPr>
            <p:cNvSpPr/>
            <p:nvPr/>
          </p:nvSpPr>
          <p:spPr>
            <a:xfrm>
              <a:off x="10766534" y="4815879"/>
              <a:ext cx="900000" cy="504056"/>
            </a:xfrm>
            <a:prstGeom prst="roundRect">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System integration</a:t>
              </a:r>
              <a:endParaRPr lang="en-KR" sz="1200" dirty="0">
                <a:solidFill>
                  <a:schemeClr val="tx1"/>
                </a:solidFill>
              </a:endParaRPr>
            </a:p>
          </p:txBody>
        </p:sp>
        <p:sp>
          <p:nvSpPr>
            <p:cNvPr id="66" name="Rounded Rectangle 65">
              <a:extLst>
                <a:ext uri="{FF2B5EF4-FFF2-40B4-BE49-F238E27FC236}">
                  <a16:creationId xmlns:a16="http://schemas.microsoft.com/office/drawing/2014/main" id="{4FDC5BC6-87CF-CE72-2224-806650573505}"/>
                </a:ext>
              </a:extLst>
            </p:cNvPr>
            <p:cNvSpPr/>
            <p:nvPr/>
          </p:nvSpPr>
          <p:spPr>
            <a:xfrm>
              <a:off x="9612555" y="5816890"/>
              <a:ext cx="900000" cy="504056"/>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dirty="0">
                  <a:solidFill>
                    <a:schemeClr val="tx1"/>
                  </a:solidFill>
                </a:rPr>
                <a:t>Training</a:t>
              </a:r>
              <a:endParaRPr lang="en-KR" sz="1200" dirty="0">
                <a:solidFill>
                  <a:schemeClr val="tx1"/>
                </a:solidFill>
              </a:endParaRPr>
            </a:p>
          </p:txBody>
        </p:sp>
        <p:cxnSp>
          <p:nvCxnSpPr>
            <p:cNvPr id="67" name="Straight Arrow Connector 66">
              <a:extLst>
                <a:ext uri="{FF2B5EF4-FFF2-40B4-BE49-F238E27FC236}">
                  <a16:creationId xmlns:a16="http://schemas.microsoft.com/office/drawing/2014/main" id="{078B3564-C6D7-94E2-1DF4-8EC61134B83F}"/>
                </a:ext>
              </a:extLst>
            </p:cNvPr>
            <p:cNvCxnSpPr>
              <a:stCxn id="54" idx="3"/>
              <a:endCxn id="55" idx="1"/>
            </p:cNvCxnSpPr>
            <p:nvPr/>
          </p:nvCxnSpPr>
          <p:spPr>
            <a:xfrm>
              <a:off x="1507510" y="5546135"/>
              <a:ext cx="253787" cy="799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87C6FD03-5ED5-4BFA-51CE-97310B2D9A93}"/>
                </a:ext>
              </a:extLst>
            </p:cNvPr>
            <p:cNvCxnSpPr>
              <a:cxnSpLocks/>
              <a:stCxn id="60" idx="3"/>
              <a:endCxn id="61" idx="1"/>
            </p:cNvCxnSpPr>
            <p:nvPr/>
          </p:nvCxnSpPr>
          <p:spPr>
            <a:xfrm>
              <a:off x="5938287" y="5564862"/>
              <a:ext cx="272305"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7C58E455-4998-EED4-84EF-171A91DADAF6}"/>
                </a:ext>
              </a:extLst>
            </p:cNvPr>
            <p:cNvCxnSpPr>
              <a:cxnSpLocks/>
              <a:stCxn id="61" idx="3"/>
              <a:endCxn id="62" idx="1"/>
            </p:cNvCxnSpPr>
            <p:nvPr/>
          </p:nvCxnSpPr>
          <p:spPr>
            <a:xfrm>
              <a:off x="6930592" y="5564862"/>
              <a:ext cx="251542"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3E00097A-8452-0794-CB71-2324C4A7026D}"/>
                </a:ext>
              </a:extLst>
            </p:cNvPr>
            <p:cNvCxnSpPr>
              <a:cxnSpLocks/>
              <a:stCxn id="62" idx="3"/>
              <a:endCxn id="63" idx="1"/>
            </p:cNvCxnSpPr>
            <p:nvPr/>
          </p:nvCxnSpPr>
          <p:spPr>
            <a:xfrm>
              <a:off x="8082134" y="5564862"/>
              <a:ext cx="254392"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B927EB62-A2E2-93D7-5E93-9CA88BCE2E56}"/>
                </a:ext>
              </a:extLst>
            </p:cNvPr>
            <p:cNvCxnSpPr>
              <a:cxnSpLocks/>
              <a:stCxn id="56" idx="3"/>
              <a:endCxn id="58" idx="1"/>
            </p:cNvCxnSpPr>
            <p:nvPr/>
          </p:nvCxnSpPr>
          <p:spPr>
            <a:xfrm flipV="1">
              <a:off x="3868279" y="5049180"/>
              <a:ext cx="276556" cy="90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4B203B26-DACF-43C4-0C4B-39D963537332}"/>
                </a:ext>
              </a:extLst>
            </p:cNvPr>
            <p:cNvCxnSpPr>
              <a:cxnSpLocks/>
              <a:stCxn id="57" idx="3"/>
              <a:endCxn id="59" idx="1"/>
            </p:cNvCxnSpPr>
            <p:nvPr/>
          </p:nvCxnSpPr>
          <p:spPr>
            <a:xfrm>
              <a:off x="3868279" y="6058186"/>
              <a:ext cx="25397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2BDCAA02-9CE7-504B-8B78-AED7AF70CBE6}"/>
                </a:ext>
              </a:extLst>
            </p:cNvPr>
            <p:cNvCxnSpPr>
              <a:cxnSpLocks/>
              <a:stCxn id="64" idx="3"/>
              <a:endCxn id="65" idx="1"/>
            </p:cNvCxnSpPr>
            <p:nvPr/>
          </p:nvCxnSpPr>
          <p:spPr>
            <a:xfrm>
              <a:off x="10512555" y="5067907"/>
              <a:ext cx="253979"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73">
              <a:extLst>
                <a:ext uri="{FF2B5EF4-FFF2-40B4-BE49-F238E27FC236}">
                  <a16:creationId xmlns:a16="http://schemas.microsoft.com/office/drawing/2014/main" id="{E70E9057-611A-E5B0-E985-F0CF712E2340}"/>
                </a:ext>
              </a:extLst>
            </p:cNvPr>
            <p:cNvCxnSpPr>
              <a:cxnSpLocks/>
              <a:stCxn id="55" idx="3"/>
              <a:endCxn id="57" idx="1"/>
            </p:cNvCxnSpPr>
            <p:nvPr/>
          </p:nvCxnSpPr>
          <p:spPr>
            <a:xfrm>
              <a:off x="2769409" y="5554130"/>
              <a:ext cx="378870" cy="504056"/>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74">
              <a:extLst>
                <a:ext uri="{FF2B5EF4-FFF2-40B4-BE49-F238E27FC236}">
                  <a16:creationId xmlns:a16="http://schemas.microsoft.com/office/drawing/2014/main" id="{A7644F48-3A08-0C57-8935-1342F564C038}"/>
                </a:ext>
              </a:extLst>
            </p:cNvPr>
            <p:cNvCxnSpPr>
              <a:cxnSpLocks/>
              <a:stCxn id="58" idx="3"/>
              <a:endCxn id="60" idx="1"/>
            </p:cNvCxnSpPr>
            <p:nvPr/>
          </p:nvCxnSpPr>
          <p:spPr>
            <a:xfrm>
              <a:off x="4864835" y="5049180"/>
              <a:ext cx="353452" cy="515682"/>
            </a:xfrm>
            <a:prstGeom prst="bentConnector3">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Elbow Connector 75">
              <a:extLst>
                <a:ext uri="{FF2B5EF4-FFF2-40B4-BE49-F238E27FC236}">
                  <a16:creationId xmlns:a16="http://schemas.microsoft.com/office/drawing/2014/main" id="{1B3D1CD5-CB0D-5BB0-7541-F7D49FD9772C}"/>
                </a:ext>
              </a:extLst>
            </p:cNvPr>
            <p:cNvCxnSpPr>
              <a:cxnSpLocks/>
              <a:stCxn id="59" idx="3"/>
              <a:endCxn id="60" idx="1"/>
            </p:cNvCxnSpPr>
            <p:nvPr/>
          </p:nvCxnSpPr>
          <p:spPr>
            <a:xfrm flipV="1">
              <a:off x="4842258" y="5564862"/>
              <a:ext cx="376029" cy="493324"/>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Elbow Connector 76">
              <a:extLst>
                <a:ext uri="{FF2B5EF4-FFF2-40B4-BE49-F238E27FC236}">
                  <a16:creationId xmlns:a16="http://schemas.microsoft.com/office/drawing/2014/main" id="{AE52E9EB-EBD3-3A16-1CC1-D696E3F90F00}"/>
                </a:ext>
              </a:extLst>
            </p:cNvPr>
            <p:cNvCxnSpPr>
              <a:cxnSpLocks/>
              <a:stCxn id="63" idx="3"/>
              <a:endCxn id="66" idx="1"/>
            </p:cNvCxnSpPr>
            <p:nvPr/>
          </p:nvCxnSpPr>
          <p:spPr>
            <a:xfrm>
              <a:off x="9236526" y="5564862"/>
              <a:ext cx="376029" cy="504056"/>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3AB78ACD-1538-A704-312E-F18443C6A355}"/>
                </a:ext>
              </a:extLst>
            </p:cNvPr>
            <p:cNvSpPr txBox="1"/>
            <p:nvPr/>
          </p:nvSpPr>
          <p:spPr>
            <a:xfrm>
              <a:off x="847802" y="4931876"/>
              <a:ext cx="311304" cy="369332"/>
            </a:xfrm>
            <a:prstGeom prst="rect">
              <a:avLst/>
            </a:prstGeom>
            <a:noFill/>
          </p:spPr>
          <p:txBody>
            <a:bodyPr wrap="none" rtlCol="0">
              <a:spAutoFit/>
            </a:bodyPr>
            <a:lstStyle/>
            <a:p>
              <a:r>
                <a:rPr lang="en-KR" dirty="0"/>
                <a:t>5</a:t>
              </a:r>
            </a:p>
          </p:txBody>
        </p:sp>
        <p:sp>
          <p:nvSpPr>
            <p:cNvPr id="79" name="TextBox 78">
              <a:extLst>
                <a:ext uri="{FF2B5EF4-FFF2-40B4-BE49-F238E27FC236}">
                  <a16:creationId xmlns:a16="http://schemas.microsoft.com/office/drawing/2014/main" id="{EECC9610-6578-8E5A-9108-6E4DB631941E}"/>
                </a:ext>
              </a:extLst>
            </p:cNvPr>
            <p:cNvSpPr txBox="1"/>
            <p:nvPr/>
          </p:nvSpPr>
          <p:spPr>
            <a:xfrm>
              <a:off x="2109701" y="4931876"/>
              <a:ext cx="311304" cy="369332"/>
            </a:xfrm>
            <a:prstGeom prst="rect">
              <a:avLst/>
            </a:prstGeom>
            <a:noFill/>
          </p:spPr>
          <p:txBody>
            <a:bodyPr wrap="none" rtlCol="0">
              <a:spAutoFit/>
            </a:bodyPr>
            <a:lstStyle/>
            <a:p>
              <a:r>
                <a:rPr lang="en-KR" dirty="0"/>
                <a:t>8</a:t>
              </a:r>
            </a:p>
          </p:txBody>
        </p:sp>
        <p:sp>
          <p:nvSpPr>
            <p:cNvPr id="80" name="TextBox 79">
              <a:extLst>
                <a:ext uri="{FF2B5EF4-FFF2-40B4-BE49-F238E27FC236}">
                  <a16:creationId xmlns:a16="http://schemas.microsoft.com/office/drawing/2014/main" id="{1DB59B2F-147D-9644-2F6D-56D72B762BE0}"/>
                </a:ext>
              </a:extLst>
            </p:cNvPr>
            <p:cNvSpPr txBox="1"/>
            <p:nvPr/>
          </p:nvSpPr>
          <p:spPr>
            <a:xfrm>
              <a:off x="3401325" y="4450465"/>
              <a:ext cx="311304" cy="369332"/>
            </a:xfrm>
            <a:prstGeom prst="rect">
              <a:avLst/>
            </a:prstGeom>
            <a:noFill/>
          </p:spPr>
          <p:txBody>
            <a:bodyPr wrap="none" rtlCol="0">
              <a:spAutoFit/>
            </a:bodyPr>
            <a:lstStyle/>
            <a:p>
              <a:r>
                <a:rPr lang="en-KR" dirty="0"/>
                <a:t>9</a:t>
              </a:r>
            </a:p>
          </p:txBody>
        </p:sp>
        <p:sp>
          <p:nvSpPr>
            <p:cNvPr id="81" name="TextBox 80">
              <a:extLst>
                <a:ext uri="{FF2B5EF4-FFF2-40B4-BE49-F238E27FC236}">
                  <a16:creationId xmlns:a16="http://schemas.microsoft.com/office/drawing/2014/main" id="{AFE38C70-0AA3-AAEB-370B-074E86A519CA}"/>
                </a:ext>
              </a:extLst>
            </p:cNvPr>
            <p:cNvSpPr txBox="1"/>
            <p:nvPr/>
          </p:nvSpPr>
          <p:spPr>
            <a:xfrm>
              <a:off x="4409653" y="4450944"/>
              <a:ext cx="311304" cy="369332"/>
            </a:xfrm>
            <a:prstGeom prst="rect">
              <a:avLst/>
            </a:prstGeom>
            <a:noFill/>
          </p:spPr>
          <p:txBody>
            <a:bodyPr wrap="none" rtlCol="0">
              <a:spAutoFit/>
            </a:bodyPr>
            <a:lstStyle/>
            <a:p>
              <a:r>
                <a:rPr lang="en-KR" dirty="0"/>
                <a:t>8</a:t>
              </a:r>
            </a:p>
          </p:txBody>
        </p:sp>
        <p:sp>
          <p:nvSpPr>
            <p:cNvPr id="82" name="TextBox 81">
              <a:extLst>
                <a:ext uri="{FF2B5EF4-FFF2-40B4-BE49-F238E27FC236}">
                  <a16:creationId xmlns:a16="http://schemas.microsoft.com/office/drawing/2014/main" id="{3DA5D834-D996-D6BD-D66E-84F4C0926238}"/>
                </a:ext>
              </a:extLst>
            </p:cNvPr>
            <p:cNvSpPr txBox="1"/>
            <p:nvPr/>
          </p:nvSpPr>
          <p:spPr>
            <a:xfrm>
              <a:off x="3400564" y="5474624"/>
              <a:ext cx="311304" cy="369332"/>
            </a:xfrm>
            <a:prstGeom prst="rect">
              <a:avLst/>
            </a:prstGeom>
            <a:noFill/>
          </p:spPr>
          <p:txBody>
            <a:bodyPr wrap="none" rtlCol="0">
              <a:spAutoFit/>
            </a:bodyPr>
            <a:lstStyle/>
            <a:p>
              <a:r>
                <a:rPr lang="en-KR" dirty="0"/>
                <a:t>8</a:t>
              </a:r>
            </a:p>
          </p:txBody>
        </p:sp>
        <p:sp>
          <p:nvSpPr>
            <p:cNvPr id="83" name="TextBox 82">
              <a:extLst>
                <a:ext uri="{FF2B5EF4-FFF2-40B4-BE49-F238E27FC236}">
                  <a16:creationId xmlns:a16="http://schemas.microsoft.com/office/drawing/2014/main" id="{7B394D99-60A5-866C-4EC3-7BF99644EEF8}"/>
                </a:ext>
              </a:extLst>
            </p:cNvPr>
            <p:cNvSpPr txBox="1"/>
            <p:nvPr/>
          </p:nvSpPr>
          <p:spPr>
            <a:xfrm>
              <a:off x="4405821" y="5474624"/>
              <a:ext cx="311304" cy="369332"/>
            </a:xfrm>
            <a:prstGeom prst="rect">
              <a:avLst/>
            </a:prstGeom>
            <a:noFill/>
          </p:spPr>
          <p:txBody>
            <a:bodyPr wrap="none" rtlCol="0">
              <a:spAutoFit/>
            </a:bodyPr>
            <a:lstStyle/>
            <a:p>
              <a:r>
                <a:rPr lang="en-KR" dirty="0"/>
                <a:t>7</a:t>
              </a:r>
            </a:p>
          </p:txBody>
        </p:sp>
        <p:sp>
          <p:nvSpPr>
            <p:cNvPr id="84" name="TextBox 83">
              <a:extLst>
                <a:ext uri="{FF2B5EF4-FFF2-40B4-BE49-F238E27FC236}">
                  <a16:creationId xmlns:a16="http://schemas.microsoft.com/office/drawing/2014/main" id="{D45F2042-A3EB-9448-79CE-D417ABE38329}"/>
                </a:ext>
              </a:extLst>
            </p:cNvPr>
            <p:cNvSpPr txBox="1"/>
            <p:nvPr/>
          </p:nvSpPr>
          <p:spPr>
            <a:xfrm>
              <a:off x="5417422" y="4957266"/>
              <a:ext cx="311304" cy="369332"/>
            </a:xfrm>
            <a:prstGeom prst="rect">
              <a:avLst/>
            </a:prstGeom>
            <a:noFill/>
          </p:spPr>
          <p:txBody>
            <a:bodyPr wrap="none" rtlCol="0">
              <a:spAutoFit/>
            </a:bodyPr>
            <a:lstStyle/>
            <a:p>
              <a:r>
                <a:rPr lang="en-KR" dirty="0"/>
                <a:t>5</a:t>
              </a:r>
            </a:p>
          </p:txBody>
        </p:sp>
        <p:sp>
          <p:nvSpPr>
            <p:cNvPr id="85" name="TextBox 84">
              <a:extLst>
                <a:ext uri="{FF2B5EF4-FFF2-40B4-BE49-F238E27FC236}">
                  <a16:creationId xmlns:a16="http://schemas.microsoft.com/office/drawing/2014/main" id="{AC6AA8B3-2962-E017-7C98-045B5568DF1A}"/>
                </a:ext>
              </a:extLst>
            </p:cNvPr>
            <p:cNvSpPr txBox="1"/>
            <p:nvPr/>
          </p:nvSpPr>
          <p:spPr>
            <a:xfrm>
              <a:off x="6414940" y="4957266"/>
              <a:ext cx="311304" cy="369332"/>
            </a:xfrm>
            <a:prstGeom prst="rect">
              <a:avLst/>
            </a:prstGeom>
            <a:noFill/>
          </p:spPr>
          <p:txBody>
            <a:bodyPr wrap="none" rtlCol="0">
              <a:spAutoFit/>
            </a:bodyPr>
            <a:lstStyle/>
            <a:p>
              <a:r>
                <a:rPr lang="en-KR" dirty="0"/>
                <a:t>4</a:t>
              </a:r>
            </a:p>
          </p:txBody>
        </p:sp>
        <p:sp>
          <p:nvSpPr>
            <p:cNvPr id="86" name="TextBox 85">
              <a:extLst>
                <a:ext uri="{FF2B5EF4-FFF2-40B4-BE49-F238E27FC236}">
                  <a16:creationId xmlns:a16="http://schemas.microsoft.com/office/drawing/2014/main" id="{0908493F-A0C8-A8A0-A732-8F7766C0EEC8}"/>
                </a:ext>
              </a:extLst>
            </p:cNvPr>
            <p:cNvSpPr txBox="1"/>
            <p:nvPr/>
          </p:nvSpPr>
          <p:spPr>
            <a:xfrm>
              <a:off x="7470592" y="4959733"/>
              <a:ext cx="311304" cy="369332"/>
            </a:xfrm>
            <a:prstGeom prst="rect">
              <a:avLst/>
            </a:prstGeom>
            <a:noFill/>
          </p:spPr>
          <p:txBody>
            <a:bodyPr wrap="square" rtlCol="0">
              <a:spAutoFit/>
            </a:bodyPr>
            <a:lstStyle/>
            <a:p>
              <a:r>
                <a:rPr lang="en-KR" dirty="0"/>
                <a:t>7</a:t>
              </a:r>
            </a:p>
          </p:txBody>
        </p:sp>
        <p:sp>
          <p:nvSpPr>
            <p:cNvPr id="87" name="TextBox 86">
              <a:extLst>
                <a:ext uri="{FF2B5EF4-FFF2-40B4-BE49-F238E27FC236}">
                  <a16:creationId xmlns:a16="http://schemas.microsoft.com/office/drawing/2014/main" id="{29CADC57-8380-5D6A-41BE-F1CF64A195FA}"/>
                </a:ext>
              </a:extLst>
            </p:cNvPr>
            <p:cNvSpPr txBox="1"/>
            <p:nvPr/>
          </p:nvSpPr>
          <p:spPr>
            <a:xfrm>
              <a:off x="8630874" y="4959733"/>
              <a:ext cx="311304" cy="369332"/>
            </a:xfrm>
            <a:prstGeom prst="rect">
              <a:avLst/>
            </a:prstGeom>
            <a:noFill/>
          </p:spPr>
          <p:txBody>
            <a:bodyPr wrap="none" rtlCol="0">
              <a:spAutoFit/>
            </a:bodyPr>
            <a:lstStyle/>
            <a:p>
              <a:r>
                <a:rPr lang="en-KR" dirty="0"/>
                <a:t>3</a:t>
              </a:r>
            </a:p>
          </p:txBody>
        </p:sp>
        <p:sp>
          <p:nvSpPr>
            <p:cNvPr id="88" name="TextBox 87">
              <a:extLst>
                <a:ext uri="{FF2B5EF4-FFF2-40B4-BE49-F238E27FC236}">
                  <a16:creationId xmlns:a16="http://schemas.microsoft.com/office/drawing/2014/main" id="{2D3E6424-8731-0221-2A45-C6E9ED8D4C6C}"/>
                </a:ext>
              </a:extLst>
            </p:cNvPr>
            <p:cNvSpPr txBox="1"/>
            <p:nvPr/>
          </p:nvSpPr>
          <p:spPr>
            <a:xfrm>
              <a:off x="9950860" y="4476377"/>
              <a:ext cx="311304" cy="369332"/>
            </a:xfrm>
            <a:prstGeom prst="rect">
              <a:avLst/>
            </a:prstGeom>
            <a:noFill/>
          </p:spPr>
          <p:txBody>
            <a:bodyPr wrap="none" rtlCol="0">
              <a:spAutoFit/>
            </a:bodyPr>
            <a:lstStyle/>
            <a:p>
              <a:r>
                <a:rPr lang="en-KR" dirty="0"/>
                <a:t>3</a:t>
              </a:r>
            </a:p>
          </p:txBody>
        </p:sp>
        <p:sp>
          <p:nvSpPr>
            <p:cNvPr id="89" name="TextBox 88">
              <a:extLst>
                <a:ext uri="{FF2B5EF4-FFF2-40B4-BE49-F238E27FC236}">
                  <a16:creationId xmlns:a16="http://schemas.microsoft.com/office/drawing/2014/main" id="{D4E701B1-2A39-CA21-71B5-370D0122BA14}"/>
                </a:ext>
              </a:extLst>
            </p:cNvPr>
            <p:cNvSpPr txBox="1"/>
            <p:nvPr/>
          </p:nvSpPr>
          <p:spPr>
            <a:xfrm>
              <a:off x="11060882" y="4476377"/>
              <a:ext cx="311304" cy="369332"/>
            </a:xfrm>
            <a:prstGeom prst="rect">
              <a:avLst/>
            </a:prstGeom>
            <a:noFill/>
          </p:spPr>
          <p:txBody>
            <a:bodyPr wrap="none" rtlCol="0">
              <a:spAutoFit/>
            </a:bodyPr>
            <a:lstStyle/>
            <a:p>
              <a:r>
                <a:rPr lang="en-KR" dirty="0"/>
                <a:t>9</a:t>
              </a:r>
            </a:p>
          </p:txBody>
        </p:sp>
        <p:sp>
          <p:nvSpPr>
            <p:cNvPr id="90" name="TextBox 89">
              <a:extLst>
                <a:ext uri="{FF2B5EF4-FFF2-40B4-BE49-F238E27FC236}">
                  <a16:creationId xmlns:a16="http://schemas.microsoft.com/office/drawing/2014/main" id="{9DCBC339-C7B6-CD92-85A3-A5E48E29723C}"/>
                </a:ext>
              </a:extLst>
            </p:cNvPr>
            <p:cNvSpPr txBox="1"/>
            <p:nvPr/>
          </p:nvSpPr>
          <p:spPr>
            <a:xfrm>
              <a:off x="9950860" y="5506210"/>
              <a:ext cx="311304" cy="369332"/>
            </a:xfrm>
            <a:prstGeom prst="rect">
              <a:avLst/>
            </a:prstGeom>
            <a:noFill/>
          </p:spPr>
          <p:txBody>
            <a:bodyPr wrap="none" rtlCol="0">
              <a:spAutoFit/>
            </a:bodyPr>
            <a:lstStyle/>
            <a:p>
              <a:r>
                <a:rPr lang="en-KR" dirty="0"/>
                <a:t>5</a:t>
              </a:r>
            </a:p>
          </p:txBody>
        </p:sp>
        <p:cxnSp>
          <p:nvCxnSpPr>
            <p:cNvPr id="91" name="Elbow Connector 90">
              <a:extLst>
                <a:ext uri="{FF2B5EF4-FFF2-40B4-BE49-F238E27FC236}">
                  <a16:creationId xmlns:a16="http://schemas.microsoft.com/office/drawing/2014/main" id="{5667C634-C3D6-07C8-F593-76670E82B68B}"/>
                </a:ext>
              </a:extLst>
            </p:cNvPr>
            <p:cNvCxnSpPr>
              <a:stCxn id="55" idx="3"/>
              <a:endCxn id="56" idx="1"/>
            </p:cNvCxnSpPr>
            <p:nvPr/>
          </p:nvCxnSpPr>
          <p:spPr>
            <a:xfrm flipV="1">
              <a:off x="2769409" y="5050084"/>
              <a:ext cx="378870" cy="504046"/>
            </a:xfrm>
            <a:prstGeom prst="bentConnector3">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Elbow Connector 91">
              <a:extLst>
                <a:ext uri="{FF2B5EF4-FFF2-40B4-BE49-F238E27FC236}">
                  <a16:creationId xmlns:a16="http://schemas.microsoft.com/office/drawing/2014/main" id="{8428BBCC-720E-687B-C7C2-626C50C1B3B0}"/>
                </a:ext>
              </a:extLst>
            </p:cNvPr>
            <p:cNvCxnSpPr>
              <a:cxnSpLocks/>
              <a:stCxn id="63" idx="3"/>
              <a:endCxn id="64" idx="1"/>
            </p:cNvCxnSpPr>
            <p:nvPr/>
          </p:nvCxnSpPr>
          <p:spPr>
            <a:xfrm flipV="1">
              <a:off x="9236526" y="5067907"/>
              <a:ext cx="376029" cy="496955"/>
            </a:xfrm>
            <a:prstGeom prst="bentConnector3">
              <a:avLst>
                <a:gd name="adj1" fmla="val 50000"/>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93" name="TextBox 92">
            <a:extLst>
              <a:ext uri="{FF2B5EF4-FFF2-40B4-BE49-F238E27FC236}">
                <a16:creationId xmlns:a16="http://schemas.microsoft.com/office/drawing/2014/main" id="{2163BD6F-4551-B297-6695-9B04721CADF2}"/>
              </a:ext>
            </a:extLst>
          </p:cNvPr>
          <p:cNvSpPr txBox="1"/>
          <p:nvPr/>
        </p:nvSpPr>
        <p:spPr>
          <a:xfrm>
            <a:off x="448654" y="4652711"/>
            <a:ext cx="965329" cy="276999"/>
          </a:xfrm>
          <a:prstGeom prst="rect">
            <a:avLst/>
          </a:prstGeom>
          <a:noFill/>
        </p:spPr>
        <p:txBody>
          <a:bodyPr wrap="none" rtlCol="0">
            <a:spAutoFit/>
          </a:bodyPr>
          <a:lstStyle/>
          <a:p>
            <a:r>
              <a:rPr lang="en-KR" sz="1200" dirty="0"/>
              <a:t>EF=0, LF=5</a:t>
            </a:r>
          </a:p>
        </p:txBody>
      </p:sp>
      <p:sp>
        <p:nvSpPr>
          <p:cNvPr id="94" name="TextBox 93">
            <a:extLst>
              <a:ext uri="{FF2B5EF4-FFF2-40B4-BE49-F238E27FC236}">
                <a16:creationId xmlns:a16="http://schemas.microsoft.com/office/drawing/2014/main" id="{21E3D929-77EA-A50C-3420-A35EB859D6E7}"/>
              </a:ext>
            </a:extLst>
          </p:cNvPr>
          <p:cNvSpPr txBox="1"/>
          <p:nvPr/>
        </p:nvSpPr>
        <p:spPr>
          <a:xfrm>
            <a:off x="1660860" y="4652711"/>
            <a:ext cx="1050288" cy="276999"/>
          </a:xfrm>
          <a:prstGeom prst="rect">
            <a:avLst/>
          </a:prstGeom>
          <a:noFill/>
        </p:spPr>
        <p:txBody>
          <a:bodyPr wrap="none" rtlCol="0">
            <a:spAutoFit/>
          </a:bodyPr>
          <a:lstStyle/>
          <a:p>
            <a:r>
              <a:rPr lang="en-KR" sz="1200" dirty="0"/>
              <a:t>EF=5, LF=13</a:t>
            </a:r>
          </a:p>
        </p:txBody>
      </p:sp>
      <p:sp>
        <p:nvSpPr>
          <p:cNvPr id="95" name="TextBox 94">
            <a:extLst>
              <a:ext uri="{FF2B5EF4-FFF2-40B4-BE49-F238E27FC236}">
                <a16:creationId xmlns:a16="http://schemas.microsoft.com/office/drawing/2014/main" id="{BA90CC2A-3E72-FF77-D26D-BE2A3097F329}"/>
              </a:ext>
            </a:extLst>
          </p:cNvPr>
          <p:cNvSpPr txBox="1"/>
          <p:nvPr/>
        </p:nvSpPr>
        <p:spPr>
          <a:xfrm>
            <a:off x="2934242" y="4269213"/>
            <a:ext cx="1135247" cy="276999"/>
          </a:xfrm>
          <a:prstGeom prst="rect">
            <a:avLst/>
          </a:prstGeom>
          <a:noFill/>
        </p:spPr>
        <p:txBody>
          <a:bodyPr wrap="none" rtlCol="0">
            <a:spAutoFit/>
          </a:bodyPr>
          <a:lstStyle/>
          <a:p>
            <a:r>
              <a:rPr lang="en-KR" sz="1200" dirty="0"/>
              <a:t>LS=13, LF=22</a:t>
            </a:r>
          </a:p>
        </p:txBody>
      </p:sp>
      <p:sp>
        <p:nvSpPr>
          <p:cNvPr id="96" name="TextBox 95">
            <a:extLst>
              <a:ext uri="{FF2B5EF4-FFF2-40B4-BE49-F238E27FC236}">
                <a16:creationId xmlns:a16="http://schemas.microsoft.com/office/drawing/2014/main" id="{A92E0EB8-30A0-44DB-5FEB-D6FD096A8FF5}"/>
              </a:ext>
            </a:extLst>
          </p:cNvPr>
          <p:cNvSpPr txBox="1"/>
          <p:nvPr/>
        </p:nvSpPr>
        <p:spPr>
          <a:xfrm>
            <a:off x="2866369" y="6423719"/>
            <a:ext cx="1135247" cy="461665"/>
          </a:xfrm>
          <a:prstGeom prst="rect">
            <a:avLst/>
          </a:prstGeom>
          <a:noFill/>
        </p:spPr>
        <p:txBody>
          <a:bodyPr wrap="none" rtlCol="0">
            <a:spAutoFit/>
          </a:bodyPr>
          <a:lstStyle/>
          <a:p>
            <a:r>
              <a:rPr lang="en-KR" sz="1200" dirty="0"/>
              <a:t>EF=15, LF=23</a:t>
            </a:r>
          </a:p>
          <a:p>
            <a:r>
              <a:rPr lang="en-KR" sz="1200" dirty="0"/>
              <a:t>Slack=2</a:t>
            </a:r>
          </a:p>
        </p:txBody>
      </p:sp>
      <p:sp>
        <p:nvSpPr>
          <p:cNvPr id="97" name="TextBox 96">
            <a:extLst>
              <a:ext uri="{FF2B5EF4-FFF2-40B4-BE49-F238E27FC236}">
                <a16:creationId xmlns:a16="http://schemas.microsoft.com/office/drawing/2014/main" id="{92362165-0BAB-E96B-EDD1-D2F55DE9C453}"/>
              </a:ext>
            </a:extLst>
          </p:cNvPr>
          <p:cNvSpPr txBox="1"/>
          <p:nvPr/>
        </p:nvSpPr>
        <p:spPr>
          <a:xfrm>
            <a:off x="3987437" y="4272139"/>
            <a:ext cx="1141659" cy="276999"/>
          </a:xfrm>
          <a:prstGeom prst="rect">
            <a:avLst/>
          </a:prstGeom>
          <a:noFill/>
        </p:spPr>
        <p:txBody>
          <a:bodyPr wrap="none" rtlCol="0">
            <a:spAutoFit/>
          </a:bodyPr>
          <a:lstStyle/>
          <a:p>
            <a:r>
              <a:rPr lang="en-KR" sz="1200" dirty="0"/>
              <a:t>ES=22, LF=30</a:t>
            </a:r>
          </a:p>
        </p:txBody>
      </p:sp>
      <p:sp>
        <p:nvSpPr>
          <p:cNvPr id="98" name="TextBox 97">
            <a:extLst>
              <a:ext uri="{FF2B5EF4-FFF2-40B4-BE49-F238E27FC236}">
                <a16:creationId xmlns:a16="http://schemas.microsoft.com/office/drawing/2014/main" id="{C38575D3-B7A4-E8D1-B7F0-BFDEA186A9B2}"/>
              </a:ext>
            </a:extLst>
          </p:cNvPr>
          <p:cNvSpPr txBox="1"/>
          <p:nvPr/>
        </p:nvSpPr>
        <p:spPr>
          <a:xfrm>
            <a:off x="3908222" y="6423719"/>
            <a:ext cx="1141659" cy="461665"/>
          </a:xfrm>
          <a:prstGeom prst="rect">
            <a:avLst/>
          </a:prstGeom>
          <a:noFill/>
        </p:spPr>
        <p:txBody>
          <a:bodyPr wrap="none" rtlCol="0">
            <a:spAutoFit/>
          </a:bodyPr>
          <a:lstStyle/>
          <a:p>
            <a:r>
              <a:rPr lang="en-KR" sz="1200" dirty="0"/>
              <a:t>ES=23, LF=30</a:t>
            </a:r>
          </a:p>
          <a:p>
            <a:r>
              <a:rPr lang="en-KR" sz="1200" dirty="0"/>
              <a:t>Slack=2</a:t>
            </a:r>
          </a:p>
        </p:txBody>
      </p:sp>
      <p:sp>
        <p:nvSpPr>
          <p:cNvPr id="99" name="TextBox 98">
            <a:extLst>
              <a:ext uri="{FF2B5EF4-FFF2-40B4-BE49-F238E27FC236}">
                <a16:creationId xmlns:a16="http://schemas.microsoft.com/office/drawing/2014/main" id="{F99CEE9F-B28F-78B4-D385-12DFE17B5853}"/>
              </a:ext>
            </a:extLst>
          </p:cNvPr>
          <p:cNvSpPr txBox="1"/>
          <p:nvPr/>
        </p:nvSpPr>
        <p:spPr>
          <a:xfrm>
            <a:off x="4954642" y="4766896"/>
            <a:ext cx="1148071" cy="276999"/>
          </a:xfrm>
          <a:prstGeom prst="rect">
            <a:avLst/>
          </a:prstGeom>
          <a:noFill/>
        </p:spPr>
        <p:txBody>
          <a:bodyPr wrap="none" rtlCol="0">
            <a:spAutoFit/>
          </a:bodyPr>
          <a:lstStyle/>
          <a:p>
            <a:r>
              <a:rPr lang="en-KR" sz="1200" dirty="0"/>
              <a:t>LS=</a:t>
            </a:r>
            <a:r>
              <a:rPr lang="en-US" altLang="ko-KR" sz="1200" dirty="0"/>
              <a:t>30</a:t>
            </a:r>
            <a:r>
              <a:rPr lang="en-KR" sz="1200" dirty="0"/>
              <a:t>, EF=</a:t>
            </a:r>
            <a:r>
              <a:rPr lang="en-US" altLang="ko-KR" sz="1200" dirty="0"/>
              <a:t>35</a:t>
            </a:r>
            <a:endParaRPr lang="en-KR" sz="1200" dirty="0"/>
          </a:p>
        </p:txBody>
      </p:sp>
      <p:sp>
        <p:nvSpPr>
          <p:cNvPr id="100" name="TextBox 99">
            <a:extLst>
              <a:ext uri="{FF2B5EF4-FFF2-40B4-BE49-F238E27FC236}">
                <a16:creationId xmlns:a16="http://schemas.microsoft.com/office/drawing/2014/main" id="{293C5D45-20ED-681F-A415-7EB69A2D8E0D}"/>
              </a:ext>
            </a:extLst>
          </p:cNvPr>
          <p:cNvSpPr txBox="1"/>
          <p:nvPr/>
        </p:nvSpPr>
        <p:spPr>
          <a:xfrm>
            <a:off x="9488519" y="4341242"/>
            <a:ext cx="1135247" cy="276999"/>
          </a:xfrm>
          <a:prstGeom prst="rect">
            <a:avLst/>
          </a:prstGeom>
          <a:noFill/>
        </p:spPr>
        <p:txBody>
          <a:bodyPr wrap="none" rtlCol="0">
            <a:spAutoFit/>
          </a:bodyPr>
          <a:lstStyle/>
          <a:p>
            <a:r>
              <a:rPr lang="en-KR" sz="1200" dirty="0"/>
              <a:t>LS=</a:t>
            </a:r>
            <a:r>
              <a:rPr lang="en-US" altLang="ko-KR" sz="1200" dirty="0"/>
              <a:t>49</a:t>
            </a:r>
            <a:r>
              <a:rPr lang="en-KR" sz="1200" dirty="0"/>
              <a:t>, LF=</a:t>
            </a:r>
            <a:r>
              <a:rPr lang="en-US" altLang="ko-KR" sz="1200" dirty="0"/>
              <a:t>52</a:t>
            </a:r>
            <a:endParaRPr lang="en-KR" sz="1200" dirty="0"/>
          </a:p>
        </p:txBody>
      </p:sp>
      <p:sp>
        <p:nvSpPr>
          <p:cNvPr id="101" name="TextBox 100">
            <a:extLst>
              <a:ext uri="{FF2B5EF4-FFF2-40B4-BE49-F238E27FC236}">
                <a16:creationId xmlns:a16="http://schemas.microsoft.com/office/drawing/2014/main" id="{7D9739A2-005F-15D8-6892-EFA51D8BD4AF}"/>
              </a:ext>
            </a:extLst>
          </p:cNvPr>
          <p:cNvSpPr txBox="1"/>
          <p:nvPr/>
        </p:nvSpPr>
        <p:spPr>
          <a:xfrm>
            <a:off x="10642498" y="4338135"/>
            <a:ext cx="1135247" cy="276999"/>
          </a:xfrm>
          <a:prstGeom prst="rect">
            <a:avLst/>
          </a:prstGeom>
          <a:noFill/>
        </p:spPr>
        <p:txBody>
          <a:bodyPr wrap="none" rtlCol="0">
            <a:spAutoFit/>
          </a:bodyPr>
          <a:lstStyle/>
          <a:p>
            <a:r>
              <a:rPr lang="en-KR" sz="1200" dirty="0"/>
              <a:t>LS=</a:t>
            </a:r>
            <a:r>
              <a:rPr lang="en-US" altLang="ko-KR" sz="1200" dirty="0"/>
              <a:t>52</a:t>
            </a:r>
            <a:r>
              <a:rPr lang="en-KR" sz="1200" dirty="0"/>
              <a:t>, </a:t>
            </a:r>
            <a:r>
              <a:rPr lang="en-US" sz="1200" dirty="0"/>
              <a:t>L</a:t>
            </a:r>
            <a:r>
              <a:rPr lang="en-KR" sz="1200" dirty="0"/>
              <a:t>F=</a:t>
            </a:r>
            <a:r>
              <a:rPr lang="en-US" altLang="ko-KR" sz="1200" dirty="0"/>
              <a:t>61</a:t>
            </a:r>
            <a:endParaRPr lang="en-KR" sz="1200" dirty="0"/>
          </a:p>
        </p:txBody>
      </p:sp>
      <p:sp>
        <p:nvSpPr>
          <p:cNvPr id="102" name="TextBox 101">
            <a:extLst>
              <a:ext uri="{FF2B5EF4-FFF2-40B4-BE49-F238E27FC236}">
                <a16:creationId xmlns:a16="http://schemas.microsoft.com/office/drawing/2014/main" id="{83C02E7E-D284-4EEB-8B2F-F0870610DBA8}"/>
              </a:ext>
            </a:extLst>
          </p:cNvPr>
          <p:cNvSpPr txBox="1"/>
          <p:nvPr/>
        </p:nvSpPr>
        <p:spPr>
          <a:xfrm>
            <a:off x="9532476" y="6388626"/>
            <a:ext cx="1220206" cy="461665"/>
          </a:xfrm>
          <a:prstGeom prst="rect">
            <a:avLst/>
          </a:prstGeom>
          <a:noFill/>
        </p:spPr>
        <p:txBody>
          <a:bodyPr wrap="none" rtlCol="0">
            <a:spAutoFit/>
          </a:bodyPr>
          <a:lstStyle/>
          <a:p>
            <a:r>
              <a:rPr lang="en-KR" sz="1200" dirty="0"/>
              <a:t>LS=</a:t>
            </a:r>
            <a:r>
              <a:rPr lang="en-US" sz="1200" dirty="0"/>
              <a:t>56</a:t>
            </a:r>
            <a:r>
              <a:rPr lang="en-KR" sz="1200" dirty="0"/>
              <a:t>, LF=</a:t>
            </a:r>
            <a:r>
              <a:rPr lang="en-US" sz="1200" dirty="0"/>
              <a:t>61</a:t>
            </a:r>
          </a:p>
          <a:p>
            <a:r>
              <a:rPr lang="en-US" sz="1200" dirty="0"/>
              <a:t>Slack=LS-ES=7</a:t>
            </a:r>
            <a:endParaRPr lang="en-KR" sz="1200" dirty="0"/>
          </a:p>
        </p:txBody>
      </p:sp>
      <p:sp>
        <p:nvSpPr>
          <p:cNvPr id="103" name="TextBox 102">
            <a:extLst>
              <a:ext uri="{FF2B5EF4-FFF2-40B4-BE49-F238E27FC236}">
                <a16:creationId xmlns:a16="http://schemas.microsoft.com/office/drawing/2014/main" id="{5E5A5898-AADE-D5B0-AC6E-2E60E0961E67}"/>
              </a:ext>
            </a:extLst>
          </p:cNvPr>
          <p:cNvSpPr txBox="1"/>
          <p:nvPr/>
        </p:nvSpPr>
        <p:spPr>
          <a:xfrm>
            <a:off x="8184232" y="4791210"/>
            <a:ext cx="1135247" cy="276999"/>
          </a:xfrm>
          <a:prstGeom prst="rect">
            <a:avLst/>
          </a:prstGeom>
          <a:noFill/>
        </p:spPr>
        <p:txBody>
          <a:bodyPr wrap="none" rtlCol="0">
            <a:spAutoFit/>
          </a:bodyPr>
          <a:lstStyle/>
          <a:p>
            <a:r>
              <a:rPr lang="en-KR" sz="1200" dirty="0"/>
              <a:t>LS=</a:t>
            </a:r>
            <a:r>
              <a:rPr lang="en-US" sz="1200" dirty="0"/>
              <a:t>46</a:t>
            </a:r>
            <a:r>
              <a:rPr lang="en-KR" sz="1200" dirty="0"/>
              <a:t>, LF=</a:t>
            </a:r>
            <a:r>
              <a:rPr lang="en-US" sz="1200" dirty="0"/>
              <a:t>49</a:t>
            </a:r>
            <a:endParaRPr lang="en-KR" sz="1200" dirty="0"/>
          </a:p>
        </p:txBody>
      </p:sp>
      <p:sp>
        <p:nvSpPr>
          <p:cNvPr id="105" name="TextBox 104">
            <a:extLst>
              <a:ext uri="{FF2B5EF4-FFF2-40B4-BE49-F238E27FC236}">
                <a16:creationId xmlns:a16="http://schemas.microsoft.com/office/drawing/2014/main" id="{CC2B0AA8-22CB-E6A3-F5A4-8861BA7D7273}"/>
              </a:ext>
            </a:extLst>
          </p:cNvPr>
          <p:cNvSpPr txBox="1"/>
          <p:nvPr/>
        </p:nvSpPr>
        <p:spPr>
          <a:xfrm>
            <a:off x="647851" y="961177"/>
            <a:ext cx="7248349" cy="584775"/>
          </a:xfrm>
          <a:prstGeom prst="rect">
            <a:avLst/>
          </a:prstGeom>
          <a:noFill/>
        </p:spPr>
        <p:txBody>
          <a:bodyPr wrap="square">
            <a:spAutoFit/>
          </a:bodyPr>
          <a:lstStyle/>
          <a:p>
            <a:r>
              <a:rPr lang="en-US" sz="1600" dirty="0"/>
              <a:t>1. Calculate Earliest Start &amp; Earliest Finish times of each task (Forward Pass)</a:t>
            </a:r>
          </a:p>
          <a:p>
            <a:r>
              <a:rPr lang="en-US" sz="1600" dirty="0"/>
              <a:t>2. Calculate Latest Start &amp; Latest Finish times of each task (Backward Pass)</a:t>
            </a:r>
          </a:p>
        </p:txBody>
      </p:sp>
      <p:sp>
        <p:nvSpPr>
          <p:cNvPr id="106" name="TextBox 105">
            <a:extLst>
              <a:ext uri="{FF2B5EF4-FFF2-40B4-BE49-F238E27FC236}">
                <a16:creationId xmlns:a16="http://schemas.microsoft.com/office/drawing/2014/main" id="{3678651D-B0E3-FF72-D6B4-C49174D6CAE9}"/>
              </a:ext>
            </a:extLst>
          </p:cNvPr>
          <p:cNvSpPr txBox="1"/>
          <p:nvPr/>
        </p:nvSpPr>
        <p:spPr>
          <a:xfrm>
            <a:off x="7966317" y="961177"/>
            <a:ext cx="3412216" cy="338554"/>
          </a:xfrm>
          <a:prstGeom prst="rect">
            <a:avLst/>
          </a:prstGeom>
          <a:noFill/>
        </p:spPr>
        <p:txBody>
          <a:bodyPr wrap="none" rtlCol="0">
            <a:spAutoFit/>
          </a:bodyPr>
          <a:lstStyle/>
          <a:p>
            <a:r>
              <a:rPr lang="en-KR" sz="1600" dirty="0"/>
              <a:t>3. </a:t>
            </a:r>
            <a:r>
              <a:rPr lang="en-US" sz="1600" dirty="0"/>
              <a:t>Identify tasks with 0 (zero) slack</a:t>
            </a:r>
          </a:p>
        </p:txBody>
      </p:sp>
    </p:spTree>
    <p:extLst>
      <p:ext uri="{BB962C8B-B14F-4D97-AF65-F5344CB8AC3E}">
        <p14:creationId xmlns:p14="http://schemas.microsoft.com/office/powerpoint/2010/main" val="1677239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normAutofit fontScale="90000"/>
          </a:bodyPr>
          <a:lstStyle/>
          <a:p>
            <a:r>
              <a:rPr lang="en-US" altLang="ko-KR" dirty="0"/>
              <a:t>Earliest Time – Forward Pass, Latest Time – Backward Pass </a:t>
            </a:r>
            <a:endParaRPr lang="en-US" altLang="zh-TW" dirty="0"/>
          </a:p>
        </p:txBody>
      </p:sp>
      <p:sp>
        <p:nvSpPr>
          <p:cNvPr id="29" name="TextBox 28"/>
          <p:cNvSpPr txBox="1"/>
          <p:nvPr/>
        </p:nvSpPr>
        <p:spPr>
          <a:xfrm>
            <a:off x="1249955" y="1063865"/>
            <a:ext cx="3599383" cy="869277"/>
          </a:xfrm>
          <a:prstGeom prst="rect">
            <a:avLst/>
          </a:prstGeom>
          <a:noFill/>
        </p:spPr>
        <p:txBody>
          <a:bodyPr wrap="none" rtlCol="0">
            <a:spAutoFit/>
          </a:bodyPr>
          <a:lstStyle/>
          <a:p>
            <a:pPr indent="3175">
              <a:lnSpc>
                <a:spcPct val="150000"/>
              </a:lnSpc>
              <a:buClr>
                <a:schemeClr val="hlink"/>
              </a:buClr>
              <a:buSzPct val="55000"/>
            </a:pPr>
            <a:r>
              <a:rPr lang="en-US" altLang="ko-KR" dirty="0" err="1">
                <a:latin typeface="맑은 고딕" pitchFamily="50" charset="-127"/>
                <a:ea typeface="맑은 고딕" pitchFamily="50" charset="-127"/>
              </a:rPr>
              <a:t>ES</a:t>
            </a:r>
            <a:r>
              <a:rPr lang="en-US" altLang="ko-KR" baseline="-25000" dirty="0" err="1">
                <a:latin typeface="맑은 고딕" pitchFamily="50" charset="-127"/>
                <a:ea typeface="맑은 고딕" pitchFamily="50" charset="-127"/>
              </a:rPr>
              <a:t>i</a:t>
            </a:r>
            <a:r>
              <a:rPr lang="en-US" altLang="ko-KR" dirty="0">
                <a:latin typeface="맑은 고딕" pitchFamily="50" charset="-127"/>
                <a:ea typeface="맑은 고딕" pitchFamily="50" charset="-127"/>
              </a:rPr>
              <a:t> : Earliest Start Time of task </a:t>
            </a:r>
            <a:r>
              <a:rPr lang="en-US" altLang="ko-KR" dirty="0" err="1">
                <a:latin typeface="맑은 고딕" pitchFamily="50" charset="-127"/>
                <a:ea typeface="맑은 고딕" pitchFamily="50" charset="-127"/>
              </a:rPr>
              <a:t>i</a:t>
            </a:r>
            <a:endParaRPr lang="en-US" altLang="ko-KR" dirty="0">
              <a:latin typeface="맑은 고딕" pitchFamily="50" charset="-127"/>
              <a:ea typeface="맑은 고딕" pitchFamily="50" charset="-127"/>
            </a:endParaRPr>
          </a:p>
          <a:p>
            <a:pPr indent="3175">
              <a:lnSpc>
                <a:spcPct val="150000"/>
              </a:lnSpc>
              <a:buClr>
                <a:schemeClr val="hlink"/>
              </a:buClr>
              <a:buSzPct val="55000"/>
            </a:pPr>
            <a:r>
              <a:rPr lang="en-US" altLang="ko-KR" dirty="0" err="1">
                <a:latin typeface="맑은 고딕" pitchFamily="50" charset="-127"/>
                <a:ea typeface="맑은 고딕" pitchFamily="50" charset="-127"/>
              </a:rPr>
              <a:t>EF</a:t>
            </a:r>
            <a:r>
              <a:rPr lang="en-US" altLang="ko-KR" baseline="-25000" dirty="0" err="1">
                <a:latin typeface="맑은 고딕" pitchFamily="50" charset="-127"/>
                <a:ea typeface="맑은 고딕" pitchFamily="50" charset="-127"/>
              </a:rPr>
              <a:t>i</a:t>
            </a:r>
            <a:r>
              <a:rPr lang="en-US" altLang="ko-KR" dirty="0">
                <a:latin typeface="맑은 고딕" pitchFamily="50" charset="-127"/>
                <a:ea typeface="맑은 고딕" pitchFamily="50" charset="-127"/>
              </a:rPr>
              <a:t> : Earliest Finish Time of task </a:t>
            </a:r>
            <a:r>
              <a:rPr lang="en-US" altLang="ko-KR" dirty="0" err="1">
                <a:latin typeface="맑은 고딕" pitchFamily="50" charset="-127"/>
                <a:ea typeface="맑은 고딕" pitchFamily="50" charset="-127"/>
              </a:rPr>
              <a:t>i</a:t>
            </a:r>
            <a:endParaRPr lang="ko-KR" altLang="en-US" dirty="0">
              <a:latin typeface="Tahoma" pitchFamily="34" charset="0"/>
            </a:endParaRPr>
          </a:p>
        </p:txBody>
      </p:sp>
      <p:sp>
        <p:nvSpPr>
          <p:cNvPr id="22" name="Rectangle 21"/>
          <p:cNvSpPr/>
          <p:nvPr/>
        </p:nvSpPr>
        <p:spPr bwMode="auto">
          <a:xfrm>
            <a:off x="1654031" y="2945870"/>
            <a:ext cx="504056" cy="360000"/>
          </a:xfrm>
          <a:prstGeom prst="rect">
            <a:avLst/>
          </a:prstGeom>
          <a:no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r>
              <a:rPr kumimoji="1" lang="en-US" altLang="ko-KR" dirty="0">
                <a:latin typeface="Malgun Gothic" charset="-127"/>
                <a:ea typeface="Malgun Gothic" charset="-127"/>
                <a:cs typeface="Malgun Gothic" charset="-127"/>
              </a:rPr>
              <a:t>A</a:t>
            </a:r>
            <a:endParaRPr kumimoji="1" lang="ko-KR" altLang="en-US" dirty="0">
              <a:latin typeface="Malgun Gothic" charset="-127"/>
              <a:ea typeface="Malgun Gothic" charset="-127"/>
              <a:cs typeface="Malgun Gothic" charset="-127"/>
            </a:endParaRPr>
          </a:p>
        </p:txBody>
      </p:sp>
      <p:sp>
        <p:nvSpPr>
          <p:cNvPr id="24" name="Rectangle 23"/>
          <p:cNvSpPr/>
          <p:nvPr/>
        </p:nvSpPr>
        <p:spPr bwMode="auto">
          <a:xfrm>
            <a:off x="1654031" y="3770124"/>
            <a:ext cx="504056" cy="360000"/>
          </a:xfrm>
          <a:prstGeom prst="rect">
            <a:avLst/>
          </a:prstGeom>
          <a:no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r>
              <a:rPr kumimoji="1" lang="en-US" altLang="ko-KR" dirty="0">
                <a:latin typeface="Malgun Gothic" charset="-127"/>
                <a:ea typeface="Malgun Gothic" charset="-127"/>
                <a:cs typeface="Malgun Gothic" charset="-127"/>
              </a:rPr>
              <a:t>B</a:t>
            </a:r>
            <a:endParaRPr kumimoji="1" lang="ko-KR" altLang="en-US" dirty="0">
              <a:latin typeface="Malgun Gothic" charset="-127"/>
              <a:ea typeface="Malgun Gothic" charset="-127"/>
              <a:cs typeface="Malgun Gothic" charset="-127"/>
            </a:endParaRPr>
          </a:p>
        </p:txBody>
      </p:sp>
      <p:cxnSp>
        <p:nvCxnSpPr>
          <p:cNvPr id="25" name="Straight Arrow Connector 24"/>
          <p:cNvCxnSpPr>
            <a:cxnSpLocks/>
            <a:stCxn id="22" idx="3"/>
            <a:endCxn id="27" idx="1"/>
          </p:cNvCxnSpPr>
          <p:nvPr/>
        </p:nvCxnSpPr>
        <p:spPr bwMode="auto">
          <a:xfrm>
            <a:off x="2158087" y="3125870"/>
            <a:ext cx="556180" cy="390866"/>
          </a:xfrm>
          <a:prstGeom prst="straightConnector1">
            <a:avLst/>
          </a:prstGeom>
          <a:noFill/>
          <a:ln w="19050" cap="flat" cmpd="sng" algn="ctr">
            <a:solidFill>
              <a:schemeClr val="tx1"/>
            </a:solidFill>
            <a:prstDash val="solid"/>
            <a:round/>
            <a:headEnd type="none" w="med" len="med"/>
            <a:tailEnd type="triangle"/>
          </a:ln>
          <a:effectLst/>
        </p:spPr>
      </p:cxnSp>
      <p:sp>
        <p:nvSpPr>
          <p:cNvPr id="27" name="Rectangle 26"/>
          <p:cNvSpPr/>
          <p:nvPr/>
        </p:nvSpPr>
        <p:spPr bwMode="auto">
          <a:xfrm>
            <a:off x="2714267" y="3336736"/>
            <a:ext cx="504056" cy="360000"/>
          </a:xfrm>
          <a:prstGeom prst="rect">
            <a:avLst/>
          </a:prstGeom>
          <a:no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r>
              <a:rPr kumimoji="1" lang="en-US" altLang="ko-KR" dirty="0">
                <a:latin typeface="Malgun Gothic" charset="-127"/>
                <a:ea typeface="Malgun Gothic" charset="-127"/>
                <a:cs typeface="Malgun Gothic" charset="-127"/>
              </a:rPr>
              <a:t>C</a:t>
            </a:r>
            <a:endParaRPr kumimoji="1" lang="ko-KR" altLang="en-US" dirty="0">
              <a:latin typeface="Malgun Gothic" charset="-127"/>
              <a:ea typeface="Malgun Gothic" charset="-127"/>
              <a:cs typeface="Malgun Gothic" charset="-127"/>
            </a:endParaRPr>
          </a:p>
        </p:txBody>
      </p:sp>
      <p:cxnSp>
        <p:nvCxnSpPr>
          <p:cNvPr id="28" name="Straight Arrow Connector 27"/>
          <p:cNvCxnSpPr>
            <a:cxnSpLocks/>
            <a:stCxn id="24" idx="3"/>
            <a:endCxn id="27" idx="1"/>
          </p:cNvCxnSpPr>
          <p:nvPr/>
        </p:nvCxnSpPr>
        <p:spPr bwMode="auto">
          <a:xfrm flipV="1">
            <a:off x="2158087" y="3516736"/>
            <a:ext cx="556180" cy="433388"/>
          </a:xfrm>
          <a:prstGeom prst="straightConnector1">
            <a:avLst/>
          </a:prstGeom>
          <a:noFill/>
          <a:ln w="19050" cap="flat" cmpd="sng" algn="ctr">
            <a:solidFill>
              <a:schemeClr val="tx1"/>
            </a:solidFill>
            <a:prstDash val="solid"/>
            <a:round/>
            <a:headEnd type="none" w="med" len="med"/>
            <a:tailEnd type="triangle"/>
          </a:ln>
          <a:effectLst/>
        </p:spPr>
      </p:cxnSp>
      <p:cxnSp>
        <p:nvCxnSpPr>
          <p:cNvPr id="30" name="Straight Arrow Connector 29"/>
          <p:cNvCxnSpPr>
            <a:cxnSpLocks/>
            <a:stCxn id="27" idx="3"/>
            <a:endCxn id="32" idx="1"/>
          </p:cNvCxnSpPr>
          <p:nvPr/>
        </p:nvCxnSpPr>
        <p:spPr bwMode="auto">
          <a:xfrm>
            <a:off x="3218323" y="3516736"/>
            <a:ext cx="429405" cy="0"/>
          </a:xfrm>
          <a:prstGeom prst="straightConnector1">
            <a:avLst/>
          </a:prstGeom>
          <a:noFill/>
          <a:ln w="19050" cap="flat" cmpd="sng" algn="ctr">
            <a:solidFill>
              <a:schemeClr val="tx1"/>
            </a:solidFill>
            <a:prstDash val="solid"/>
            <a:round/>
            <a:headEnd type="none" w="med" len="med"/>
            <a:tailEnd type="triangle"/>
          </a:ln>
          <a:effectLst/>
        </p:spPr>
      </p:cxnSp>
      <p:sp>
        <p:nvSpPr>
          <p:cNvPr id="32" name="Rectangle 31"/>
          <p:cNvSpPr/>
          <p:nvPr/>
        </p:nvSpPr>
        <p:spPr bwMode="auto">
          <a:xfrm>
            <a:off x="3647728" y="3336736"/>
            <a:ext cx="504056" cy="360000"/>
          </a:xfrm>
          <a:prstGeom prst="rect">
            <a:avLst/>
          </a:prstGeom>
          <a:no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r>
              <a:rPr kumimoji="1" lang="en-US" altLang="ko-KR" dirty="0">
                <a:latin typeface="Malgun Gothic" charset="-127"/>
                <a:ea typeface="Malgun Gothic" charset="-127"/>
                <a:cs typeface="Malgun Gothic" charset="-127"/>
              </a:rPr>
              <a:t>D</a:t>
            </a:r>
            <a:endParaRPr kumimoji="1" lang="ko-KR" altLang="en-US" dirty="0">
              <a:latin typeface="Malgun Gothic" charset="-127"/>
              <a:ea typeface="Malgun Gothic" charset="-127"/>
              <a:cs typeface="Malgun Gothic" charset="-127"/>
            </a:endParaRPr>
          </a:p>
        </p:txBody>
      </p:sp>
      <p:sp>
        <p:nvSpPr>
          <p:cNvPr id="36" name="TextBox 35"/>
          <p:cNvSpPr txBox="1"/>
          <p:nvPr/>
        </p:nvSpPr>
        <p:spPr>
          <a:xfrm>
            <a:off x="1769042" y="2550884"/>
            <a:ext cx="365806" cy="369332"/>
          </a:xfrm>
          <a:prstGeom prst="rect">
            <a:avLst/>
          </a:prstGeom>
          <a:noFill/>
        </p:spPr>
        <p:txBody>
          <a:bodyPr wrap="none" rtlCol="0">
            <a:spAutoFit/>
          </a:bodyPr>
          <a:lstStyle/>
          <a:p>
            <a:r>
              <a:rPr lang="en-US" dirty="0" err="1"/>
              <a:t>t</a:t>
            </a:r>
            <a:r>
              <a:rPr lang="en-US" baseline="-25000" dirty="0" err="1"/>
              <a:t>A</a:t>
            </a:r>
            <a:endParaRPr kumimoji="1" lang="ko-KR" altLang="en-US" baseline="-25000" dirty="0">
              <a:latin typeface="Malgun Gothic" charset="-127"/>
              <a:ea typeface="Malgun Gothic" charset="-127"/>
              <a:cs typeface="Malgun Gothic" charset="-127"/>
            </a:endParaRPr>
          </a:p>
        </p:txBody>
      </p:sp>
      <p:sp>
        <p:nvSpPr>
          <p:cNvPr id="37" name="TextBox 36"/>
          <p:cNvSpPr txBox="1"/>
          <p:nvPr/>
        </p:nvSpPr>
        <p:spPr>
          <a:xfrm>
            <a:off x="1780806" y="3384470"/>
            <a:ext cx="354584" cy="369332"/>
          </a:xfrm>
          <a:prstGeom prst="rect">
            <a:avLst/>
          </a:prstGeom>
          <a:noFill/>
        </p:spPr>
        <p:txBody>
          <a:bodyPr wrap="none" rtlCol="0">
            <a:spAutoFit/>
          </a:bodyPr>
          <a:lstStyle/>
          <a:p>
            <a:r>
              <a:rPr lang="en-US" dirty="0" err="1"/>
              <a:t>t</a:t>
            </a:r>
            <a:r>
              <a:rPr lang="en-US" baseline="-25000" dirty="0" err="1"/>
              <a:t>B</a:t>
            </a:r>
            <a:endParaRPr kumimoji="1" lang="ko-KR" altLang="en-US" baseline="-25000" dirty="0">
              <a:latin typeface="Malgun Gothic" charset="-127"/>
              <a:ea typeface="Malgun Gothic" charset="-127"/>
              <a:cs typeface="Malgun Gothic" charset="-127"/>
            </a:endParaRPr>
          </a:p>
        </p:txBody>
      </p:sp>
      <p:sp>
        <p:nvSpPr>
          <p:cNvPr id="38" name="TextBox 37"/>
          <p:cNvSpPr txBox="1"/>
          <p:nvPr/>
        </p:nvSpPr>
        <p:spPr>
          <a:xfrm>
            <a:off x="2815191" y="2945870"/>
            <a:ext cx="362600" cy="369332"/>
          </a:xfrm>
          <a:prstGeom prst="rect">
            <a:avLst/>
          </a:prstGeom>
          <a:noFill/>
        </p:spPr>
        <p:txBody>
          <a:bodyPr wrap="none" rtlCol="0">
            <a:spAutoFit/>
          </a:bodyPr>
          <a:lstStyle/>
          <a:p>
            <a:r>
              <a:rPr kumimoji="1" lang="en-US" altLang="ko-KR" dirty="0" err="1">
                <a:latin typeface="Malgun Gothic" charset="-127"/>
                <a:ea typeface="Malgun Gothic" charset="-127"/>
                <a:cs typeface="Malgun Gothic" charset="-127"/>
              </a:rPr>
              <a:t>t</a:t>
            </a:r>
            <a:r>
              <a:rPr kumimoji="1" lang="en-US" altLang="ko-KR" baseline="-25000" dirty="0" err="1">
                <a:latin typeface="Malgun Gothic" charset="-127"/>
                <a:ea typeface="Malgun Gothic" charset="-127"/>
                <a:cs typeface="Malgun Gothic" charset="-127"/>
              </a:rPr>
              <a:t>C</a:t>
            </a:r>
            <a:endParaRPr kumimoji="1" lang="ko-KR" altLang="en-US" baseline="-25000" dirty="0">
              <a:latin typeface="Malgun Gothic" charset="-127"/>
              <a:ea typeface="Malgun Gothic" charset="-127"/>
              <a:cs typeface="Malgun Gothic" charset="-127"/>
            </a:endParaRPr>
          </a:p>
        </p:txBody>
      </p:sp>
      <p:sp>
        <p:nvSpPr>
          <p:cNvPr id="39" name="TextBox 38"/>
          <p:cNvSpPr txBox="1"/>
          <p:nvPr/>
        </p:nvSpPr>
        <p:spPr>
          <a:xfrm>
            <a:off x="3718456" y="2945870"/>
            <a:ext cx="375424" cy="369332"/>
          </a:xfrm>
          <a:prstGeom prst="rect">
            <a:avLst/>
          </a:prstGeom>
          <a:noFill/>
        </p:spPr>
        <p:txBody>
          <a:bodyPr wrap="none" rtlCol="0">
            <a:spAutoFit/>
          </a:bodyPr>
          <a:lstStyle/>
          <a:p>
            <a:r>
              <a:rPr kumimoji="1" lang="en-US" altLang="ko-KR" dirty="0" err="1">
                <a:latin typeface="Malgun Gothic" charset="-127"/>
                <a:ea typeface="Malgun Gothic" charset="-127"/>
                <a:cs typeface="Malgun Gothic" charset="-127"/>
              </a:rPr>
              <a:t>t</a:t>
            </a:r>
            <a:r>
              <a:rPr kumimoji="1" lang="en-US" altLang="ko-KR" baseline="-25000" dirty="0" err="1">
                <a:latin typeface="Malgun Gothic" charset="-127"/>
                <a:ea typeface="Malgun Gothic" charset="-127"/>
                <a:cs typeface="Malgun Gothic" charset="-127"/>
              </a:rPr>
              <a:t>D</a:t>
            </a:r>
            <a:endParaRPr kumimoji="1" lang="ko-KR" altLang="en-US" baseline="-25000" dirty="0">
              <a:latin typeface="Malgun Gothic" charset="-127"/>
              <a:ea typeface="Malgun Gothic" charset="-127"/>
              <a:cs typeface="Malgun Gothic" charset="-127"/>
            </a:endParaRPr>
          </a:p>
        </p:txBody>
      </p:sp>
      <p:sp>
        <p:nvSpPr>
          <p:cNvPr id="41" name="Rectangle 40"/>
          <p:cNvSpPr/>
          <p:nvPr/>
        </p:nvSpPr>
        <p:spPr>
          <a:xfrm>
            <a:off x="686690" y="4747866"/>
            <a:ext cx="4267130" cy="1107996"/>
          </a:xfrm>
          <a:prstGeom prst="rect">
            <a:avLst/>
          </a:prstGeom>
        </p:spPr>
        <p:txBody>
          <a:bodyPr wrap="none">
            <a:spAutoFit/>
          </a:bodyPr>
          <a:lstStyle/>
          <a:p>
            <a:r>
              <a:rPr lang="en-US" dirty="0"/>
              <a:t>ES</a:t>
            </a:r>
            <a:r>
              <a:rPr lang="en-US" baseline="-25000" dirty="0"/>
              <a:t>C</a:t>
            </a:r>
            <a:r>
              <a:rPr lang="en-US" dirty="0"/>
              <a:t>=max{EF</a:t>
            </a:r>
            <a:r>
              <a:rPr lang="en-US" baseline="-25000" dirty="0"/>
              <a:t>A</a:t>
            </a:r>
            <a:r>
              <a:rPr lang="en-US" dirty="0"/>
              <a:t>, EF</a:t>
            </a:r>
            <a:r>
              <a:rPr lang="en-US" baseline="-25000" dirty="0"/>
              <a:t>B</a:t>
            </a:r>
            <a:r>
              <a:rPr lang="en-US" dirty="0"/>
              <a:t>}=max{</a:t>
            </a:r>
            <a:r>
              <a:rPr lang="en-US" dirty="0" err="1"/>
              <a:t>ES</a:t>
            </a:r>
            <a:r>
              <a:rPr lang="en-US" baseline="-25000" dirty="0" err="1"/>
              <a:t>A</a:t>
            </a:r>
            <a:r>
              <a:rPr lang="en-US" dirty="0" err="1"/>
              <a:t>+t</a:t>
            </a:r>
            <a:r>
              <a:rPr lang="en-US" baseline="-25000" dirty="0" err="1"/>
              <a:t>A</a:t>
            </a:r>
            <a:r>
              <a:rPr lang="en-US" dirty="0"/>
              <a:t>, </a:t>
            </a:r>
            <a:r>
              <a:rPr lang="en-US" dirty="0" err="1"/>
              <a:t>ES</a:t>
            </a:r>
            <a:r>
              <a:rPr lang="en-US" baseline="-25000" dirty="0" err="1"/>
              <a:t>B</a:t>
            </a:r>
            <a:r>
              <a:rPr lang="en-US" dirty="0" err="1"/>
              <a:t>+t</a:t>
            </a:r>
            <a:r>
              <a:rPr lang="en-US" baseline="-25000" dirty="0" err="1"/>
              <a:t>B</a:t>
            </a:r>
            <a:r>
              <a:rPr lang="en-US" dirty="0"/>
              <a:t>}</a:t>
            </a:r>
          </a:p>
          <a:p>
            <a:r>
              <a:rPr lang="en-US" dirty="0"/>
              <a:t>ES</a:t>
            </a:r>
            <a:r>
              <a:rPr lang="en-US" baseline="-25000" dirty="0"/>
              <a:t>D</a:t>
            </a:r>
            <a:r>
              <a:rPr lang="en-US" dirty="0"/>
              <a:t>=EF</a:t>
            </a:r>
            <a:r>
              <a:rPr lang="en-US" baseline="-25000" dirty="0"/>
              <a:t>C</a:t>
            </a:r>
            <a:r>
              <a:rPr lang="en-US" dirty="0"/>
              <a:t>=</a:t>
            </a:r>
            <a:r>
              <a:rPr lang="en-US" dirty="0" err="1"/>
              <a:t>ES</a:t>
            </a:r>
            <a:r>
              <a:rPr lang="en-US" baseline="-25000" dirty="0" err="1"/>
              <a:t>C</a:t>
            </a:r>
            <a:r>
              <a:rPr lang="en-US" dirty="0" err="1"/>
              <a:t>+t</a:t>
            </a:r>
            <a:r>
              <a:rPr lang="en-US" baseline="-25000" dirty="0" err="1"/>
              <a:t>C</a:t>
            </a:r>
            <a:endParaRPr lang="en-US" baseline="-25000" dirty="0"/>
          </a:p>
          <a:p>
            <a:endParaRPr lang="en-US" baseline="-25000" dirty="0"/>
          </a:p>
          <a:p>
            <a:r>
              <a:rPr lang="en-US" dirty="0"/>
              <a:t>Note that the ESs of start nodes = 0</a:t>
            </a:r>
          </a:p>
        </p:txBody>
      </p:sp>
      <p:sp>
        <p:nvSpPr>
          <p:cNvPr id="12" name="TextBox 11">
            <a:extLst>
              <a:ext uri="{FF2B5EF4-FFF2-40B4-BE49-F238E27FC236}">
                <a16:creationId xmlns:a16="http://schemas.microsoft.com/office/drawing/2014/main" id="{91DB1317-1579-85EC-0126-BD137B5849AF}"/>
              </a:ext>
            </a:extLst>
          </p:cNvPr>
          <p:cNvSpPr txBox="1"/>
          <p:nvPr/>
        </p:nvSpPr>
        <p:spPr>
          <a:xfrm>
            <a:off x="7077320" y="4701699"/>
            <a:ext cx="4161717" cy="1200329"/>
          </a:xfrm>
          <a:prstGeom prst="rect">
            <a:avLst/>
          </a:prstGeom>
          <a:noFill/>
        </p:spPr>
        <p:txBody>
          <a:bodyPr wrap="none" rtlCol="0">
            <a:spAutoFit/>
          </a:bodyPr>
          <a:lstStyle/>
          <a:p>
            <a:r>
              <a:rPr lang="en-US" dirty="0"/>
              <a:t>LF</a:t>
            </a:r>
            <a:r>
              <a:rPr lang="en-US" baseline="-25000" dirty="0"/>
              <a:t>C</a:t>
            </a:r>
            <a:r>
              <a:rPr lang="en-US" dirty="0"/>
              <a:t>=LS</a:t>
            </a:r>
            <a:r>
              <a:rPr lang="en-US" baseline="-25000" dirty="0"/>
              <a:t>D</a:t>
            </a:r>
            <a:r>
              <a:rPr lang="en-US" dirty="0"/>
              <a:t>=LF</a:t>
            </a:r>
            <a:r>
              <a:rPr lang="en-US" baseline="-25000" dirty="0"/>
              <a:t>D</a:t>
            </a:r>
            <a:r>
              <a:rPr lang="en-US" dirty="0"/>
              <a:t>-</a:t>
            </a:r>
            <a:r>
              <a:rPr lang="en-US" dirty="0" err="1"/>
              <a:t>t</a:t>
            </a:r>
            <a:r>
              <a:rPr lang="en-US" baseline="-25000" dirty="0" err="1"/>
              <a:t>D</a:t>
            </a:r>
            <a:endParaRPr lang="en-US" baseline="-25000" dirty="0"/>
          </a:p>
          <a:p>
            <a:r>
              <a:rPr lang="en-US" dirty="0"/>
              <a:t>LF</a:t>
            </a:r>
            <a:r>
              <a:rPr lang="en-US" baseline="-25000" dirty="0"/>
              <a:t>A</a:t>
            </a:r>
            <a:r>
              <a:rPr lang="en-US" dirty="0"/>
              <a:t>=min{LS</a:t>
            </a:r>
            <a:r>
              <a:rPr lang="en-US" baseline="-25000" dirty="0"/>
              <a:t>C</a:t>
            </a:r>
            <a:r>
              <a:rPr lang="en-US" dirty="0"/>
              <a:t>, LS</a:t>
            </a:r>
            <a:r>
              <a:rPr lang="en-US" baseline="-25000" dirty="0"/>
              <a:t>B</a:t>
            </a:r>
            <a:r>
              <a:rPr lang="en-US" dirty="0"/>
              <a:t>}=min{LF</a:t>
            </a:r>
            <a:r>
              <a:rPr lang="en-US" baseline="-25000" dirty="0"/>
              <a:t>C</a:t>
            </a:r>
            <a:r>
              <a:rPr lang="en-US" dirty="0"/>
              <a:t>-</a:t>
            </a:r>
            <a:r>
              <a:rPr lang="en-US" dirty="0" err="1"/>
              <a:t>t</a:t>
            </a:r>
            <a:r>
              <a:rPr lang="en-US" baseline="-25000" dirty="0" err="1"/>
              <a:t>C</a:t>
            </a:r>
            <a:r>
              <a:rPr lang="en-US" dirty="0"/>
              <a:t>, LF</a:t>
            </a:r>
            <a:r>
              <a:rPr lang="en-US" baseline="-25000" dirty="0"/>
              <a:t>B</a:t>
            </a:r>
            <a:r>
              <a:rPr lang="en-US" dirty="0"/>
              <a:t>-</a:t>
            </a:r>
            <a:r>
              <a:rPr lang="en-US" dirty="0" err="1"/>
              <a:t>t</a:t>
            </a:r>
            <a:r>
              <a:rPr lang="en-US" baseline="-25000" dirty="0" err="1"/>
              <a:t>B</a:t>
            </a:r>
            <a:r>
              <a:rPr lang="en-US" dirty="0"/>
              <a:t>}</a:t>
            </a:r>
          </a:p>
          <a:p>
            <a:endParaRPr lang="en-US" dirty="0"/>
          </a:p>
          <a:p>
            <a:r>
              <a:rPr lang="en-US" dirty="0"/>
              <a:t>Note that the LFs of end nodes = EFs</a:t>
            </a:r>
          </a:p>
        </p:txBody>
      </p:sp>
      <p:sp>
        <p:nvSpPr>
          <p:cNvPr id="14" name="Rectangle 13">
            <a:extLst>
              <a:ext uri="{FF2B5EF4-FFF2-40B4-BE49-F238E27FC236}">
                <a16:creationId xmlns:a16="http://schemas.microsoft.com/office/drawing/2014/main" id="{1C6CADD2-3599-8391-0CC7-2187BDC64449}"/>
              </a:ext>
            </a:extLst>
          </p:cNvPr>
          <p:cNvSpPr/>
          <p:nvPr/>
        </p:nvSpPr>
        <p:spPr bwMode="auto">
          <a:xfrm>
            <a:off x="7248129" y="3339645"/>
            <a:ext cx="504056" cy="360000"/>
          </a:xfrm>
          <a:prstGeom prst="rect">
            <a:avLst/>
          </a:prstGeom>
          <a:no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r>
              <a:rPr kumimoji="1" lang="en-US" altLang="ko-KR" dirty="0">
                <a:latin typeface="Malgun Gothic" charset="-127"/>
                <a:ea typeface="Malgun Gothic" charset="-127"/>
                <a:cs typeface="Malgun Gothic" charset="-127"/>
              </a:rPr>
              <a:t>A</a:t>
            </a:r>
            <a:endParaRPr kumimoji="1" lang="ko-KR" altLang="en-US" dirty="0">
              <a:latin typeface="Malgun Gothic" charset="-127"/>
              <a:ea typeface="Malgun Gothic" charset="-127"/>
              <a:cs typeface="Malgun Gothic" charset="-127"/>
            </a:endParaRPr>
          </a:p>
        </p:txBody>
      </p:sp>
      <p:sp>
        <p:nvSpPr>
          <p:cNvPr id="15" name="Rectangle 14">
            <a:extLst>
              <a:ext uri="{FF2B5EF4-FFF2-40B4-BE49-F238E27FC236}">
                <a16:creationId xmlns:a16="http://schemas.microsoft.com/office/drawing/2014/main" id="{D12AB1F9-5222-F89D-F884-50B5CB22C13A}"/>
              </a:ext>
            </a:extLst>
          </p:cNvPr>
          <p:cNvSpPr/>
          <p:nvPr/>
        </p:nvSpPr>
        <p:spPr bwMode="auto">
          <a:xfrm>
            <a:off x="8377851" y="3795046"/>
            <a:ext cx="504056" cy="360000"/>
          </a:xfrm>
          <a:prstGeom prst="rect">
            <a:avLst/>
          </a:prstGeom>
          <a:no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r>
              <a:rPr kumimoji="1" lang="en-US" altLang="ko-KR" dirty="0">
                <a:latin typeface="Malgun Gothic" charset="-127"/>
                <a:ea typeface="Malgun Gothic" charset="-127"/>
                <a:cs typeface="Malgun Gothic" charset="-127"/>
              </a:rPr>
              <a:t>B</a:t>
            </a:r>
            <a:endParaRPr kumimoji="1" lang="ko-KR" altLang="en-US" dirty="0">
              <a:latin typeface="Malgun Gothic" charset="-127"/>
              <a:ea typeface="Malgun Gothic" charset="-127"/>
              <a:cs typeface="Malgun Gothic" charset="-127"/>
            </a:endParaRPr>
          </a:p>
        </p:txBody>
      </p:sp>
      <p:cxnSp>
        <p:nvCxnSpPr>
          <p:cNvPr id="16" name="Straight Arrow Connector 15">
            <a:extLst>
              <a:ext uri="{FF2B5EF4-FFF2-40B4-BE49-F238E27FC236}">
                <a16:creationId xmlns:a16="http://schemas.microsoft.com/office/drawing/2014/main" id="{00A4200A-6C57-9A86-642F-4ADFD1BAD080}"/>
              </a:ext>
            </a:extLst>
          </p:cNvPr>
          <p:cNvCxnSpPr>
            <a:cxnSpLocks/>
            <a:stCxn id="14" idx="3"/>
            <a:endCxn id="42" idx="1"/>
          </p:cNvCxnSpPr>
          <p:nvPr/>
        </p:nvCxnSpPr>
        <p:spPr bwMode="auto">
          <a:xfrm flipV="1">
            <a:off x="7752185" y="3135771"/>
            <a:ext cx="625666" cy="383874"/>
          </a:xfrm>
          <a:prstGeom prst="straightConnector1">
            <a:avLst/>
          </a:prstGeom>
          <a:noFill/>
          <a:ln w="19050" cap="flat" cmpd="sng" algn="ctr">
            <a:solidFill>
              <a:schemeClr val="tx1"/>
            </a:solidFill>
            <a:prstDash val="solid"/>
            <a:round/>
            <a:headEnd type="none" w="med" len="med"/>
            <a:tailEnd type="triangle"/>
          </a:ln>
          <a:effectLst/>
        </p:spPr>
      </p:cxnSp>
      <p:sp>
        <p:nvSpPr>
          <p:cNvPr id="42" name="Rectangle 41">
            <a:extLst>
              <a:ext uri="{FF2B5EF4-FFF2-40B4-BE49-F238E27FC236}">
                <a16:creationId xmlns:a16="http://schemas.microsoft.com/office/drawing/2014/main" id="{D8189367-63C2-916D-16EF-790656FC9141}"/>
              </a:ext>
            </a:extLst>
          </p:cNvPr>
          <p:cNvSpPr/>
          <p:nvPr/>
        </p:nvSpPr>
        <p:spPr bwMode="auto">
          <a:xfrm>
            <a:off x="8377851" y="2955771"/>
            <a:ext cx="504056" cy="360000"/>
          </a:xfrm>
          <a:prstGeom prst="rect">
            <a:avLst/>
          </a:prstGeom>
          <a:no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r>
              <a:rPr kumimoji="1" lang="en-US" altLang="ko-KR" dirty="0">
                <a:latin typeface="Malgun Gothic" charset="-127"/>
                <a:ea typeface="Malgun Gothic" charset="-127"/>
                <a:cs typeface="Malgun Gothic" charset="-127"/>
              </a:rPr>
              <a:t>C</a:t>
            </a:r>
            <a:endParaRPr kumimoji="1" lang="ko-KR" altLang="en-US" dirty="0">
              <a:latin typeface="Malgun Gothic" charset="-127"/>
              <a:ea typeface="Malgun Gothic" charset="-127"/>
              <a:cs typeface="Malgun Gothic" charset="-127"/>
            </a:endParaRPr>
          </a:p>
        </p:txBody>
      </p:sp>
      <p:cxnSp>
        <p:nvCxnSpPr>
          <p:cNvPr id="43" name="Straight Arrow Connector 42">
            <a:extLst>
              <a:ext uri="{FF2B5EF4-FFF2-40B4-BE49-F238E27FC236}">
                <a16:creationId xmlns:a16="http://schemas.microsoft.com/office/drawing/2014/main" id="{4797227A-5481-CF80-E1F1-392B3800E52B}"/>
              </a:ext>
            </a:extLst>
          </p:cNvPr>
          <p:cNvCxnSpPr>
            <a:cxnSpLocks/>
            <a:stCxn id="42" idx="3"/>
            <a:endCxn id="44" idx="1"/>
          </p:cNvCxnSpPr>
          <p:nvPr/>
        </p:nvCxnSpPr>
        <p:spPr bwMode="auto">
          <a:xfrm>
            <a:off x="8881907" y="3135771"/>
            <a:ext cx="552545" cy="0"/>
          </a:xfrm>
          <a:prstGeom prst="straightConnector1">
            <a:avLst/>
          </a:prstGeom>
          <a:noFill/>
          <a:ln w="19050" cap="flat" cmpd="sng" algn="ctr">
            <a:solidFill>
              <a:schemeClr val="tx1"/>
            </a:solidFill>
            <a:prstDash val="solid"/>
            <a:round/>
            <a:headEnd type="none" w="med" len="med"/>
            <a:tailEnd type="triangle"/>
          </a:ln>
          <a:effectLst/>
        </p:spPr>
      </p:cxnSp>
      <p:sp>
        <p:nvSpPr>
          <p:cNvPr id="44" name="Rectangle 43">
            <a:extLst>
              <a:ext uri="{FF2B5EF4-FFF2-40B4-BE49-F238E27FC236}">
                <a16:creationId xmlns:a16="http://schemas.microsoft.com/office/drawing/2014/main" id="{296E583C-935C-0617-ACB1-0DD41FBB0846}"/>
              </a:ext>
            </a:extLst>
          </p:cNvPr>
          <p:cNvSpPr/>
          <p:nvPr/>
        </p:nvSpPr>
        <p:spPr bwMode="auto">
          <a:xfrm>
            <a:off x="9434452" y="2955771"/>
            <a:ext cx="504056" cy="360000"/>
          </a:xfrm>
          <a:prstGeom prst="rect">
            <a:avLst/>
          </a:prstGeom>
          <a:no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r>
              <a:rPr kumimoji="1" lang="en-US" altLang="ko-KR" dirty="0">
                <a:latin typeface="Malgun Gothic" charset="-127"/>
                <a:ea typeface="Malgun Gothic" charset="-127"/>
                <a:cs typeface="Malgun Gothic" charset="-127"/>
              </a:rPr>
              <a:t>D</a:t>
            </a:r>
            <a:endParaRPr kumimoji="1" lang="ko-KR" altLang="en-US" dirty="0">
              <a:latin typeface="Malgun Gothic" charset="-127"/>
              <a:ea typeface="Malgun Gothic" charset="-127"/>
              <a:cs typeface="Malgun Gothic" charset="-127"/>
            </a:endParaRPr>
          </a:p>
        </p:txBody>
      </p:sp>
      <p:sp>
        <p:nvSpPr>
          <p:cNvPr id="45" name="TextBox 44">
            <a:extLst>
              <a:ext uri="{FF2B5EF4-FFF2-40B4-BE49-F238E27FC236}">
                <a16:creationId xmlns:a16="http://schemas.microsoft.com/office/drawing/2014/main" id="{5BF29F43-D247-EAEB-5E96-1145DFA2393C}"/>
              </a:ext>
            </a:extLst>
          </p:cNvPr>
          <p:cNvSpPr txBox="1"/>
          <p:nvPr/>
        </p:nvSpPr>
        <p:spPr>
          <a:xfrm>
            <a:off x="7317254" y="2970313"/>
            <a:ext cx="365806" cy="369332"/>
          </a:xfrm>
          <a:prstGeom prst="rect">
            <a:avLst/>
          </a:prstGeom>
          <a:noFill/>
        </p:spPr>
        <p:txBody>
          <a:bodyPr wrap="none" rtlCol="0">
            <a:spAutoFit/>
          </a:bodyPr>
          <a:lstStyle/>
          <a:p>
            <a:r>
              <a:rPr kumimoji="1" lang="en-US" altLang="ko-KR" dirty="0" err="1">
                <a:latin typeface="Malgun Gothic" charset="-127"/>
                <a:ea typeface="Malgun Gothic" charset="-127"/>
                <a:cs typeface="Malgun Gothic" charset="-127"/>
              </a:rPr>
              <a:t>t</a:t>
            </a:r>
            <a:r>
              <a:rPr kumimoji="1" lang="en-US" altLang="ko-KR" baseline="-25000" dirty="0" err="1">
                <a:latin typeface="Malgun Gothic" charset="-127"/>
                <a:ea typeface="Malgun Gothic" charset="-127"/>
                <a:cs typeface="Malgun Gothic" charset="-127"/>
              </a:rPr>
              <a:t>A</a:t>
            </a:r>
            <a:endParaRPr kumimoji="1" lang="ko-KR" altLang="en-US" baseline="-25000" dirty="0">
              <a:latin typeface="Malgun Gothic" charset="-127"/>
              <a:ea typeface="Malgun Gothic" charset="-127"/>
              <a:cs typeface="Malgun Gothic" charset="-127"/>
            </a:endParaRPr>
          </a:p>
        </p:txBody>
      </p:sp>
      <p:sp>
        <p:nvSpPr>
          <p:cNvPr id="46" name="TextBox 45">
            <a:extLst>
              <a:ext uri="{FF2B5EF4-FFF2-40B4-BE49-F238E27FC236}">
                <a16:creationId xmlns:a16="http://schemas.microsoft.com/office/drawing/2014/main" id="{31D5D30E-0AC5-CF39-0CD3-7E58F2B5BB2A}"/>
              </a:ext>
            </a:extLst>
          </p:cNvPr>
          <p:cNvSpPr txBox="1"/>
          <p:nvPr/>
        </p:nvSpPr>
        <p:spPr>
          <a:xfrm>
            <a:off x="8450628" y="3416784"/>
            <a:ext cx="365806" cy="369332"/>
          </a:xfrm>
          <a:prstGeom prst="rect">
            <a:avLst/>
          </a:prstGeom>
          <a:noFill/>
        </p:spPr>
        <p:txBody>
          <a:bodyPr wrap="none" rtlCol="0">
            <a:spAutoFit/>
          </a:bodyPr>
          <a:lstStyle/>
          <a:p>
            <a:r>
              <a:rPr kumimoji="1" lang="en-US" altLang="ko-KR" dirty="0" err="1">
                <a:latin typeface="Malgun Gothic" charset="-127"/>
                <a:ea typeface="Malgun Gothic" charset="-127"/>
                <a:cs typeface="Malgun Gothic" charset="-127"/>
              </a:rPr>
              <a:t>t</a:t>
            </a:r>
            <a:r>
              <a:rPr kumimoji="1" lang="en-US" altLang="ko-KR" baseline="-25000" dirty="0" err="1">
                <a:latin typeface="Malgun Gothic" charset="-127"/>
                <a:ea typeface="Malgun Gothic" charset="-127"/>
                <a:cs typeface="Malgun Gothic" charset="-127"/>
              </a:rPr>
              <a:t>B</a:t>
            </a:r>
            <a:endParaRPr kumimoji="1" lang="ko-KR" altLang="en-US" baseline="-25000" dirty="0">
              <a:latin typeface="Malgun Gothic" charset="-127"/>
              <a:ea typeface="Malgun Gothic" charset="-127"/>
              <a:cs typeface="Malgun Gothic" charset="-127"/>
            </a:endParaRPr>
          </a:p>
        </p:txBody>
      </p:sp>
      <p:sp>
        <p:nvSpPr>
          <p:cNvPr id="47" name="TextBox 46">
            <a:extLst>
              <a:ext uri="{FF2B5EF4-FFF2-40B4-BE49-F238E27FC236}">
                <a16:creationId xmlns:a16="http://schemas.microsoft.com/office/drawing/2014/main" id="{12456117-5782-89E5-C9C9-7CD897821237}"/>
              </a:ext>
            </a:extLst>
          </p:cNvPr>
          <p:cNvSpPr txBox="1"/>
          <p:nvPr/>
        </p:nvSpPr>
        <p:spPr>
          <a:xfrm>
            <a:off x="8478775" y="2564905"/>
            <a:ext cx="362600" cy="369332"/>
          </a:xfrm>
          <a:prstGeom prst="rect">
            <a:avLst/>
          </a:prstGeom>
          <a:noFill/>
        </p:spPr>
        <p:txBody>
          <a:bodyPr wrap="none" rtlCol="0">
            <a:spAutoFit/>
          </a:bodyPr>
          <a:lstStyle/>
          <a:p>
            <a:r>
              <a:rPr kumimoji="1" lang="en-US" altLang="ko-KR" dirty="0" err="1">
                <a:latin typeface="Malgun Gothic" charset="-127"/>
                <a:ea typeface="Malgun Gothic" charset="-127"/>
                <a:cs typeface="Malgun Gothic" charset="-127"/>
              </a:rPr>
              <a:t>t</a:t>
            </a:r>
            <a:r>
              <a:rPr kumimoji="1" lang="en-US" altLang="ko-KR" baseline="-25000" dirty="0" err="1">
                <a:latin typeface="Malgun Gothic" charset="-127"/>
                <a:ea typeface="Malgun Gothic" charset="-127"/>
                <a:cs typeface="Malgun Gothic" charset="-127"/>
              </a:rPr>
              <a:t>C</a:t>
            </a:r>
            <a:endParaRPr kumimoji="1" lang="ko-KR" altLang="en-US" baseline="-25000" dirty="0">
              <a:latin typeface="Malgun Gothic" charset="-127"/>
              <a:ea typeface="Malgun Gothic" charset="-127"/>
              <a:cs typeface="Malgun Gothic" charset="-127"/>
            </a:endParaRPr>
          </a:p>
        </p:txBody>
      </p:sp>
      <p:sp>
        <p:nvSpPr>
          <p:cNvPr id="48" name="TextBox 47">
            <a:extLst>
              <a:ext uri="{FF2B5EF4-FFF2-40B4-BE49-F238E27FC236}">
                <a16:creationId xmlns:a16="http://schemas.microsoft.com/office/drawing/2014/main" id="{FDED8FEC-C4AB-30E3-25BD-4CA86FB863C1}"/>
              </a:ext>
            </a:extLst>
          </p:cNvPr>
          <p:cNvSpPr txBox="1"/>
          <p:nvPr/>
        </p:nvSpPr>
        <p:spPr>
          <a:xfrm>
            <a:off x="9505180" y="2564905"/>
            <a:ext cx="375424" cy="369332"/>
          </a:xfrm>
          <a:prstGeom prst="rect">
            <a:avLst/>
          </a:prstGeom>
          <a:noFill/>
        </p:spPr>
        <p:txBody>
          <a:bodyPr wrap="none" rtlCol="0">
            <a:spAutoFit/>
          </a:bodyPr>
          <a:lstStyle/>
          <a:p>
            <a:r>
              <a:rPr kumimoji="1" lang="en-US" altLang="ko-KR" dirty="0" err="1">
                <a:latin typeface="Malgun Gothic" charset="-127"/>
                <a:ea typeface="Malgun Gothic" charset="-127"/>
                <a:cs typeface="Malgun Gothic" charset="-127"/>
              </a:rPr>
              <a:t>t</a:t>
            </a:r>
            <a:r>
              <a:rPr kumimoji="1" lang="en-US" altLang="ko-KR" baseline="-25000" dirty="0" err="1">
                <a:latin typeface="Malgun Gothic" charset="-127"/>
                <a:ea typeface="Malgun Gothic" charset="-127"/>
                <a:cs typeface="Malgun Gothic" charset="-127"/>
              </a:rPr>
              <a:t>D</a:t>
            </a:r>
            <a:endParaRPr kumimoji="1" lang="ko-KR" altLang="en-US" baseline="-25000" dirty="0">
              <a:latin typeface="Malgun Gothic" charset="-127"/>
              <a:ea typeface="Malgun Gothic" charset="-127"/>
              <a:cs typeface="Malgun Gothic" charset="-127"/>
            </a:endParaRPr>
          </a:p>
        </p:txBody>
      </p:sp>
      <p:cxnSp>
        <p:nvCxnSpPr>
          <p:cNvPr id="49" name="Straight Arrow Connector 48">
            <a:extLst>
              <a:ext uri="{FF2B5EF4-FFF2-40B4-BE49-F238E27FC236}">
                <a16:creationId xmlns:a16="http://schemas.microsoft.com/office/drawing/2014/main" id="{374F1128-EA39-687E-0FEA-491B4097BA11}"/>
              </a:ext>
            </a:extLst>
          </p:cNvPr>
          <p:cNvCxnSpPr>
            <a:cxnSpLocks/>
            <a:stCxn id="14" idx="3"/>
            <a:endCxn id="15" idx="1"/>
          </p:cNvCxnSpPr>
          <p:nvPr/>
        </p:nvCxnSpPr>
        <p:spPr bwMode="auto">
          <a:xfrm>
            <a:off x="7752185" y="3519645"/>
            <a:ext cx="625666" cy="455401"/>
          </a:xfrm>
          <a:prstGeom prst="straightConnector1">
            <a:avLst/>
          </a:prstGeom>
          <a:noFill/>
          <a:ln w="19050" cap="flat" cmpd="sng" algn="ctr">
            <a:solidFill>
              <a:schemeClr val="tx1"/>
            </a:solidFill>
            <a:prstDash val="solid"/>
            <a:round/>
            <a:headEnd type="none" w="med" len="med"/>
            <a:tailEnd type="triangle"/>
          </a:ln>
          <a:effectLst/>
        </p:spPr>
      </p:cxnSp>
      <p:sp>
        <p:nvSpPr>
          <p:cNvPr id="50" name="TextBox 49">
            <a:extLst>
              <a:ext uri="{FF2B5EF4-FFF2-40B4-BE49-F238E27FC236}">
                <a16:creationId xmlns:a16="http://schemas.microsoft.com/office/drawing/2014/main" id="{1004E5DD-4B77-7E27-522B-1155D7B357CD}"/>
              </a:ext>
            </a:extLst>
          </p:cNvPr>
          <p:cNvSpPr txBox="1"/>
          <p:nvPr/>
        </p:nvSpPr>
        <p:spPr>
          <a:xfrm>
            <a:off x="7032104" y="1063865"/>
            <a:ext cx="3467616" cy="869277"/>
          </a:xfrm>
          <a:prstGeom prst="rect">
            <a:avLst/>
          </a:prstGeom>
          <a:noFill/>
        </p:spPr>
        <p:txBody>
          <a:bodyPr wrap="none" rtlCol="0">
            <a:spAutoFit/>
          </a:bodyPr>
          <a:lstStyle/>
          <a:p>
            <a:pPr indent="3175">
              <a:lnSpc>
                <a:spcPct val="150000"/>
              </a:lnSpc>
              <a:buClr>
                <a:schemeClr val="hlink"/>
              </a:buClr>
              <a:buSzPct val="55000"/>
            </a:pPr>
            <a:r>
              <a:rPr lang="en-US" altLang="ko-KR" dirty="0" err="1">
                <a:latin typeface="맑은 고딕" pitchFamily="50" charset="-127"/>
                <a:ea typeface="맑은 고딕" pitchFamily="50" charset="-127"/>
              </a:rPr>
              <a:t>LS</a:t>
            </a:r>
            <a:r>
              <a:rPr lang="en-US" altLang="ko-KR" baseline="-25000" dirty="0" err="1">
                <a:latin typeface="맑은 고딕" pitchFamily="50" charset="-127"/>
                <a:ea typeface="맑은 고딕" pitchFamily="50" charset="-127"/>
              </a:rPr>
              <a:t>i</a:t>
            </a:r>
            <a:r>
              <a:rPr lang="en-US" altLang="ko-KR" dirty="0">
                <a:latin typeface="맑은 고딕" pitchFamily="50" charset="-127"/>
                <a:ea typeface="맑은 고딕" pitchFamily="50" charset="-127"/>
              </a:rPr>
              <a:t> : Latest Start Time of task </a:t>
            </a:r>
            <a:r>
              <a:rPr lang="en-US" altLang="ko-KR" dirty="0" err="1">
                <a:latin typeface="맑은 고딕" pitchFamily="50" charset="-127"/>
                <a:ea typeface="맑은 고딕" pitchFamily="50" charset="-127"/>
              </a:rPr>
              <a:t>i</a:t>
            </a:r>
            <a:endParaRPr lang="en-US" altLang="ko-KR" dirty="0">
              <a:latin typeface="맑은 고딕" pitchFamily="50" charset="-127"/>
              <a:ea typeface="맑은 고딕" pitchFamily="50" charset="-127"/>
            </a:endParaRPr>
          </a:p>
          <a:p>
            <a:pPr indent="3175">
              <a:lnSpc>
                <a:spcPct val="150000"/>
              </a:lnSpc>
              <a:buClr>
                <a:schemeClr val="hlink"/>
              </a:buClr>
              <a:buSzPct val="55000"/>
            </a:pPr>
            <a:r>
              <a:rPr lang="en-US" altLang="ko-KR" dirty="0" err="1">
                <a:latin typeface="맑은 고딕" pitchFamily="50" charset="-127"/>
                <a:ea typeface="맑은 고딕" pitchFamily="50" charset="-127"/>
              </a:rPr>
              <a:t>LF</a:t>
            </a:r>
            <a:r>
              <a:rPr lang="en-US" altLang="ko-KR" baseline="-25000" dirty="0" err="1">
                <a:latin typeface="맑은 고딕" pitchFamily="50" charset="-127"/>
                <a:ea typeface="맑은 고딕" pitchFamily="50" charset="-127"/>
              </a:rPr>
              <a:t>i</a:t>
            </a:r>
            <a:r>
              <a:rPr lang="en-US" altLang="ko-KR" dirty="0">
                <a:latin typeface="맑은 고딕" pitchFamily="50" charset="-127"/>
                <a:ea typeface="맑은 고딕" pitchFamily="50" charset="-127"/>
              </a:rPr>
              <a:t> : Latest Finish Time of task </a:t>
            </a:r>
            <a:r>
              <a:rPr lang="en-US" altLang="ko-KR" dirty="0" err="1">
                <a:latin typeface="맑은 고딕" pitchFamily="50" charset="-127"/>
                <a:ea typeface="맑은 고딕" pitchFamily="50" charset="-127"/>
              </a:rPr>
              <a:t>i</a:t>
            </a:r>
            <a:endParaRPr lang="ko-KR" altLang="en-US" dirty="0">
              <a:latin typeface="Tahoma" pitchFamily="34" charset="0"/>
            </a:endParaRPr>
          </a:p>
        </p:txBody>
      </p:sp>
      <p:sp>
        <p:nvSpPr>
          <p:cNvPr id="2" name="Rectangle 1">
            <a:extLst>
              <a:ext uri="{FF2B5EF4-FFF2-40B4-BE49-F238E27FC236}">
                <a16:creationId xmlns:a16="http://schemas.microsoft.com/office/drawing/2014/main" id="{92532A78-93DD-9555-74CA-0203E0CE845E}"/>
              </a:ext>
            </a:extLst>
          </p:cNvPr>
          <p:cNvSpPr/>
          <p:nvPr/>
        </p:nvSpPr>
        <p:spPr bwMode="auto">
          <a:xfrm>
            <a:off x="10404406" y="3336736"/>
            <a:ext cx="504056" cy="360000"/>
          </a:xfrm>
          <a:prstGeom prst="rect">
            <a:avLst/>
          </a:prstGeom>
          <a:noFill/>
          <a:ln w="12700" cap="flat" cmpd="sng" algn="ctr">
            <a:solidFill>
              <a:schemeClr val="tx1"/>
            </a:solidFill>
            <a:prstDash val="dash"/>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r>
              <a:rPr kumimoji="1" lang="en-US" altLang="ko-KR" dirty="0">
                <a:latin typeface="Malgun Gothic" charset="-127"/>
                <a:ea typeface="Malgun Gothic" charset="-127"/>
                <a:cs typeface="Malgun Gothic" charset="-127"/>
              </a:rPr>
              <a:t>E</a:t>
            </a:r>
            <a:endParaRPr kumimoji="1" lang="ko-KR" altLang="en-US" dirty="0">
              <a:latin typeface="Malgun Gothic" charset="-127"/>
              <a:ea typeface="Malgun Gothic" charset="-127"/>
              <a:cs typeface="Malgun Gothic" charset="-127"/>
            </a:endParaRPr>
          </a:p>
        </p:txBody>
      </p:sp>
      <p:cxnSp>
        <p:nvCxnSpPr>
          <p:cNvPr id="3" name="Straight Arrow Connector 2">
            <a:extLst>
              <a:ext uri="{FF2B5EF4-FFF2-40B4-BE49-F238E27FC236}">
                <a16:creationId xmlns:a16="http://schemas.microsoft.com/office/drawing/2014/main" id="{40F8167F-57B6-A073-2DE9-21C52A0E23DF}"/>
              </a:ext>
            </a:extLst>
          </p:cNvPr>
          <p:cNvCxnSpPr>
            <a:cxnSpLocks/>
            <a:stCxn id="44" idx="3"/>
            <a:endCxn id="2" idx="1"/>
          </p:cNvCxnSpPr>
          <p:nvPr/>
        </p:nvCxnSpPr>
        <p:spPr bwMode="auto">
          <a:xfrm>
            <a:off x="9938508" y="3135771"/>
            <a:ext cx="465898" cy="380965"/>
          </a:xfrm>
          <a:prstGeom prst="straightConnector1">
            <a:avLst/>
          </a:prstGeom>
          <a:noFill/>
          <a:ln w="19050" cap="flat" cmpd="sng" algn="ctr">
            <a:solidFill>
              <a:schemeClr val="tx1"/>
            </a:solidFill>
            <a:prstDash val="dash"/>
            <a:round/>
            <a:headEnd type="none" w="med" len="med"/>
            <a:tailEnd type="triangle"/>
          </a:ln>
          <a:effectLst/>
        </p:spPr>
      </p:cxnSp>
      <p:cxnSp>
        <p:nvCxnSpPr>
          <p:cNvPr id="6" name="Straight Arrow Connector 5">
            <a:extLst>
              <a:ext uri="{FF2B5EF4-FFF2-40B4-BE49-F238E27FC236}">
                <a16:creationId xmlns:a16="http://schemas.microsoft.com/office/drawing/2014/main" id="{429EE2E1-04F2-B4D6-388B-A07087F18657}"/>
              </a:ext>
            </a:extLst>
          </p:cNvPr>
          <p:cNvCxnSpPr>
            <a:cxnSpLocks/>
            <a:stCxn id="15" idx="3"/>
            <a:endCxn id="2" idx="1"/>
          </p:cNvCxnSpPr>
          <p:nvPr/>
        </p:nvCxnSpPr>
        <p:spPr bwMode="auto">
          <a:xfrm flipV="1">
            <a:off x="8881907" y="3516736"/>
            <a:ext cx="1522499" cy="458310"/>
          </a:xfrm>
          <a:prstGeom prst="straightConnector1">
            <a:avLst/>
          </a:prstGeom>
          <a:noFill/>
          <a:ln w="19050" cap="flat" cmpd="sng" algn="ctr">
            <a:solidFill>
              <a:schemeClr val="tx1"/>
            </a:solidFill>
            <a:prstDash val="dash"/>
            <a:round/>
            <a:headEnd type="none" w="med" len="med"/>
            <a:tailEnd type="triangle"/>
          </a:ln>
          <a:effectLst/>
        </p:spPr>
      </p:cxnSp>
    </p:spTree>
    <p:extLst>
      <p:ext uri="{BB962C8B-B14F-4D97-AF65-F5344CB8AC3E}">
        <p14:creationId xmlns:p14="http://schemas.microsoft.com/office/powerpoint/2010/main" val="17156244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Uncertainty</a:t>
            </a:r>
          </a:p>
        </p:txBody>
      </p:sp>
      <p:sp>
        <p:nvSpPr>
          <p:cNvPr id="2" name="Content Placeholder 1"/>
          <p:cNvSpPr>
            <a:spLocks noGrp="1"/>
          </p:cNvSpPr>
          <p:nvPr>
            <p:ph type="body" sz="quarter" idx="10"/>
          </p:nvPr>
        </p:nvSpPr>
        <p:spPr/>
        <p:txBody>
          <a:bodyPr/>
          <a:lstStyle/>
          <a:p>
            <a:r>
              <a:rPr lang="en-US" dirty="0"/>
              <a:t>Kinds of uncertainties</a:t>
            </a:r>
          </a:p>
          <a:p>
            <a:pPr lvl="1"/>
            <a:r>
              <a:rPr lang="en-US" dirty="0"/>
              <a:t>Task duration is uncertain</a:t>
            </a:r>
          </a:p>
          <a:p>
            <a:pPr lvl="1"/>
            <a:r>
              <a:rPr lang="en-US" dirty="0"/>
              <a:t>Resource availability is uncertain</a:t>
            </a:r>
          </a:p>
          <a:p>
            <a:endParaRPr lang="en-US" dirty="0"/>
          </a:p>
          <a:p>
            <a:r>
              <a:rPr lang="en-US" dirty="0"/>
              <a:t>Most task durations are </a:t>
            </a:r>
            <a:r>
              <a:rPr lang="en-US" dirty="0">
                <a:solidFill>
                  <a:srgbClr val="FF0000"/>
                </a:solidFill>
              </a:rPr>
              <a:t>inflated</a:t>
            </a:r>
          </a:p>
          <a:p>
            <a:pPr lvl="1"/>
            <a:r>
              <a:rPr lang="en-US" dirty="0"/>
              <a:t>People often add a buffer regardless of whether it is needed or not</a:t>
            </a:r>
          </a:p>
          <a:p>
            <a:r>
              <a:rPr lang="en-US" dirty="0"/>
              <a:t>This results in side effects, due to Parkinson’s Law (or Student Syndrome)</a:t>
            </a:r>
          </a:p>
          <a:p>
            <a:pPr lvl="1"/>
            <a:r>
              <a:rPr lang="en-US" dirty="0"/>
              <a:t>Work intentionally expands to fill the time allowed</a:t>
            </a:r>
          </a:p>
          <a:p>
            <a:endParaRPr lang="en-US" dirty="0"/>
          </a:p>
        </p:txBody>
      </p:sp>
    </p:spTree>
    <p:extLst>
      <p:ext uri="{BB962C8B-B14F-4D97-AF65-F5344CB8AC3E}">
        <p14:creationId xmlns:p14="http://schemas.microsoft.com/office/powerpoint/2010/main" val="4763221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How to Deal with “Duration Uncertainty”</a:t>
            </a:r>
          </a:p>
        </p:txBody>
      </p:sp>
      <p:sp>
        <p:nvSpPr>
          <p:cNvPr id="6" name="Content Placeholder 5"/>
          <p:cNvSpPr>
            <a:spLocks noGrp="1"/>
          </p:cNvSpPr>
          <p:nvPr>
            <p:ph type="body" sz="quarter" idx="10"/>
          </p:nvPr>
        </p:nvSpPr>
        <p:spPr/>
        <p:txBody>
          <a:bodyPr/>
          <a:lstStyle/>
          <a:p>
            <a:r>
              <a:rPr lang="en-US" altLang="ko-KR" dirty="0"/>
              <a:t>The </a:t>
            </a:r>
            <a:r>
              <a:rPr lang="en-US" altLang="ko-KR" b="1" dirty="0"/>
              <a:t>critical chain method</a:t>
            </a:r>
            <a:r>
              <a:rPr lang="en-US" altLang="ko-KR" dirty="0"/>
              <a:t> r</a:t>
            </a:r>
            <a:r>
              <a:rPr lang="en-US" dirty="0"/>
              <a:t>emoves buffers from individual tasks and instead places</a:t>
            </a:r>
            <a:r>
              <a:rPr lang="en-US" b="1" dirty="0"/>
              <a:t> </a:t>
            </a:r>
            <a:r>
              <a:rPr lang="en-US" b="1" dirty="0">
                <a:solidFill>
                  <a:srgbClr val="FF0000"/>
                </a:solidFill>
              </a:rPr>
              <a:t>buffers on any schedule path (Risk aggregation)</a:t>
            </a:r>
          </a:p>
        </p:txBody>
      </p:sp>
      <p:sp>
        <p:nvSpPr>
          <p:cNvPr id="7" name="Rectangle 6"/>
          <p:cNvSpPr/>
          <p:nvPr/>
        </p:nvSpPr>
        <p:spPr bwMode="auto">
          <a:xfrm>
            <a:off x="3575968" y="2290852"/>
            <a:ext cx="952607" cy="288032"/>
          </a:xfrm>
          <a:prstGeom prst="rect">
            <a:avLst/>
          </a:prstGeom>
          <a:solidFill>
            <a:schemeClr val="bg1">
              <a:lumMod val="85000"/>
            </a:schemeClr>
          </a:solid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endParaRPr kumimoji="1" lang="en-US">
              <a:latin typeface="Malgun Gothic" charset="-127"/>
              <a:ea typeface="Malgun Gothic" charset="-127"/>
              <a:cs typeface="Malgun Gothic" charset="-127"/>
            </a:endParaRPr>
          </a:p>
        </p:txBody>
      </p:sp>
      <p:sp>
        <p:nvSpPr>
          <p:cNvPr id="8" name="Rectangle 7"/>
          <p:cNvSpPr/>
          <p:nvPr/>
        </p:nvSpPr>
        <p:spPr bwMode="auto">
          <a:xfrm>
            <a:off x="4528575" y="2290852"/>
            <a:ext cx="631445" cy="288032"/>
          </a:xfrm>
          <a:prstGeom prst="rect">
            <a:avLst/>
          </a:prstGeom>
          <a:solidFill>
            <a:schemeClr val="accent2">
              <a:lumMod val="40000"/>
              <a:lumOff val="60000"/>
            </a:schemeClr>
          </a:solid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r>
              <a:rPr kumimoji="1" lang="en-US" sz="900" dirty="0">
                <a:latin typeface="Malgun Gothic" charset="-127"/>
                <a:ea typeface="Malgun Gothic" charset="-127"/>
                <a:cs typeface="Malgun Gothic" charset="-127"/>
              </a:rPr>
              <a:t>Task </a:t>
            </a:r>
          </a:p>
          <a:p>
            <a:pPr algn="ctr" fontAlgn="base" latinLnBrk="1">
              <a:spcBef>
                <a:spcPct val="0"/>
              </a:spcBef>
              <a:spcAft>
                <a:spcPct val="0"/>
              </a:spcAft>
            </a:pPr>
            <a:r>
              <a:rPr kumimoji="1" lang="en-US" sz="900" dirty="0">
                <a:latin typeface="Malgun Gothic" charset="-127"/>
                <a:ea typeface="Malgun Gothic" charset="-127"/>
                <a:cs typeface="Malgun Gothic" charset="-127"/>
              </a:rPr>
              <a:t>Buffer</a:t>
            </a:r>
          </a:p>
        </p:txBody>
      </p:sp>
      <p:sp>
        <p:nvSpPr>
          <p:cNvPr id="9" name="Rectangle 8"/>
          <p:cNvSpPr/>
          <p:nvPr/>
        </p:nvSpPr>
        <p:spPr bwMode="auto">
          <a:xfrm>
            <a:off x="5160020" y="2293865"/>
            <a:ext cx="1080120" cy="288032"/>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endParaRPr kumimoji="1" lang="en-US">
              <a:latin typeface="Malgun Gothic" charset="-127"/>
              <a:ea typeface="Malgun Gothic" charset="-127"/>
              <a:cs typeface="Malgun Gothic" charset="-127"/>
            </a:endParaRPr>
          </a:p>
        </p:txBody>
      </p:sp>
      <p:sp>
        <p:nvSpPr>
          <p:cNvPr id="10" name="Rectangle 9"/>
          <p:cNvSpPr/>
          <p:nvPr/>
        </p:nvSpPr>
        <p:spPr bwMode="auto">
          <a:xfrm>
            <a:off x="6240140" y="2293865"/>
            <a:ext cx="503932" cy="288032"/>
          </a:xfrm>
          <a:prstGeom prst="rect">
            <a:avLst/>
          </a:prstGeom>
          <a:solidFill>
            <a:schemeClr val="accent2">
              <a:lumMod val="40000"/>
              <a:lumOff val="60000"/>
            </a:schemeClr>
          </a:solid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r>
              <a:rPr kumimoji="1" lang="en-US" sz="900" dirty="0">
                <a:latin typeface="Malgun Gothic" charset="-127"/>
                <a:ea typeface="Malgun Gothic" charset="-127"/>
                <a:cs typeface="Malgun Gothic" charset="-127"/>
              </a:rPr>
              <a:t>Task </a:t>
            </a:r>
          </a:p>
          <a:p>
            <a:pPr algn="ctr" fontAlgn="base" latinLnBrk="1">
              <a:spcBef>
                <a:spcPct val="0"/>
              </a:spcBef>
              <a:spcAft>
                <a:spcPct val="0"/>
              </a:spcAft>
            </a:pPr>
            <a:r>
              <a:rPr kumimoji="1" lang="en-US" sz="900" dirty="0">
                <a:latin typeface="Malgun Gothic" charset="-127"/>
                <a:ea typeface="Malgun Gothic" charset="-127"/>
                <a:cs typeface="Malgun Gothic" charset="-127"/>
              </a:rPr>
              <a:t>Buffer</a:t>
            </a:r>
          </a:p>
        </p:txBody>
      </p:sp>
      <p:sp>
        <p:nvSpPr>
          <p:cNvPr id="11" name="Rectangle 10"/>
          <p:cNvSpPr/>
          <p:nvPr/>
        </p:nvSpPr>
        <p:spPr bwMode="auto">
          <a:xfrm>
            <a:off x="6744072" y="2289651"/>
            <a:ext cx="919355" cy="288032"/>
          </a:xfrm>
          <a:prstGeom prst="rect">
            <a:avLst/>
          </a:prstGeom>
          <a:solidFill>
            <a:schemeClr val="bg1">
              <a:lumMod val="65000"/>
            </a:schemeClr>
          </a:solid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endParaRPr kumimoji="1" lang="en-US">
              <a:latin typeface="Malgun Gothic" charset="-127"/>
              <a:ea typeface="Malgun Gothic" charset="-127"/>
              <a:cs typeface="Malgun Gothic" charset="-127"/>
            </a:endParaRPr>
          </a:p>
        </p:txBody>
      </p:sp>
      <p:sp>
        <p:nvSpPr>
          <p:cNvPr id="12" name="Rectangle 11"/>
          <p:cNvSpPr/>
          <p:nvPr/>
        </p:nvSpPr>
        <p:spPr bwMode="auto">
          <a:xfrm>
            <a:off x="7608168" y="2289651"/>
            <a:ext cx="719956" cy="288032"/>
          </a:xfrm>
          <a:prstGeom prst="rect">
            <a:avLst/>
          </a:prstGeom>
          <a:solidFill>
            <a:schemeClr val="accent2">
              <a:lumMod val="40000"/>
              <a:lumOff val="60000"/>
            </a:schemeClr>
          </a:solid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r>
              <a:rPr kumimoji="1" lang="en-US" sz="900" dirty="0">
                <a:latin typeface="Malgun Gothic" charset="-127"/>
                <a:ea typeface="Malgun Gothic" charset="-127"/>
                <a:cs typeface="Malgun Gothic" charset="-127"/>
              </a:rPr>
              <a:t>Task </a:t>
            </a:r>
          </a:p>
          <a:p>
            <a:pPr algn="ctr" fontAlgn="base" latinLnBrk="1">
              <a:spcBef>
                <a:spcPct val="0"/>
              </a:spcBef>
              <a:spcAft>
                <a:spcPct val="0"/>
              </a:spcAft>
            </a:pPr>
            <a:r>
              <a:rPr kumimoji="1" lang="en-US" sz="900" dirty="0">
                <a:latin typeface="Malgun Gothic" charset="-127"/>
                <a:ea typeface="Malgun Gothic" charset="-127"/>
                <a:cs typeface="Malgun Gothic" charset="-127"/>
              </a:rPr>
              <a:t>Buffer</a:t>
            </a:r>
          </a:p>
        </p:txBody>
      </p:sp>
      <p:sp>
        <p:nvSpPr>
          <p:cNvPr id="13" name="TextBox 12"/>
          <p:cNvSpPr txBox="1"/>
          <p:nvPr/>
        </p:nvSpPr>
        <p:spPr>
          <a:xfrm>
            <a:off x="3933511" y="2710850"/>
            <a:ext cx="630365" cy="276999"/>
          </a:xfrm>
          <a:prstGeom prst="rect">
            <a:avLst/>
          </a:prstGeom>
          <a:noFill/>
        </p:spPr>
        <p:txBody>
          <a:bodyPr wrap="none" rtlCol="0">
            <a:spAutoFit/>
          </a:bodyPr>
          <a:lstStyle/>
          <a:p>
            <a:r>
              <a:rPr kumimoji="1" lang="en-US" sz="1200" dirty="0">
                <a:latin typeface="Malgun Gothic" charset="-127"/>
                <a:ea typeface="Malgun Gothic" charset="-127"/>
                <a:cs typeface="Malgun Gothic" charset="-127"/>
              </a:rPr>
              <a:t>Task A</a:t>
            </a:r>
          </a:p>
        </p:txBody>
      </p:sp>
      <p:sp>
        <p:nvSpPr>
          <p:cNvPr id="14" name="Right Bracket 13"/>
          <p:cNvSpPr/>
          <p:nvPr/>
        </p:nvSpPr>
        <p:spPr bwMode="auto">
          <a:xfrm rot="5400000">
            <a:off x="4307542" y="1868245"/>
            <a:ext cx="123112" cy="1581844"/>
          </a:xfrm>
          <a:prstGeom prst="rightBracket">
            <a:avLst/>
          </a:prstGeom>
          <a:noFill/>
          <a:ln w="19050" cap="flat" cmpd="sng" algn="ctr">
            <a:solidFill>
              <a:schemeClr val="tx1"/>
            </a:solidFill>
            <a:prstDash val="solid"/>
            <a:round/>
            <a:headEnd type="none" w="med" len="med"/>
            <a:tailEnd type="none" w="med" len="med"/>
          </a:ln>
          <a:effectLst/>
        </p:spPr>
        <p:txBody>
          <a:bodyPr rtlCol="0" anchor="ctr"/>
          <a:lstStyle/>
          <a:p>
            <a:pPr algn="ctr"/>
            <a:endParaRPr lang="en-US"/>
          </a:p>
        </p:txBody>
      </p:sp>
      <p:sp>
        <p:nvSpPr>
          <p:cNvPr id="15" name="TextBox 14"/>
          <p:cNvSpPr txBox="1"/>
          <p:nvPr/>
        </p:nvSpPr>
        <p:spPr>
          <a:xfrm>
            <a:off x="5530720" y="2712265"/>
            <a:ext cx="619144" cy="276999"/>
          </a:xfrm>
          <a:prstGeom prst="rect">
            <a:avLst/>
          </a:prstGeom>
          <a:noFill/>
        </p:spPr>
        <p:txBody>
          <a:bodyPr wrap="none" rtlCol="0">
            <a:spAutoFit/>
          </a:bodyPr>
          <a:lstStyle/>
          <a:p>
            <a:r>
              <a:rPr kumimoji="1" lang="en-US" sz="1200" dirty="0">
                <a:latin typeface="Malgun Gothic" charset="-127"/>
                <a:ea typeface="Malgun Gothic" charset="-127"/>
                <a:cs typeface="Malgun Gothic" charset="-127"/>
              </a:rPr>
              <a:t>Task B</a:t>
            </a:r>
          </a:p>
        </p:txBody>
      </p:sp>
      <p:sp>
        <p:nvSpPr>
          <p:cNvPr id="16" name="Right Bracket 15"/>
          <p:cNvSpPr/>
          <p:nvPr/>
        </p:nvSpPr>
        <p:spPr bwMode="auto">
          <a:xfrm rot="5400000">
            <a:off x="5892450" y="1881960"/>
            <a:ext cx="123249" cy="1557378"/>
          </a:xfrm>
          <a:prstGeom prst="rightBracket">
            <a:avLst/>
          </a:prstGeom>
          <a:noFill/>
          <a:ln w="19050" cap="flat" cmpd="sng" algn="ctr">
            <a:solidFill>
              <a:schemeClr val="tx1"/>
            </a:solidFill>
            <a:prstDash val="solid"/>
            <a:round/>
            <a:headEnd type="none" w="med" len="med"/>
            <a:tailEnd type="none" w="med" len="med"/>
          </a:ln>
          <a:effectLst/>
        </p:spPr>
        <p:txBody>
          <a:bodyPr rtlCol="0" anchor="ctr"/>
          <a:lstStyle/>
          <a:p>
            <a:pPr algn="ctr"/>
            <a:endParaRPr lang="en-US"/>
          </a:p>
        </p:txBody>
      </p:sp>
      <p:sp>
        <p:nvSpPr>
          <p:cNvPr id="17" name="TextBox 16"/>
          <p:cNvSpPr txBox="1"/>
          <p:nvPr/>
        </p:nvSpPr>
        <p:spPr>
          <a:xfrm>
            <a:off x="7099408" y="2710711"/>
            <a:ext cx="627159" cy="276999"/>
          </a:xfrm>
          <a:prstGeom prst="rect">
            <a:avLst/>
          </a:prstGeom>
          <a:noFill/>
        </p:spPr>
        <p:txBody>
          <a:bodyPr wrap="none" rtlCol="0">
            <a:spAutoFit/>
          </a:bodyPr>
          <a:lstStyle/>
          <a:p>
            <a:r>
              <a:rPr kumimoji="1" lang="en-US" sz="1200" dirty="0">
                <a:latin typeface="Malgun Gothic" charset="-127"/>
                <a:ea typeface="Malgun Gothic" charset="-127"/>
                <a:cs typeface="Malgun Gothic" charset="-127"/>
              </a:rPr>
              <a:t>Task C</a:t>
            </a:r>
          </a:p>
        </p:txBody>
      </p:sp>
      <p:sp>
        <p:nvSpPr>
          <p:cNvPr id="18" name="Right Bracket 17"/>
          <p:cNvSpPr/>
          <p:nvPr/>
        </p:nvSpPr>
        <p:spPr bwMode="auto">
          <a:xfrm rot="5400000">
            <a:off x="7478701" y="1862844"/>
            <a:ext cx="114795" cy="1584051"/>
          </a:xfrm>
          <a:prstGeom prst="rightBracket">
            <a:avLst/>
          </a:prstGeom>
          <a:noFill/>
          <a:ln w="19050" cap="flat" cmpd="sng" algn="ctr">
            <a:solidFill>
              <a:schemeClr val="tx1"/>
            </a:solidFill>
            <a:prstDash val="solid"/>
            <a:round/>
            <a:headEnd type="none" w="med" len="med"/>
            <a:tailEnd type="none" w="med" len="med"/>
          </a:ln>
          <a:effectLst/>
        </p:spPr>
        <p:txBody>
          <a:bodyPr rtlCol="0" anchor="ctr"/>
          <a:lstStyle/>
          <a:p>
            <a:pPr algn="ctr"/>
            <a:endParaRPr lang="en-US"/>
          </a:p>
        </p:txBody>
      </p:sp>
      <p:sp>
        <p:nvSpPr>
          <p:cNvPr id="29" name="TextBox 28"/>
          <p:cNvSpPr txBox="1"/>
          <p:nvPr/>
        </p:nvSpPr>
        <p:spPr>
          <a:xfrm>
            <a:off x="623392" y="2249001"/>
            <a:ext cx="2339102" cy="369332"/>
          </a:xfrm>
          <a:prstGeom prst="rect">
            <a:avLst/>
          </a:prstGeom>
          <a:noFill/>
        </p:spPr>
        <p:txBody>
          <a:bodyPr wrap="none" rtlCol="0">
            <a:spAutoFit/>
          </a:bodyPr>
          <a:lstStyle/>
          <a:p>
            <a:r>
              <a:rPr kumimoji="1" lang="en-US" dirty="0">
                <a:latin typeface="Malgun Gothic" charset="-127"/>
                <a:ea typeface="Malgun Gothic" charset="-127"/>
                <a:cs typeface="Malgun Gothic" charset="-127"/>
              </a:rPr>
              <a:t>Critical path method</a:t>
            </a:r>
          </a:p>
        </p:txBody>
      </p:sp>
      <p:pic>
        <p:nvPicPr>
          <p:cNvPr id="2" name="Picture 1">
            <a:extLst>
              <a:ext uri="{FF2B5EF4-FFF2-40B4-BE49-F238E27FC236}">
                <a16:creationId xmlns:a16="http://schemas.microsoft.com/office/drawing/2014/main" id="{C14E4B49-CE1D-8689-BC0D-261F420AF6D8}"/>
              </a:ext>
            </a:extLst>
          </p:cNvPr>
          <p:cNvPicPr>
            <a:picLocks noChangeAspect="1"/>
          </p:cNvPicPr>
          <p:nvPr/>
        </p:nvPicPr>
        <p:blipFill rotWithShape="1">
          <a:blip r:embed="rId2"/>
          <a:srcRect l="3987" t="12404" r="3114" b="22594"/>
          <a:stretch/>
        </p:blipFill>
        <p:spPr>
          <a:xfrm>
            <a:off x="3370520" y="3483573"/>
            <a:ext cx="5739240" cy="2119104"/>
          </a:xfrm>
          <a:prstGeom prst="rect">
            <a:avLst/>
          </a:prstGeom>
        </p:spPr>
      </p:pic>
      <p:sp>
        <p:nvSpPr>
          <p:cNvPr id="3" name="TextBox 2">
            <a:extLst>
              <a:ext uri="{FF2B5EF4-FFF2-40B4-BE49-F238E27FC236}">
                <a16:creationId xmlns:a16="http://schemas.microsoft.com/office/drawing/2014/main" id="{A3C45E80-29B3-03D2-FEF6-1932065360CE}"/>
              </a:ext>
            </a:extLst>
          </p:cNvPr>
          <p:cNvSpPr txBox="1"/>
          <p:nvPr/>
        </p:nvSpPr>
        <p:spPr>
          <a:xfrm>
            <a:off x="623392" y="4358459"/>
            <a:ext cx="2422458" cy="369332"/>
          </a:xfrm>
          <a:prstGeom prst="rect">
            <a:avLst/>
          </a:prstGeom>
          <a:noFill/>
        </p:spPr>
        <p:txBody>
          <a:bodyPr wrap="none" rtlCol="0">
            <a:spAutoFit/>
          </a:bodyPr>
          <a:lstStyle/>
          <a:p>
            <a:r>
              <a:rPr kumimoji="1" lang="en-US" dirty="0">
                <a:latin typeface="Malgun Gothic" charset="-127"/>
                <a:ea typeface="Malgun Gothic" charset="-127"/>
                <a:cs typeface="Malgun Gothic" charset="-127"/>
              </a:rPr>
              <a:t>Critical chain method</a:t>
            </a:r>
          </a:p>
        </p:txBody>
      </p:sp>
      <p:sp>
        <p:nvSpPr>
          <p:cNvPr id="31" name="TextBox 30">
            <a:extLst>
              <a:ext uri="{FF2B5EF4-FFF2-40B4-BE49-F238E27FC236}">
                <a16:creationId xmlns:a16="http://schemas.microsoft.com/office/drawing/2014/main" id="{A430F63B-13CA-7FFA-5244-E4B16A480FAD}"/>
              </a:ext>
            </a:extLst>
          </p:cNvPr>
          <p:cNvSpPr txBox="1"/>
          <p:nvPr/>
        </p:nvSpPr>
        <p:spPr>
          <a:xfrm>
            <a:off x="8760296" y="3284984"/>
            <a:ext cx="2592288" cy="584775"/>
          </a:xfrm>
          <a:prstGeom prst="rect">
            <a:avLst/>
          </a:prstGeom>
          <a:noFill/>
        </p:spPr>
        <p:txBody>
          <a:bodyPr wrap="square">
            <a:spAutoFit/>
          </a:bodyPr>
          <a:lstStyle/>
          <a:p>
            <a:r>
              <a:rPr lang="en-US" sz="1600" dirty="0"/>
              <a:t>to protect the target finish date from slippage</a:t>
            </a:r>
            <a:endParaRPr lang="en-KR" sz="1600" dirty="0"/>
          </a:p>
        </p:txBody>
      </p:sp>
      <p:sp>
        <p:nvSpPr>
          <p:cNvPr id="32" name="Freeform 31">
            <a:extLst>
              <a:ext uri="{FF2B5EF4-FFF2-40B4-BE49-F238E27FC236}">
                <a16:creationId xmlns:a16="http://schemas.microsoft.com/office/drawing/2014/main" id="{93FE6C7F-6381-5520-D1EE-F2B3574E4F49}"/>
              </a:ext>
            </a:extLst>
          </p:cNvPr>
          <p:cNvSpPr/>
          <p:nvPr/>
        </p:nvSpPr>
        <p:spPr>
          <a:xfrm>
            <a:off x="8043169" y="3746377"/>
            <a:ext cx="594804" cy="506027"/>
          </a:xfrm>
          <a:custGeom>
            <a:avLst/>
            <a:gdLst>
              <a:gd name="connsiteX0" fmla="*/ 594804 w 594804"/>
              <a:gd name="connsiteY0" fmla="*/ 0 h 506027"/>
              <a:gd name="connsiteX1" fmla="*/ 390617 w 594804"/>
              <a:gd name="connsiteY1" fmla="*/ 266330 h 506027"/>
              <a:gd name="connsiteX2" fmla="*/ 319596 w 594804"/>
              <a:gd name="connsiteY2" fmla="*/ 142042 h 506027"/>
              <a:gd name="connsiteX3" fmla="*/ 0 w 594804"/>
              <a:gd name="connsiteY3" fmla="*/ 506027 h 506027"/>
            </a:gdLst>
            <a:ahLst/>
            <a:cxnLst>
              <a:cxn ang="0">
                <a:pos x="connsiteX0" y="connsiteY0"/>
              </a:cxn>
              <a:cxn ang="0">
                <a:pos x="connsiteX1" y="connsiteY1"/>
              </a:cxn>
              <a:cxn ang="0">
                <a:pos x="connsiteX2" y="connsiteY2"/>
              </a:cxn>
              <a:cxn ang="0">
                <a:pos x="connsiteX3" y="connsiteY3"/>
              </a:cxn>
            </a:cxnLst>
            <a:rect l="l" t="t" r="r" b="b"/>
            <a:pathLst>
              <a:path w="594804" h="506027">
                <a:moveTo>
                  <a:pt x="594804" y="0"/>
                </a:moveTo>
                <a:cubicBezTo>
                  <a:pt x="515644" y="121328"/>
                  <a:pt x="436485" y="242656"/>
                  <a:pt x="390617" y="266330"/>
                </a:cubicBezTo>
                <a:cubicBezTo>
                  <a:pt x="344749" y="290004"/>
                  <a:pt x="384699" y="102093"/>
                  <a:pt x="319596" y="142042"/>
                </a:cubicBezTo>
                <a:cubicBezTo>
                  <a:pt x="254493" y="181991"/>
                  <a:pt x="127246" y="344009"/>
                  <a:pt x="0" y="506027"/>
                </a:cubicBezTo>
              </a:path>
            </a:pathLst>
          </a:custGeom>
          <a:noFill/>
          <a:ln>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4" name="TextBox 33">
            <a:extLst>
              <a:ext uri="{FF2B5EF4-FFF2-40B4-BE49-F238E27FC236}">
                <a16:creationId xmlns:a16="http://schemas.microsoft.com/office/drawing/2014/main" id="{0580CAF1-3E90-D5D1-C256-CC35FA1F4C45}"/>
              </a:ext>
            </a:extLst>
          </p:cNvPr>
          <p:cNvSpPr txBox="1"/>
          <p:nvPr/>
        </p:nvSpPr>
        <p:spPr>
          <a:xfrm>
            <a:off x="3045850" y="6044777"/>
            <a:ext cx="4758832" cy="584775"/>
          </a:xfrm>
          <a:prstGeom prst="rect">
            <a:avLst/>
          </a:prstGeom>
          <a:noFill/>
        </p:spPr>
        <p:txBody>
          <a:bodyPr wrap="square">
            <a:spAutoFit/>
          </a:bodyPr>
          <a:lstStyle/>
          <a:p>
            <a:r>
              <a:rPr lang="en-US" sz="1600" dirty="0"/>
              <a:t>to </a:t>
            </a:r>
            <a:r>
              <a:rPr lang="en-GB" sz="1600" dirty="0"/>
              <a:t>protect the critical chain from being delayed by the lateness </a:t>
            </a:r>
            <a:r>
              <a:rPr lang="en-US" sz="1600" dirty="0"/>
              <a:t>of tasks on the non-critical chain</a:t>
            </a:r>
            <a:endParaRPr lang="en-KR" sz="1600" dirty="0"/>
          </a:p>
        </p:txBody>
      </p:sp>
      <p:sp>
        <p:nvSpPr>
          <p:cNvPr id="35" name="Freeform 34">
            <a:extLst>
              <a:ext uri="{FF2B5EF4-FFF2-40B4-BE49-F238E27FC236}">
                <a16:creationId xmlns:a16="http://schemas.microsoft.com/office/drawing/2014/main" id="{65BFA9BC-1520-3ECC-9CFB-F5611261985E}"/>
              </a:ext>
            </a:extLst>
          </p:cNvPr>
          <p:cNvSpPr/>
          <p:nvPr/>
        </p:nvSpPr>
        <p:spPr>
          <a:xfrm>
            <a:off x="4856085" y="5601810"/>
            <a:ext cx="284086" cy="417250"/>
          </a:xfrm>
          <a:custGeom>
            <a:avLst/>
            <a:gdLst>
              <a:gd name="connsiteX0" fmla="*/ 0 w 284086"/>
              <a:gd name="connsiteY0" fmla="*/ 417250 h 417250"/>
              <a:gd name="connsiteX1" fmla="*/ 213065 w 284086"/>
              <a:gd name="connsiteY1" fmla="*/ 257452 h 417250"/>
              <a:gd name="connsiteX2" fmla="*/ 26633 w 284086"/>
              <a:gd name="connsiteY2" fmla="*/ 204186 h 417250"/>
              <a:gd name="connsiteX3" fmla="*/ 284086 w 284086"/>
              <a:gd name="connsiteY3" fmla="*/ 0 h 417250"/>
            </a:gdLst>
            <a:ahLst/>
            <a:cxnLst>
              <a:cxn ang="0">
                <a:pos x="connsiteX0" y="connsiteY0"/>
              </a:cxn>
              <a:cxn ang="0">
                <a:pos x="connsiteX1" y="connsiteY1"/>
              </a:cxn>
              <a:cxn ang="0">
                <a:pos x="connsiteX2" y="connsiteY2"/>
              </a:cxn>
              <a:cxn ang="0">
                <a:pos x="connsiteX3" y="connsiteY3"/>
              </a:cxn>
            </a:cxnLst>
            <a:rect l="l" t="t" r="r" b="b"/>
            <a:pathLst>
              <a:path w="284086" h="417250">
                <a:moveTo>
                  <a:pt x="0" y="417250"/>
                </a:moveTo>
                <a:cubicBezTo>
                  <a:pt x="104313" y="355106"/>
                  <a:pt x="208626" y="292963"/>
                  <a:pt x="213065" y="257452"/>
                </a:cubicBezTo>
                <a:cubicBezTo>
                  <a:pt x="217504" y="221941"/>
                  <a:pt x="14796" y="247095"/>
                  <a:pt x="26633" y="204186"/>
                </a:cubicBezTo>
                <a:cubicBezTo>
                  <a:pt x="38470" y="161277"/>
                  <a:pt x="161278" y="80638"/>
                  <a:pt x="284086" y="0"/>
                </a:cubicBezTo>
              </a:path>
            </a:pathLst>
          </a:custGeom>
          <a:noFill/>
          <a:ln>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KR"/>
          </a:p>
        </p:txBody>
      </p:sp>
    </p:spTree>
    <p:extLst>
      <p:ext uri="{BB962C8B-B14F-4D97-AF65-F5344CB8AC3E}">
        <p14:creationId xmlns:p14="http://schemas.microsoft.com/office/powerpoint/2010/main" val="1735172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How to Deal with “Resource Availability”</a:t>
            </a:r>
          </a:p>
        </p:txBody>
      </p:sp>
      <p:sp>
        <p:nvSpPr>
          <p:cNvPr id="26" name="Content Placeholder 25"/>
          <p:cNvSpPr>
            <a:spLocks noGrp="1"/>
          </p:cNvSpPr>
          <p:nvPr>
            <p:ph type="body" sz="quarter" idx="10"/>
          </p:nvPr>
        </p:nvSpPr>
        <p:spPr/>
        <p:txBody>
          <a:bodyPr/>
          <a:lstStyle/>
          <a:p>
            <a:r>
              <a:rPr lang="en-US" dirty="0"/>
              <a:t>Now assume that B &amp; C request the same resources</a:t>
            </a:r>
          </a:p>
          <a:p>
            <a:r>
              <a:rPr lang="en-US" dirty="0"/>
              <a:t>Then the two tasks, B and C, needed to be serialized</a:t>
            </a:r>
          </a:p>
          <a:p>
            <a:pPr lvl="1"/>
            <a:r>
              <a:rPr lang="en-GB" dirty="0"/>
              <a:t>We identify the longest chain of dependent tasks by resource - </a:t>
            </a:r>
            <a:r>
              <a:rPr lang="en-GB" dirty="0">
                <a:solidFill>
                  <a:srgbClr val="0000FF"/>
                </a:solidFill>
              </a:rPr>
              <a:t>Critical Chain</a:t>
            </a:r>
            <a:endParaRPr lang="en-US" dirty="0">
              <a:solidFill>
                <a:srgbClr val="0000FF"/>
              </a:solidFill>
              <a:sym typeface="Wingdings" pitchFamily="2" charset="2"/>
            </a:endParaRPr>
          </a:p>
        </p:txBody>
      </p:sp>
      <p:sp>
        <p:nvSpPr>
          <p:cNvPr id="20" name="Rectangle 19"/>
          <p:cNvSpPr/>
          <p:nvPr/>
        </p:nvSpPr>
        <p:spPr bwMode="auto">
          <a:xfrm>
            <a:off x="1788216" y="3776263"/>
            <a:ext cx="540000" cy="360000"/>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a:spcBef>
                <a:spcPct val="0"/>
              </a:spcBef>
              <a:spcAft>
                <a:spcPct val="0"/>
              </a:spcAft>
            </a:pPr>
            <a:r>
              <a:rPr kumimoji="1" lang="en-US" sz="1600" dirty="0">
                <a:latin typeface="맑은 고딕" pitchFamily="50" charset="-127"/>
                <a:ea typeface="맑은 고딕" pitchFamily="50" charset="-127"/>
              </a:rPr>
              <a:t>A(7)</a:t>
            </a:r>
          </a:p>
        </p:txBody>
      </p:sp>
      <p:sp>
        <p:nvSpPr>
          <p:cNvPr id="21" name="Rectangle 20"/>
          <p:cNvSpPr/>
          <p:nvPr/>
        </p:nvSpPr>
        <p:spPr bwMode="auto">
          <a:xfrm>
            <a:off x="2681587" y="3410502"/>
            <a:ext cx="540000" cy="360000"/>
          </a:xfrm>
          <a:prstGeom prst="rect">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a:spcBef>
                <a:spcPct val="0"/>
              </a:spcBef>
              <a:spcAft>
                <a:spcPct val="0"/>
              </a:spcAft>
            </a:pPr>
            <a:r>
              <a:rPr kumimoji="1" lang="en-US" dirty="0">
                <a:latin typeface="맑은 고딕" pitchFamily="50" charset="-127"/>
                <a:ea typeface="맑은 고딕" pitchFamily="50" charset="-127"/>
              </a:rPr>
              <a:t>B(5)</a:t>
            </a:r>
          </a:p>
        </p:txBody>
      </p:sp>
      <p:sp>
        <p:nvSpPr>
          <p:cNvPr id="22" name="Rectangle 21"/>
          <p:cNvSpPr/>
          <p:nvPr/>
        </p:nvSpPr>
        <p:spPr bwMode="auto">
          <a:xfrm>
            <a:off x="3606502" y="3776263"/>
            <a:ext cx="540000" cy="360000"/>
          </a:xfrm>
          <a:prstGeom prst="rect">
            <a:avLst/>
          </a:prstGeom>
          <a:solidFill>
            <a:schemeClr val="bg1">
              <a:lumMod val="75000"/>
            </a:schemeClr>
          </a:solid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a:spcBef>
                <a:spcPct val="0"/>
              </a:spcBef>
              <a:spcAft>
                <a:spcPct val="0"/>
              </a:spcAft>
            </a:pPr>
            <a:r>
              <a:rPr kumimoji="1" lang="en-US" dirty="0">
                <a:latin typeface="맑은 고딕" pitchFamily="50" charset="-127"/>
                <a:ea typeface="맑은 고딕" pitchFamily="50" charset="-127"/>
              </a:rPr>
              <a:t>D(3)</a:t>
            </a:r>
          </a:p>
        </p:txBody>
      </p:sp>
      <p:sp>
        <p:nvSpPr>
          <p:cNvPr id="23" name="Rectangle 22"/>
          <p:cNvSpPr/>
          <p:nvPr/>
        </p:nvSpPr>
        <p:spPr bwMode="auto">
          <a:xfrm>
            <a:off x="2681587" y="4856566"/>
            <a:ext cx="540000" cy="360000"/>
          </a:xfrm>
          <a:prstGeom prst="rect">
            <a:avLst/>
          </a:prstGeom>
          <a:solidFill>
            <a:srgbClr val="FFFF00"/>
          </a:solid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a:spcBef>
                <a:spcPct val="0"/>
              </a:spcBef>
              <a:spcAft>
                <a:spcPct val="0"/>
              </a:spcAft>
            </a:pPr>
            <a:r>
              <a:rPr kumimoji="1" lang="en-US" dirty="0">
                <a:latin typeface="맑은 고딕" pitchFamily="50" charset="-127"/>
                <a:ea typeface="맑은 고딕" pitchFamily="50" charset="-127"/>
              </a:rPr>
              <a:t>E(3)</a:t>
            </a:r>
          </a:p>
        </p:txBody>
      </p:sp>
      <p:sp>
        <p:nvSpPr>
          <p:cNvPr id="24" name="Rectangle 23"/>
          <p:cNvSpPr/>
          <p:nvPr/>
        </p:nvSpPr>
        <p:spPr bwMode="auto">
          <a:xfrm>
            <a:off x="2681587" y="4135376"/>
            <a:ext cx="540000" cy="360000"/>
          </a:xfrm>
          <a:prstGeom prst="rect">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base">
              <a:spcBef>
                <a:spcPct val="0"/>
              </a:spcBef>
              <a:spcAft>
                <a:spcPct val="0"/>
              </a:spcAft>
            </a:pPr>
            <a:r>
              <a:rPr kumimoji="1" lang="en-US" dirty="0">
                <a:latin typeface="맑은 고딕" pitchFamily="50" charset="-127"/>
                <a:ea typeface="맑은 고딕" pitchFamily="50" charset="-127"/>
              </a:rPr>
              <a:t>C(2)</a:t>
            </a:r>
          </a:p>
        </p:txBody>
      </p:sp>
      <p:cxnSp>
        <p:nvCxnSpPr>
          <p:cNvPr id="28" name="Straight Arrow Connector 27"/>
          <p:cNvCxnSpPr>
            <a:stCxn id="24" idx="3"/>
            <a:endCxn id="22" idx="1"/>
          </p:cNvCxnSpPr>
          <p:nvPr/>
        </p:nvCxnSpPr>
        <p:spPr bwMode="auto">
          <a:xfrm flipV="1">
            <a:off x="3221588" y="3956264"/>
            <a:ext cx="384915" cy="359113"/>
          </a:xfrm>
          <a:prstGeom prst="straightConnector1">
            <a:avLst/>
          </a:prstGeom>
          <a:noFill/>
          <a:ln w="12700" cap="flat" cmpd="sng" algn="ctr">
            <a:solidFill>
              <a:schemeClr val="tx1"/>
            </a:solidFill>
            <a:prstDash val="solid"/>
            <a:round/>
            <a:headEnd type="none" w="med" len="med"/>
            <a:tailEnd type="triangle" w="med" len="med"/>
          </a:ln>
          <a:effectLst/>
        </p:spPr>
      </p:cxnSp>
      <p:cxnSp>
        <p:nvCxnSpPr>
          <p:cNvPr id="30" name="Straight Arrow Connector 29"/>
          <p:cNvCxnSpPr>
            <a:stCxn id="20" idx="3"/>
            <a:endCxn id="21" idx="1"/>
          </p:cNvCxnSpPr>
          <p:nvPr/>
        </p:nvCxnSpPr>
        <p:spPr bwMode="auto">
          <a:xfrm flipV="1">
            <a:off x="2328217" y="3590503"/>
            <a:ext cx="353371" cy="365761"/>
          </a:xfrm>
          <a:prstGeom prst="straightConnector1">
            <a:avLst/>
          </a:prstGeom>
          <a:noFill/>
          <a:ln w="38100" cap="flat" cmpd="sng" algn="ctr">
            <a:solidFill>
              <a:srgbClr val="FF0000"/>
            </a:solidFill>
            <a:prstDash val="solid"/>
            <a:round/>
            <a:headEnd type="none" w="med" len="med"/>
            <a:tailEnd type="triangle" w="med" len="med"/>
          </a:ln>
          <a:effectLst/>
        </p:spPr>
      </p:cxnSp>
      <p:cxnSp>
        <p:nvCxnSpPr>
          <p:cNvPr id="129" name="Straight Arrow Connector 128"/>
          <p:cNvCxnSpPr>
            <a:stCxn id="20" idx="3"/>
            <a:endCxn id="24" idx="1"/>
          </p:cNvCxnSpPr>
          <p:nvPr/>
        </p:nvCxnSpPr>
        <p:spPr bwMode="auto">
          <a:xfrm>
            <a:off x="2328217" y="3956264"/>
            <a:ext cx="353371" cy="359113"/>
          </a:xfrm>
          <a:prstGeom prst="straightConnector1">
            <a:avLst/>
          </a:prstGeom>
          <a:noFill/>
          <a:ln w="12700" cap="flat" cmpd="sng" algn="ctr">
            <a:solidFill>
              <a:schemeClr val="tx1"/>
            </a:solidFill>
            <a:prstDash val="solid"/>
            <a:round/>
            <a:headEnd type="none" w="med" len="med"/>
            <a:tailEnd type="triangle" w="med" len="med"/>
          </a:ln>
          <a:effectLst/>
        </p:spPr>
      </p:cxnSp>
      <p:cxnSp>
        <p:nvCxnSpPr>
          <p:cNvPr id="132" name="Straight Arrow Connector 131"/>
          <p:cNvCxnSpPr>
            <a:stCxn id="21" idx="3"/>
            <a:endCxn id="22" idx="1"/>
          </p:cNvCxnSpPr>
          <p:nvPr/>
        </p:nvCxnSpPr>
        <p:spPr bwMode="auto">
          <a:xfrm>
            <a:off x="3221588" y="3590503"/>
            <a:ext cx="384915" cy="365761"/>
          </a:xfrm>
          <a:prstGeom prst="straightConnector1">
            <a:avLst/>
          </a:prstGeom>
          <a:noFill/>
          <a:ln w="38100" cap="flat" cmpd="sng" algn="ctr">
            <a:solidFill>
              <a:srgbClr val="FF0000"/>
            </a:solidFill>
            <a:prstDash val="solid"/>
            <a:round/>
            <a:headEnd type="none" w="med" len="med"/>
            <a:tailEnd type="triangle" w="med" len="med"/>
          </a:ln>
          <a:effectLst/>
        </p:spPr>
      </p:cxnSp>
      <p:cxnSp>
        <p:nvCxnSpPr>
          <p:cNvPr id="143" name="Elbow Connector 142"/>
          <p:cNvCxnSpPr>
            <a:stCxn id="20" idx="1"/>
            <a:endCxn id="23" idx="1"/>
          </p:cNvCxnSpPr>
          <p:nvPr/>
        </p:nvCxnSpPr>
        <p:spPr bwMode="auto">
          <a:xfrm rot="10800000" flipH="1" flipV="1">
            <a:off x="1788216" y="3956263"/>
            <a:ext cx="893371" cy="1080303"/>
          </a:xfrm>
          <a:prstGeom prst="bentConnector3">
            <a:avLst>
              <a:gd name="adj1" fmla="val -25588"/>
            </a:avLst>
          </a:prstGeom>
          <a:noFill/>
          <a:ln w="12700" cap="flat" cmpd="sng" algn="ctr">
            <a:solidFill>
              <a:schemeClr val="tx1"/>
            </a:solidFill>
            <a:prstDash val="solid"/>
            <a:round/>
            <a:headEnd type="none" w="med" len="med"/>
            <a:tailEnd type="triangle"/>
          </a:ln>
          <a:effectLst/>
        </p:spPr>
      </p:cxnSp>
      <p:cxnSp>
        <p:nvCxnSpPr>
          <p:cNvPr id="145" name="Elbow Connector 144"/>
          <p:cNvCxnSpPr>
            <a:stCxn id="23" idx="3"/>
            <a:endCxn id="22" idx="3"/>
          </p:cNvCxnSpPr>
          <p:nvPr/>
        </p:nvCxnSpPr>
        <p:spPr bwMode="auto">
          <a:xfrm flipV="1">
            <a:off x="3221588" y="3956264"/>
            <a:ext cx="924915" cy="1080303"/>
          </a:xfrm>
          <a:prstGeom prst="bentConnector3">
            <a:avLst>
              <a:gd name="adj1" fmla="val 124716"/>
            </a:avLst>
          </a:prstGeom>
          <a:noFill/>
          <a:ln w="12700" cap="flat" cmpd="sng" algn="ctr">
            <a:solidFill>
              <a:schemeClr val="tx1"/>
            </a:solidFill>
            <a:prstDash val="solid"/>
            <a:round/>
            <a:headEnd type="none" w="med" len="med"/>
            <a:tailEnd type="triangle"/>
          </a:ln>
          <a:effectLst/>
        </p:spPr>
      </p:cxnSp>
      <p:sp>
        <p:nvSpPr>
          <p:cNvPr id="2" name="Rectangle 1">
            <a:extLst>
              <a:ext uri="{FF2B5EF4-FFF2-40B4-BE49-F238E27FC236}">
                <a16:creationId xmlns:a16="http://schemas.microsoft.com/office/drawing/2014/main" id="{0E5C5FFE-575B-8801-531B-91F36CA53547}"/>
              </a:ext>
            </a:extLst>
          </p:cNvPr>
          <p:cNvSpPr/>
          <p:nvPr/>
        </p:nvSpPr>
        <p:spPr bwMode="auto">
          <a:xfrm>
            <a:off x="5591943" y="3822184"/>
            <a:ext cx="1600200" cy="365760"/>
          </a:xfrm>
          <a:prstGeom prst="rect">
            <a:avLst/>
          </a:prstGeom>
          <a:solidFill>
            <a:schemeClr val="bg1">
              <a:lumMod val="75000"/>
            </a:schemeClr>
          </a:solidFill>
          <a:ln w="12700" cap="flat" cmpd="sng" algn="ctr">
            <a:solidFill>
              <a:srgbClr val="FF0000"/>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a:spcBef>
                <a:spcPct val="0"/>
              </a:spcBef>
              <a:spcAft>
                <a:spcPct val="0"/>
              </a:spcAft>
            </a:pPr>
            <a:r>
              <a:rPr kumimoji="1" lang="en-US" dirty="0">
                <a:latin typeface="맑은 고딕" pitchFamily="50" charset="-127"/>
                <a:ea typeface="맑은 고딕" pitchFamily="50" charset="-127"/>
              </a:rPr>
              <a:t>A(7)</a:t>
            </a:r>
          </a:p>
        </p:txBody>
      </p:sp>
      <p:sp>
        <p:nvSpPr>
          <p:cNvPr id="3" name="Rectangle 2">
            <a:extLst>
              <a:ext uri="{FF2B5EF4-FFF2-40B4-BE49-F238E27FC236}">
                <a16:creationId xmlns:a16="http://schemas.microsoft.com/office/drawing/2014/main" id="{9CF9057F-9C53-48D1-4ED9-7F660CFB30E3}"/>
              </a:ext>
            </a:extLst>
          </p:cNvPr>
          <p:cNvSpPr/>
          <p:nvPr/>
        </p:nvSpPr>
        <p:spPr bwMode="auto">
          <a:xfrm>
            <a:off x="7652529" y="3168392"/>
            <a:ext cx="1143000" cy="365760"/>
          </a:xfrm>
          <a:prstGeom prst="rect">
            <a:avLst/>
          </a:prstGeom>
          <a:solidFill>
            <a:schemeClr val="accent1"/>
          </a:solidFill>
          <a:ln w="12700" cap="flat" cmpd="sng" algn="ctr">
            <a:solidFill>
              <a:srgbClr val="FF0000"/>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a:spcBef>
                <a:spcPct val="0"/>
              </a:spcBef>
              <a:spcAft>
                <a:spcPct val="0"/>
              </a:spcAft>
            </a:pPr>
            <a:r>
              <a:rPr kumimoji="1" lang="en-US" dirty="0">
                <a:latin typeface="맑은 고딕" pitchFamily="50" charset="-127"/>
                <a:ea typeface="맑은 고딕" pitchFamily="50" charset="-127"/>
              </a:rPr>
              <a:t>B(5)</a:t>
            </a:r>
          </a:p>
        </p:txBody>
      </p:sp>
      <p:sp>
        <p:nvSpPr>
          <p:cNvPr id="5" name="Rectangle 4">
            <a:extLst>
              <a:ext uri="{FF2B5EF4-FFF2-40B4-BE49-F238E27FC236}">
                <a16:creationId xmlns:a16="http://schemas.microsoft.com/office/drawing/2014/main" id="{B0ED44EC-D56C-CF1D-FB26-DBBA240A540A}"/>
              </a:ext>
            </a:extLst>
          </p:cNvPr>
          <p:cNvSpPr/>
          <p:nvPr/>
        </p:nvSpPr>
        <p:spPr bwMode="auto">
          <a:xfrm>
            <a:off x="8795529" y="3822183"/>
            <a:ext cx="685800" cy="576064"/>
          </a:xfrm>
          <a:prstGeom prst="rect">
            <a:avLst/>
          </a:prstGeom>
          <a:solidFill>
            <a:schemeClr val="bg1">
              <a:lumMod val="75000"/>
            </a:schemeClr>
          </a:solidFill>
          <a:ln w="12700" cap="flat" cmpd="sng" algn="ctr">
            <a:solidFill>
              <a:srgbClr val="FF0000"/>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a:spcBef>
                <a:spcPct val="0"/>
              </a:spcBef>
              <a:spcAft>
                <a:spcPct val="0"/>
              </a:spcAft>
            </a:pPr>
            <a:r>
              <a:rPr kumimoji="1" lang="en-US" dirty="0">
                <a:latin typeface="맑은 고딕" pitchFamily="50" charset="-127"/>
                <a:ea typeface="맑은 고딕" pitchFamily="50" charset="-127"/>
              </a:rPr>
              <a:t>D(3)</a:t>
            </a:r>
          </a:p>
        </p:txBody>
      </p:sp>
      <p:sp>
        <p:nvSpPr>
          <p:cNvPr id="6" name="Rectangle 5">
            <a:extLst>
              <a:ext uri="{FF2B5EF4-FFF2-40B4-BE49-F238E27FC236}">
                <a16:creationId xmlns:a16="http://schemas.microsoft.com/office/drawing/2014/main" id="{D1FABA8D-8670-12C9-189D-3A667C8C1751}"/>
              </a:ext>
            </a:extLst>
          </p:cNvPr>
          <p:cNvSpPr/>
          <p:nvPr/>
        </p:nvSpPr>
        <p:spPr bwMode="auto">
          <a:xfrm>
            <a:off x="7195329" y="4470256"/>
            <a:ext cx="457200" cy="365760"/>
          </a:xfrm>
          <a:prstGeom prst="rect">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ctr" fontAlgn="base">
              <a:spcBef>
                <a:spcPct val="0"/>
              </a:spcBef>
              <a:spcAft>
                <a:spcPct val="0"/>
              </a:spcAft>
            </a:pPr>
            <a:r>
              <a:rPr kumimoji="1" lang="en-US" dirty="0">
                <a:latin typeface="맑은 고딕" pitchFamily="50" charset="-127"/>
                <a:ea typeface="맑은 고딕" pitchFamily="50" charset="-127"/>
              </a:rPr>
              <a:t>C(2)</a:t>
            </a:r>
          </a:p>
        </p:txBody>
      </p:sp>
      <p:cxnSp>
        <p:nvCxnSpPr>
          <p:cNvPr id="7" name="Elbow Connector 6">
            <a:extLst>
              <a:ext uri="{FF2B5EF4-FFF2-40B4-BE49-F238E27FC236}">
                <a16:creationId xmlns:a16="http://schemas.microsoft.com/office/drawing/2014/main" id="{43DA5020-6572-5ADA-4EA5-80D365962D9F}"/>
              </a:ext>
            </a:extLst>
          </p:cNvPr>
          <p:cNvCxnSpPr>
            <a:stCxn id="16" idx="3"/>
            <a:endCxn id="5" idx="3"/>
          </p:cNvCxnSpPr>
          <p:nvPr/>
        </p:nvCxnSpPr>
        <p:spPr bwMode="auto">
          <a:xfrm flipH="1" flipV="1">
            <a:off x="9481331" y="4110217"/>
            <a:ext cx="4955" cy="969249"/>
          </a:xfrm>
          <a:prstGeom prst="bentConnector3">
            <a:avLst>
              <a:gd name="adj1" fmla="val -4613522"/>
            </a:avLst>
          </a:prstGeom>
          <a:noFill/>
          <a:ln w="12700" cap="flat" cmpd="sng" algn="ctr">
            <a:solidFill>
              <a:schemeClr val="tx1"/>
            </a:solidFill>
            <a:prstDash val="solid"/>
            <a:round/>
            <a:headEnd type="none" w="med" len="med"/>
            <a:tailEnd type="triangle" w="med" len="med"/>
          </a:ln>
          <a:effectLst/>
        </p:spPr>
      </p:cxnSp>
      <p:cxnSp>
        <p:nvCxnSpPr>
          <p:cNvPr id="8" name="Straight Arrow Connector 7">
            <a:extLst>
              <a:ext uri="{FF2B5EF4-FFF2-40B4-BE49-F238E27FC236}">
                <a16:creationId xmlns:a16="http://schemas.microsoft.com/office/drawing/2014/main" id="{C81A322B-9BF9-4076-93A4-A5332A0397EB}"/>
              </a:ext>
            </a:extLst>
          </p:cNvPr>
          <p:cNvCxnSpPr>
            <a:stCxn id="2" idx="3"/>
          </p:cNvCxnSpPr>
          <p:nvPr/>
        </p:nvCxnSpPr>
        <p:spPr bwMode="auto">
          <a:xfrm flipV="1">
            <a:off x="7192143" y="3534152"/>
            <a:ext cx="457200" cy="470912"/>
          </a:xfrm>
          <a:prstGeom prst="straightConnector1">
            <a:avLst/>
          </a:prstGeom>
          <a:noFill/>
          <a:ln w="12700" cap="flat" cmpd="sng" algn="ctr">
            <a:solidFill>
              <a:srgbClr val="FF0000"/>
            </a:solidFill>
            <a:prstDash val="solid"/>
            <a:round/>
            <a:headEnd type="none" w="med" len="med"/>
            <a:tailEnd type="triangle" w="med" len="med"/>
          </a:ln>
          <a:effectLst/>
        </p:spPr>
      </p:cxnSp>
      <p:cxnSp>
        <p:nvCxnSpPr>
          <p:cNvPr id="9" name="Straight Arrow Connector 8">
            <a:extLst>
              <a:ext uri="{FF2B5EF4-FFF2-40B4-BE49-F238E27FC236}">
                <a16:creationId xmlns:a16="http://schemas.microsoft.com/office/drawing/2014/main" id="{DCE96B20-CC94-7E46-151C-EA65CE8E1B91}"/>
              </a:ext>
            </a:extLst>
          </p:cNvPr>
          <p:cNvCxnSpPr>
            <a:stCxn id="2" idx="3"/>
          </p:cNvCxnSpPr>
          <p:nvPr/>
        </p:nvCxnSpPr>
        <p:spPr bwMode="auto">
          <a:xfrm>
            <a:off x="7192143" y="4005064"/>
            <a:ext cx="0" cy="465192"/>
          </a:xfrm>
          <a:prstGeom prst="straightConnector1">
            <a:avLst/>
          </a:prstGeom>
          <a:noFill/>
          <a:ln w="12700" cap="flat" cmpd="sng" algn="ctr">
            <a:solidFill>
              <a:schemeClr val="tx1"/>
            </a:solidFill>
            <a:prstDash val="solid"/>
            <a:round/>
            <a:headEnd type="none" w="med" len="med"/>
            <a:tailEnd type="triangle" w="med" len="med"/>
          </a:ln>
          <a:effectLst/>
        </p:spPr>
      </p:cxnSp>
      <p:cxnSp>
        <p:nvCxnSpPr>
          <p:cNvPr id="10" name="Straight Arrow Connector 9">
            <a:extLst>
              <a:ext uri="{FF2B5EF4-FFF2-40B4-BE49-F238E27FC236}">
                <a16:creationId xmlns:a16="http://schemas.microsoft.com/office/drawing/2014/main" id="{BC49BB14-F1AB-E22B-8D0D-CA04083BB377}"/>
              </a:ext>
            </a:extLst>
          </p:cNvPr>
          <p:cNvCxnSpPr>
            <a:stCxn id="3" idx="3"/>
          </p:cNvCxnSpPr>
          <p:nvPr/>
        </p:nvCxnSpPr>
        <p:spPr bwMode="auto">
          <a:xfrm>
            <a:off x="8795529" y="3351272"/>
            <a:ext cx="0" cy="470912"/>
          </a:xfrm>
          <a:prstGeom prst="straightConnector1">
            <a:avLst/>
          </a:prstGeom>
          <a:noFill/>
          <a:ln w="12700" cap="flat" cmpd="sng" algn="ctr">
            <a:solidFill>
              <a:srgbClr val="FF0000"/>
            </a:solidFill>
            <a:prstDash val="solid"/>
            <a:round/>
            <a:headEnd type="none" w="med" len="med"/>
            <a:tailEnd type="triangle" w="med" len="med"/>
          </a:ln>
          <a:effectLst/>
        </p:spPr>
      </p:cxnSp>
      <p:cxnSp>
        <p:nvCxnSpPr>
          <p:cNvPr id="11" name="Straight Arrow Connector 10">
            <a:extLst>
              <a:ext uri="{FF2B5EF4-FFF2-40B4-BE49-F238E27FC236}">
                <a16:creationId xmlns:a16="http://schemas.microsoft.com/office/drawing/2014/main" id="{7F46D822-B31A-F994-0EAE-4E3A7FCC4092}"/>
              </a:ext>
            </a:extLst>
          </p:cNvPr>
          <p:cNvCxnSpPr>
            <a:stCxn id="6" idx="3"/>
          </p:cNvCxnSpPr>
          <p:nvPr/>
        </p:nvCxnSpPr>
        <p:spPr bwMode="auto">
          <a:xfrm flipV="1">
            <a:off x="7652529" y="4398249"/>
            <a:ext cx="1139814" cy="254889"/>
          </a:xfrm>
          <a:prstGeom prst="straightConnector1">
            <a:avLst/>
          </a:prstGeom>
          <a:noFill/>
          <a:ln w="12700" cap="flat" cmpd="sng" algn="ctr">
            <a:solidFill>
              <a:schemeClr val="tx1"/>
            </a:solidFill>
            <a:prstDash val="solid"/>
            <a:round/>
            <a:headEnd type="none" w="med" len="med"/>
            <a:tailEnd type="triangle" w="med" len="med"/>
          </a:ln>
          <a:effectLst/>
        </p:spPr>
      </p:cxnSp>
      <p:sp>
        <p:nvSpPr>
          <p:cNvPr id="12" name="TextBox 11">
            <a:extLst>
              <a:ext uri="{FF2B5EF4-FFF2-40B4-BE49-F238E27FC236}">
                <a16:creationId xmlns:a16="http://schemas.microsoft.com/office/drawing/2014/main" id="{E03EECE0-B199-770F-566A-11BF97BF67F7}"/>
              </a:ext>
            </a:extLst>
          </p:cNvPr>
          <p:cNvSpPr txBox="1"/>
          <p:nvPr/>
        </p:nvSpPr>
        <p:spPr>
          <a:xfrm>
            <a:off x="6350907" y="5437983"/>
            <a:ext cx="3343200" cy="369332"/>
          </a:xfrm>
          <a:prstGeom prst="rect">
            <a:avLst/>
          </a:prstGeom>
          <a:noFill/>
        </p:spPr>
        <p:txBody>
          <a:bodyPr wrap="square" rtlCol="0">
            <a:spAutoFit/>
          </a:bodyPr>
          <a:lstStyle/>
          <a:p>
            <a:r>
              <a:rPr lang="en-US" b="1" dirty="0">
                <a:solidFill>
                  <a:srgbClr val="0000FF"/>
                </a:solidFill>
              </a:rPr>
              <a:t>Critical Chain: A-C-B-D (17)</a:t>
            </a:r>
          </a:p>
        </p:txBody>
      </p:sp>
      <p:sp>
        <p:nvSpPr>
          <p:cNvPr id="13" name="Freeform 12">
            <a:extLst>
              <a:ext uri="{FF2B5EF4-FFF2-40B4-BE49-F238E27FC236}">
                <a16:creationId xmlns:a16="http://schemas.microsoft.com/office/drawing/2014/main" id="{4FEE02CB-CB32-8866-60C2-6522E307EC2C}"/>
              </a:ext>
            </a:extLst>
          </p:cNvPr>
          <p:cNvSpPr/>
          <p:nvPr/>
        </p:nvSpPr>
        <p:spPr bwMode="auto">
          <a:xfrm>
            <a:off x="5346598" y="3298726"/>
            <a:ext cx="4787758" cy="1325366"/>
          </a:xfrm>
          <a:custGeom>
            <a:avLst/>
            <a:gdLst>
              <a:gd name="connsiteX0" fmla="*/ 0 w 4787758"/>
              <a:gd name="connsiteY0" fmla="*/ 667820 h 1325366"/>
              <a:gd name="connsiteX1" fmla="*/ 164387 w 4787758"/>
              <a:gd name="connsiteY1" fmla="*/ 657546 h 1325366"/>
              <a:gd name="connsiteX2" fmla="*/ 256854 w 4787758"/>
              <a:gd name="connsiteY2" fmla="*/ 647272 h 1325366"/>
              <a:gd name="connsiteX3" fmla="*/ 472612 w 4787758"/>
              <a:gd name="connsiteY3" fmla="*/ 636998 h 1325366"/>
              <a:gd name="connsiteX4" fmla="*/ 647272 w 4787758"/>
              <a:gd name="connsiteY4" fmla="*/ 616449 h 1325366"/>
              <a:gd name="connsiteX5" fmla="*/ 1335641 w 4787758"/>
              <a:gd name="connsiteY5" fmla="*/ 636998 h 1325366"/>
              <a:gd name="connsiteX6" fmla="*/ 1859623 w 4787758"/>
              <a:gd name="connsiteY6" fmla="*/ 647272 h 1325366"/>
              <a:gd name="connsiteX7" fmla="*/ 1890445 w 4787758"/>
              <a:gd name="connsiteY7" fmla="*/ 657546 h 1325366"/>
              <a:gd name="connsiteX8" fmla="*/ 1941816 w 4787758"/>
              <a:gd name="connsiteY8" fmla="*/ 688368 h 1325366"/>
              <a:gd name="connsiteX9" fmla="*/ 1952090 w 4787758"/>
              <a:gd name="connsiteY9" fmla="*/ 719191 h 1325366"/>
              <a:gd name="connsiteX10" fmla="*/ 1941816 w 4787758"/>
              <a:gd name="connsiteY10" fmla="*/ 893852 h 1325366"/>
              <a:gd name="connsiteX11" fmla="*/ 1910994 w 4787758"/>
              <a:gd name="connsiteY11" fmla="*/ 996593 h 1325366"/>
              <a:gd name="connsiteX12" fmla="*/ 1900719 w 4787758"/>
              <a:gd name="connsiteY12" fmla="*/ 1027416 h 1325366"/>
              <a:gd name="connsiteX13" fmla="*/ 1869897 w 4787758"/>
              <a:gd name="connsiteY13" fmla="*/ 1047964 h 1325366"/>
              <a:gd name="connsiteX14" fmla="*/ 1787704 w 4787758"/>
              <a:gd name="connsiteY14" fmla="*/ 1119883 h 1325366"/>
              <a:gd name="connsiteX15" fmla="*/ 1726059 w 4787758"/>
              <a:gd name="connsiteY15" fmla="*/ 1191802 h 1325366"/>
              <a:gd name="connsiteX16" fmla="*/ 1756881 w 4787758"/>
              <a:gd name="connsiteY16" fmla="*/ 1294544 h 1325366"/>
              <a:gd name="connsiteX17" fmla="*/ 1797978 w 4787758"/>
              <a:gd name="connsiteY17" fmla="*/ 1304818 h 1325366"/>
              <a:gd name="connsiteX18" fmla="*/ 1859623 w 4787758"/>
              <a:gd name="connsiteY18" fmla="*/ 1325366 h 1325366"/>
              <a:gd name="connsiteX19" fmla="*/ 2075380 w 4787758"/>
              <a:gd name="connsiteY19" fmla="*/ 1304818 h 1325366"/>
              <a:gd name="connsiteX20" fmla="*/ 2157573 w 4787758"/>
              <a:gd name="connsiteY20" fmla="*/ 1294544 h 1325366"/>
              <a:gd name="connsiteX21" fmla="*/ 2198670 w 4787758"/>
              <a:gd name="connsiteY21" fmla="*/ 1284270 h 1325366"/>
              <a:gd name="connsiteX22" fmla="*/ 2332234 w 4787758"/>
              <a:gd name="connsiteY22" fmla="*/ 1273995 h 1325366"/>
              <a:gd name="connsiteX23" fmla="*/ 2363056 w 4787758"/>
              <a:gd name="connsiteY23" fmla="*/ 1253447 h 1325366"/>
              <a:gd name="connsiteX24" fmla="*/ 2383605 w 4787758"/>
              <a:gd name="connsiteY24" fmla="*/ 1171254 h 1325366"/>
              <a:gd name="connsiteX25" fmla="*/ 2393879 w 4787758"/>
              <a:gd name="connsiteY25" fmla="*/ 1140431 h 1325366"/>
              <a:gd name="connsiteX26" fmla="*/ 2404153 w 4787758"/>
              <a:gd name="connsiteY26" fmla="*/ 1006867 h 1325366"/>
              <a:gd name="connsiteX27" fmla="*/ 2434976 w 4787758"/>
              <a:gd name="connsiteY27" fmla="*/ 739739 h 1325366"/>
              <a:gd name="connsiteX28" fmla="*/ 2455524 w 4787758"/>
              <a:gd name="connsiteY28" fmla="*/ 554804 h 1325366"/>
              <a:gd name="connsiteX29" fmla="*/ 2445250 w 4787758"/>
              <a:gd name="connsiteY29" fmla="*/ 441789 h 1325366"/>
              <a:gd name="connsiteX30" fmla="*/ 2434976 w 4787758"/>
              <a:gd name="connsiteY30" fmla="*/ 410966 h 1325366"/>
              <a:gd name="connsiteX31" fmla="*/ 2393879 w 4787758"/>
              <a:gd name="connsiteY31" fmla="*/ 400692 h 1325366"/>
              <a:gd name="connsiteX32" fmla="*/ 2301412 w 4787758"/>
              <a:gd name="connsiteY32" fmla="*/ 390418 h 1325366"/>
              <a:gd name="connsiteX33" fmla="*/ 2219218 w 4787758"/>
              <a:gd name="connsiteY33" fmla="*/ 369870 h 1325366"/>
              <a:gd name="connsiteX34" fmla="*/ 2178122 w 4787758"/>
              <a:gd name="connsiteY34" fmla="*/ 318499 h 1325366"/>
              <a:gd name="connsiteX35" fmla="*/ 2157573 w 4787758"/>
              <a:gd name="connsiteY35" fmla="*/ 297950 h 1325366"/>
              <a:gd name="connsiteX36" fmla="*/ 2126751 w 4787758"/>
              <a:gd name="connsiteY36" fmla="*/ 164386 h 1325366"/>
              <a:gd name="connsiteX37" fmla="*/ 2137025 w 4787758"/>
              <a:gd name="connsiteY37" fmla="*/ 51371 h 1325366"/>
              <a:gd name="connsiteX38" fmla="*/ 2239767 w 4787758"/>
              <a:gd name="connsiteY38" fmla="*/ 20548 h 1325366"/>
              <a:gd name="connsiteX39" fmla="*/ 2424701 w 4787758"/>
              <a:gd name="connsiteY39" fmla="*/ 30822 h 1325366"/>
              <a:gd name="connsiteX40" fmla="*/ 3000054 w 4787758"/>
              <a:gd name="connsiteY40" fmla="*/ 20548 h 1325366"/>
              <a:gd name="connsiteX41" fmla="*/ 3113070 w 4787758"/>
              <a:gd name="connsiteY41" fmla="*/ 10274 h 1325366"/>
              <a:gd name="connsiteX42" fmla="*/ 3441843 w 4787758"/>
              <a:gd name="connsiteY42" fmla="*/ 0 h 1325366"/>
              <a:gd name="connsiteX43" fmla="*/ 3524036 w 4787758"/>
              <a:gd name="connsiteY43" fmla="*/ 10274 h 1325366"/>
              <a:gd name="connsiteX44" fmla="*/ 3544585 w 4787758"/>
              <a:gd name="connsiteY44" fmla="*/ 71919 h 1325366"/>
              <a:gd name="connsiteX45" fmla="*/ 3565133 w 4787758"/>
              <a:gd name="connsiteY45" fmla="*/ 143838 h 1325366"/>
              <a:gd name="connsiteX46" fmla="*/ 3575407 w 4787758"/>
              <a:gd name="connsiteY46" fmla="*/ 174661 h 1325366"/>
              <a:gd name="connsiteX47" fmla="*/ 3585681 w 4787758"/>
              <a:gd name="connsiteY47" fmla="*/ 236305 h 1325366"/>
              <a:gd name="connsiteX48" fmla="*/ 3554859 w 4787758"/>
              <a:gd name="connsiteY48" fmla="*/ 369870 h 1325366"/>
              <a:gd name="connsiteX49" fmla="*/ 3534310 w 4787758"/>
              <a:gd name="connsiteY49" fmla="*/ 390418 h 1325366"/>
              <a:gd name="connsiteX50" fmla="*/ 3462391 w 4787758"/>
              <a:gd name="connsiteY50" fmla="*/ 410966 h 1325366"/>
              <a:gd name="connsiteX51" fmla="*/ 3400746 w 4787758"/>
              <a:gd name="connsiteY51" fmla="*/ 431514 h 1325366"/>
              <a:gd name="connsiteX52" fmla="*/ 3369924 w 4787758"/>
              <a:gd name="connsiteY52" fmla="*/ 441789 h 1325366"/>
              <a:gd name="connsiteX53" fmla="*/ 3339101 w 4787758"/>
              <a:gd name="connsiteY53" fmla="*/ 452063 h 1325366"/>
              <a:gd name="connsiteX54" fmla="*/ 3287731 w 4787758"/>
              <a:gd name="connsiteY54" fmla="*/ 503434 h 1325366"/>
              <a:gd name="connsiteX55" fmla="*/ 3267182 w 4787758"/>
              <a:gd name="connsiteY55" fmla="*/ 523982 h 1325366"/>
              <a:gd name="connsiteX56" fmla="*/ 3246634 w 4787758"/>
              <a:gd name="connsiteY56" fmla="*/ 585627 h 1325366"/>
              <a:gd name="connsiteX57" fmla="*/ 3236360 w 4787758"/>
              <a:gd name="connsiteY57" fmla="*/ 616449 h 1325366"/>
              <a:gd name="connsiteX58" fmla="*/ 3256908 w 4787758"/>
              <a:gd name="connsiteY58" fmla="*/ 636998 h 1325366"/>
              <a:gd name="connsiteX59" fmla="*/ 3318553 w 4787758"/>
              <a:gd name="connsiteY59" fmla="*/ 678094 h 1325366"/>
              <a:gd name="connsiteX60" fmla="*/ 3472665 w 4787758"/>
              <a:gd name="connsiteY60" fmla="*/ 667820 h 1325366"/>
              <a:gd name="connsiteX61" fmla="*/ 3534310 w 4787758"/>
              <a:gd name="connsiteY61" fmla="*/ 657546 h 1325366"/>
              <a:gd name="connsiteX62" fmla="*/ 3647326 w 4787758"/>
              <a:gd name="connsiteY62" fmla="*/ 647272 h 1325366"/>
              <a:gd name="connsiteX63" fmla="*/ 3863083 w 4787758"/>
              <a:gd name="connsiteY63" fmla="*/ 626723 h 1325366"/>
              <a:gd name="connsiteX64" fmla="*/ 3904180 w 4787758"/>
              <a:gd name="connsiteY64" fmla="*/ 616449 h 1325366"/>
              <a:gd name="connsiteX65" fmla="*/ 4325421 w 4787758"/>
              <a:gd name="connsiteY65" fmla="*/ 626723 h 1325366"/>
              <a:gd name="connsiteX66" fmla="*/ 4469259 w 4787758"/>
              <a:gd name="connsiteY66" fmla="*/ 636998 h 1325366"/>
              <a:gd name="connsiteX67" fmla="*/ 4787758 w 4787758"/>
              <a:gd name="connsiteY67" fmla="*/ 647272 h 1325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4787758" h="1325366">
                <a:moveTo>
                  <a:pt x="0" y="667820"/>
                </a:moveTo>
                <a:lnTo>
                  <a:pt x="164387" y="657546"/>
                </a:lnTo>
                <a:cubicBezTo>
                  <a:pt x="195300" y="655073"/>
                  <a:pt x="225911" y="649335"/>
                  <a:pt x="256854" y="647272"/>
                </a:cubicBezTo>
                <a:cubicBezTo>
                  <a:pt x="328695" y="642483"/>
                  <a:pt x="400693" y="640423"/>
                  <a:pt x="472612" y="636998"/>
                </a:cubicBezTo>
                <a:cubicBezTo>
                  <a:pt x="513907" y="631098"/>
                  <a:pt x="612384" y="615996"/>
                  <a:pt x="647272" y="616449"/>
                </a:cubicBezTo>
                <a:cubicBezTo>
                  <a:pt x="876811" y="619430"/>
                  <a:pt x="1106127" y="632498"/>
                  <a:pt x="1335641" y="636998"/>
                </a:cubicBezTo>
                <a:lnTo>
                  <a:pt x="1859623" y="647272"/>
                </a:lnTo>
                <a:cubicBezTo>
                  <a:pt x="1869897" y="650697"/>
                  <a:pt x="1881159" y="651974"/>
                  <a:pt x="1890445" y="657546"/>
                </a:cubicBezTo>
                <a:cubicBezTo>
                  <a:pt x="1960960" y="699854"/>
                  <a:pt x="1854503" y="659264"/>
                  <a:pt x="1941816" y="688368"/>
                </a:cubicBezTo>
                <a:cubicBezTo>
                  <a:pt x="1945241" y="698642"/>
                  <a:pt x="1952090" y="708361"/>
                  <a:pt x="1952090" y="719191"/>
                </a:cubicBezTo>
                <a:cubicBezTo>
                  <a:pt x="1952090" y="777512"/>
                  <a:pt x="1947345" y="835794"/>
                  <a:pt x="1941816" y="893852"/>
                </a:cubicBezTo>
                <a:cubicBezTo>
                  <a:pt x="1939746" y="915589"/>
                  <a:pt x="1915365" y="983481"/>
                  <a:pt x="1910994" y="996593"/>
                </a:cubicBezTo>
                <a:cubicBezTo>
                  <a:pt x="1907569" y="1006867"/>
                  <a:pt x="1909730" y="1021409"/>
                  <a:pt x="1900719" y="1027416"/>
                </a:cubicBezTo>
                <a:lnTo>
                  <a:pt x="1869897" y="1047964"/>
                </a:lnTo>
                <a:cubicBezTo>
                  <a:pt x="1811678" y="1135293"/>
                  <a:pt x="1907568" y="1000019"/>
                  <a:pt x="1787704" y="1119883"/>
                </a:cubicBezTo>
                <a:cubicBezTo>
                  <a:pt x="1737876" y="1169711"/>
                  <a:pt x="1757353" y="1144860"/>
                  <a:pt x="1726059" y="1191802"/>
                </a:cubicBezTo>
                <a:cubicBezTo>
                  <a:pt x="1729919" y="1222685"/>
                  <a:pt x="1719481" y="1275844"/>
                  <a:pt x="1756881" y="1294544"/>
                </a:cubicBezTo>
                <a:cubicBezTo>
                  <a:pt x="1769511" y="1300859"/>
                  <a:pt x="1784453" y="1300761"/>
                  <a:pt x="1797978" y="1304818"/>
                </a:cubicBezTo>
                <a:cubicBezTo>
                  <a:pt x="1818724" y="1311042"/>
                  <a:pt x="1859623" y="1325366"/>
                  <a:pt x="1859623" y="1325366"/>
                </a:cubicBezTo>
                <a:cubicBezTo>
                  <a:pt x="1931542" y="1318517"/>
                  <a:pt x="2003693" y="1313779"/>
                  <a:pt x="2075380" y="1304818"/>
                </a:cubicBezTo>
                <a:cubicBezTo>
                  <a:pt x="2102778" y="1301393"/>
                  <a:pt x="2130338" y="1299083"/>
                  <a:pt x="2157573" y="1294544"/>
                </a:cubicBezTo>
                <a:cubicBezTo>
                  <a:pt x="2171501" y="1292223"/>
                  <a:pt x="2184646" y="1285920"/>
                  <a:pt x="2198670" y="1284270"/>
                </a:cubicBezTo>
                <a:cubicBezTo>
                  <a:pt x="2243017" y="1279053"/>
                  <a:pt x="2287713" y="1277420"/>
                  <a:pt x="2332234" y="1273995"/>
                </a:cubicBezTo>
                <a:cubicBezTo>
                  <a:pt x="2342508" y="1267146"/>
                  <a:pt x="2357534" y="1264491"/>
                  <a:pt x="2363056" y="1253447"/>
                </a:cubicBezTo>
                <a:cubicBezTo>
                  <a:pt x="2375686" y="1228188"/>
                  <a:pt x="2374675" y="1198046"/>
                  <a:pt x="2383605" y="1171254"/>
                </a:cubicBezTo>
                <a:lnTo>
                  <a:pt x="2393879" y="1140431"/>
                </a:lnTo>
                <a:cubicBezTo>
                  <a:pt x="2397304" y="1095910"/>
                  <a:pt x="2399597" y="1051287"/>
                  <a:pt x="2404153" y="1006867"/>
                </a:cubicBezTo>
                <a:cubicBezTo>
                  <a:pt x="2413298" y="917701"/>
                  <a:pt x="2427532" y="829063"/>
                  <a:pt x="2434976" y="739739"/>
                </a:cubicBezTo>
                <a:cubicBezTo>
                  <a:pt x="2446980" y="595689"/>
                  <a:pt x="2438470" y="657127"/>
                  <a:pt x="2455524" y="554804"/>
                </a:cubicBezTo>
                <a:cubicBezTo>
                  <a:pt x="2452099" y="517132"/>
                  <a:pt x="2450599" y="479236"/>
                  <a:pt x="2445250" y="441789"/>
                </a:cubicBezTo>
                <a:cubicBezTo>
                  <a:pt x="2443718" y="431068"/>
                  <a:pt x="2443433" y="417732"/>
                  <a:pt x="2434976" y="410966"/>
                </a:cubicBezTo>
                <a:cubicBezTo>
                  <a:pt x="2423950" y="402145"/>
                  <a:pt x="2407835" y="402839"/>
                  <a:pt x="2393879" y="400692"/>
                </a:cubicBezTo>
                <a:cubicBezTo>
                  <a:pt x="2363228" y="395976"/>
                  <a:pt x="2332234" y="393843"/>
                  <a:pt x="2301412" y="390418"/>
                </a:cubicBezTo>
                <a:cubicBezTo>
                  <a:pt x="2274014" y="383569"/>
                  <a:pt x="2239187" y="389840"/>
                  <a:pt x="2219218" y="369870"/>
                </a:cubicBezTo>
                <a:cubicBezTo>
                  <a:pt x="2169599" y="320249"/>
                  <a:pt x="2229971" y="383310"/>
                  <a:pt x="2178122" y="318499"/>
                </a:cubicBezTo>
                <a:cubicBezTo>
                  <a:pt x="2172071" y="310935"/>
                  <a:pt x="2164423" y="304800"/>
                  <a:pt x="2157573" y="297950"/>
                </a:cubicBezTo>
                <a:cubicBezTo>
                  <a:pt x="2129367" y="213331"/>
                  <a:pt x="2140088" y="257747"/>
                  <a:pt x="2126751" y="164386"/>
                </a:cubicBezTo>
                <a:cubicBezTo>
                  <a:pt x="2130176" y="126714"/>
                  <a:pt x="2123446" y="86677"/>
                  <a:pt x="2137025" y="51371"/>
                </a:cubicBezTo>
                <a:cubicBezTo>
                  <a:pt x="2145208" y="30097"/>
                  <a:pt x="2233125" y="21655"/>
                  <a:pt x="2239767" y="20548"/>
                </a:cubicBezTo>
                <a:cubicBezTo>
                  <a:pt x="2301412" y="23973"/>
                  <a:pt x="2362961" y="30822"/>
                  <a:pt x="2424701" y="30822"/>
                </a:cubicBezTo>
                <a:cubicBezTo>
                  <a:pt x="2616516" y="30822"/>
                  <a:pt x="2808324" y="26271"/>
                  <a:pt x="3000054" y="20548"/>
                </a:cubicBezTo>
                <a:cubicBezTo>
                  <a:pt x="3037865" y="19419"/>
                  <a:pt x="3075284" y="12031"/>
                  <a:pt x="3113070" y="10274"/>
                </a:cubicBezTo>
                <a:cubicBezTo>
                  <a:pt x="3222596" y="5180"/>
                  <a:pt x="3332252" y="3425"/>
                  <a:pt x="3441843" y="0"/>
                </a:cubicBezTo>
                <a:cubicBezTo>
                  <a:pt x="3469241" y="3425"/>
                  <a:pt x="3501416" y="-5560"/>
                  <a:pt x="3524036" y="10274"/>
                </a:cubicBezTo>
                <a:cubicBezTo>
                  <a:pt x="3541781" y="22695"/>
                  <a:pt x="3537735" y="51371"/>
                  <a:pt x="3544585" y="71919"/>
                </a:cubicBezTo>
                <a:cubicBezTo>
                  <a:pt x="3569213" y="145802"/>
                  <a:pt x="3539339" y="53555"/>
                  <a:pt x="3565133" y="143838"/>
                </a:cubicBezTo>
                <a:cubicBezTo>
                  <a:pt x="3568108" y="154251"/>
                  <a:pt x="3573058" y="164089"/>
                  <a:pt x="3575407" y="174661"/>
                </a:cubicBezTo>
                <a:cubicBezTo>
                  <a:pt x="3579926" y="194996"/>
                  <a:pt x="3582256" y="215757"/>
                  <a:pt x="3585681" y="236305"/>
                </a:cubicBezTo>
                <a:cubicBezTo>
                  <a:pt x="3577336" y="319759"/>
                  <a:pt x="3593366" y="321737"/>
                  <a:pt x="3554859" y="369870"/>
                </a:cubicBezTo>
                <a:cubicBezTo>
                  <a:pt x="3548808" y="377434"/>
                  <a:pt x="3542616" y="385434"/>
                  <a:pt x="3534310" y="390418"/>
                </a:cubicBezTo>
                <a:cubicBezTo>
                  <a:pt x="3522800" y="397324"/>
                  <a:pt x="3471348" y="408279"/>
                  <a:pt x="3462391" y="410966"/>
                </a:cubicBezTo>
                <a:cubicBezTo>
                  <a:pt x="3441645" y="417190"/>
                  <a:pt x="3421294" y="424664"/>
                  <a:pt x="3400746" y="431514"/>
                </a:cubicBezTo>
                <a:lnTo>
                  <a:pt x="3369924" y="441789"/>
                </a:lnTo>
                <a:lnTo>
                  <a:pt x="3339101" y="452063"/>
                </a:lnTo>
                <a:lnTo>
                  <a:pt x="3287731" y="503434"/>
                </a:lnTo>
                <a:lnTo>
                  <a:pt x="3267182" y="523982"/>
                </a:lnTo>
                <a:lnTo>
                  <a:pt x="3246634" y="585627"/>
                </a:lnTo>
                <a:lnTo>
                  <a:pt x="3236360" y="616449"/>
                </a:lnTo>
                <a:cubicBezTo>
                  <a:pt x="3243209" y="623299"/>
                  <a:pt x="3249159" y="631186"/>
                  <a:pt x="3256908" y="636998"/>
                </a:cubicBezTo>
                <a:cubicBezTo>
                  <a:pt x="3276665" y="651816"/>
                  <a:pt x="3318553" y="678094"/>
                  <a:pt x="3318553" y="678094"/>
                </a:cubicBezTo>
                <a:cubicBezTo>
                  <a:pt x="3369924" y="674669"/>
                  <a:pt x="3421412" y="672701"/>
                  <a:pt x="3472665" y="667820"/>
                </a:cubicBezTo>
                <a:cubicBezTo>
                  <a:pt x="3493403" y="665845"/>
                  <a:pt x="3513621" y="659980"/>
                  <a:pt x="3534310" y="657546"/>
                </a:cubicBezTo>
                <a:cubicBezTo>
                  <a:pt x="3571878" y="653126"/>
                  <a:pt x="3609654" y="650697"/>
                  <a:pt x="3647326" y="647272"/>
                </a:cubicBezTo>
                <a:cubicBezTo>
                  <a:pt x="3741728" y="615806"/>
                  <a:pt x="3638789" y="647114"/>
                  <a:pt x="3863083" y="626723"/>
                </a:cubicBezTo>
                <a:cubicBezTo>
                  <a:pt x="3877146" y="625445"/>
                  <a:pt x="3890481" y="619874"/>
                  <a:pt x="3904180" y="616449"/>
                </a:cubicBezTo>
                <a:lnTo>
                  <a:pt x="4325421" y="626723"/>
                </a:lnTo>
                <a:cubicBezTo>
                  <a:pt x="4373457" y="628470"/>
                  <a:pt x="4421254" y="634536"/>
                  <a:pt x="4469259" y="636998"/>
                </a:cubicBezTo>
                <a:cubicBezTo>
                  <a:pt x="4685609" y="648093"/>
                  <a:pt x="4655063" y="647272"/>
                  <a:pt x="4787758" y="647272"/>
                </a:cubicBezTo>
              </a:path>
            </a:pathLst>
          </a:custGeom>
          <a:noFill/>
          <a:ln w="38100" cap="flat" cmpd="sng" algn="ctr">
            <a:solidFill>
              <a:srgbClr val="0000FF"/>
            </a:solidFill>
            <a:prstDash val="sysDash"/>
            <a:round/>
            <a:headEnd type="none" w="med" len="med"/>
            <a:tailEnd type="arrow" w="med" len="med"/>
          </a:ln>
          <a:effectLst/>
        </p:spPr>
        <p:txBody>
          <a:bodyPr vert="horz" wrap="square" lIns="54000" tIns="45720" rIns="54000" bIns="45720" numCol="1" rtlCol="0" anchor="ctr" anchorCtr="0" compatLnSpc="1">
            <a:prstTxWarp prst="textNoShape">
              <a:avLst/>
            </a:prstTxWarp>
          </a:bodyPr>
          <a:lstStyle/>
          <a:p>
            <a:pPr algn="ctr" fontAlgn="base">
              <a:spcBef>
                <a:spcPct val="0"/>
              </a:spcBef>
              <a:spcAft>
                <a:spcPct val="0"/>
              </a:spcAft>
            </a:pPr>
            <a:endParaRPr kumimoji="1" lang="en-US" sz="2000">
              <a:latin typeface="Arial" charset="0"/>
              <a:ea typeface="굴림" pitchFamily="50" charset="-127"/>
            </a:endParaRPr>
          </a:p>
        </p:txBody>
      </p:sp>
      <p:sp>
        <p:nvSpPr>
          <p:cNvPr id="16" name="Rectangle 15">
            <a:extLst>
              <a:ext uri="{FF2B5EF4-FFF2-40B4-BE49-F238E27FC236}">
                <a16:creationId xmlns:a16="http://schemas.microsoft.com/office/drawing/2014/main" id="{AD8DF353-7B0C-3942-0B59-4192DE949CDF}"/>
              </a:ext>
            </a:extLst>
          </p:cNvPr>
          <p:cNvSpPr/>
          <p:nvPr/>
        </p:nvSpPr>
        <p:spPr bwMode="auto">
          <a:xfrm>
            <a:off x="8800484" y="4896584"/>
            <a:ext cx="685800" cy="365760"/>
          </a:xfrm>
          <a:prstGeom prst="rect">
            <a:avLst/>
          </a:prstGeom>
          <a:solidFill>
            <a:srgbClr val="FFFF00"/>
          </a:solid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a:spcBef>
                <a:spcPct val="0"/>
              </a:spcBef>
              <a:spcAft>
                <a:spcPct val="0"/>
              </a:spcAft>
            </a:pPr>
            <a:r>
              <a:rPr kumimoji="1" lang="en-US" dirty="0">
                <a:latin typeface="맑은 고딕" pitchFamily="50" charset="-127"/>
                <a:ea typeface="맑은 고딕" pitchFamily="50" charset="-127"/>
              </a:rPr>
              <a:t>E(3)</a:t>
            </a:r>
          </a:p>
        </p:txBody>
      </p:sp>
      <p:cxnSp>
        <p:nvCxnSpPr>
          <p:cNvPr id="17" name="Elbow Connector 16">
            <a:extLst>
              <a:ext uri="{FF2B5EF4-FFF2-40B4-BE49-F238E27FC236}">
                <a16:creationId xmlns:a16="http://schemas.microsoft.com/office/drawing/2014/main" id="{FF993638-9FC5-90F8-9DD9-6BE70958529C}"/>
              </a:ext>
            </a:extLst>
          </p:cNvPr>
          <p:cNvCxnSpPr>
            <a:stCxn id="2" idx="1"/>
            <a:endCxn id="16" idx="1"/>
          </p:cNvCxnSpPr>
          <p:nvPr/>
        </p:nvCxnSpPr>
        <p:spPr bwMode="auto">
          <a:xfrm rot="10800000" flipH="1" flipV="1">
            <a:off x="5591944" y="4005064"/>
            <a:ext cx="3208541" cy="1074400"/>
          </a:xfrm>
          <a:prstGeom prst="bentConnector3">
            <a:avLst>
              <a:gd name="adj1" fmla="val -7125"/>
            </a:avLst>
          </a:prstGeom>
          <a:noFill/>
          <a:ln w="12700" cap="flat" cmpd="sng" algn="ctr">
            <a:solidFill>
              <a:schemeClr val="tx1"/>
            </a:solidFill>
            <a:prstDash val="solid"/>
            <a:round/>
            <a:headEnd type="none" w="med" len="med"/>
            <a:tailEnd type="triangle" w="med" len="med"/>
          </a:ln>
          <a:effectLst/>
        </p:spPr>
      </p:cxnSp>
      <p:sp>
        <p:nvSpPr>
          <p:cNvPr id="18" name="TextBox 17">
            <a:extLst>
              <a:ext uri="{FF2B5EF4-FFF2-40B4-BE49-F238E27FC236}">
                <a16:creationId xmlns:a16="http://schemas.microsoft.com/office/drawing/2014/main" id="{86304CDF-FC67-3A58-9244-A0C6BB4D6FD5}"/>
              </a:ext>
            </a:extLst>
          </p:cNvPr>
          <p:cNvSpPr txBox="1"/>
          <p:nvPr/>
        </p:nvSpPr>
        <p:spPr>
          <a:xfrm>
            <a:off x="1809287" y="5437983"/>
            <a:ext cx="2284600" cy="369332"/>
          </a:xfrm>
          <a:prstGeom prst="rect">
            <a:avLst/>
          </a:prstGeom>
          <a:noFill/>
        </p:spPr>
        <p:txBody>
          <a:bodyPr wrap="none" rtlCol="0">
            <a:spAutoFit/>
          </a:bodyPr>
          <a:lstStyle/>
          <a:p>
            <a:r>
              <a:rPr lang="en-KR" dirty="0"/>
              <a:t>Critical Path: </a:t>
            </a:r>
            <a:r>
              <a:rPr lang="en-US" dirty="0"/>
              <a:t>A-B-D</a:t>
            </a:r>
            <a:r>
              <a:rPr lang="en-KR" dirty="0"/>
              <a:t> </a:t>
            </a:r>
          </a:p>
        </p:txBody>
      </p:sp>
    </p:spTree>
    <p:extLst>
      <p:ext uri="{BB962C8B-B14F-4D97-AF65-F5344CB8AC3E}">
        <p14:creationId xmlns:p14="http://schemas.microsoft.com/office/powerpoint/2010/main" val="21034197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normAutofit/>
          </a:bodyPr>
          <a:lstStyle/>
          <a:p>
            <a:r>
              <a:rPr lang="en-US" dirty="0"/>
              <a:t>Schedule Compression</a:t>
            </a:r>
          </a:p>
        </p:txBody>
      </p:sp>
      <p:sp>
        <p:nvSpPr>
          <p:cNvPr id="153603" name="Rectangle 3"/>
          <p:cNvSpPr>
            <a:spLocks noGrp="1" noChangeArrowheads="1"/>
          </p:cNvSpPr>
          <p:nvPr>
            <p:ph type="body" sz="quarter" idx="10"/>
          </p:nvPr>
        </p:nvSpPr>
        <p:spPr/>
        <p:txBody>
          <a:bodyPr/>
          <a:lstStyle/>
          <a:p>
            <a:r>
              <a:rPr lang="en-US" dirty="0"/>
              <a:t>A technique to shorten the duration of critical tasks without changing the scope</a:t>
            </a:r>
            <a:r>
              <a:rPr lang="en-US" altLang="ko-KR" dirty="0"/>
              <a:t>:</a:t>
            </a:r>
            <a:r>
              <a:rPr lang="ko-KR" altLang="en-US" dirty="0"/>
              <a:t> </a:t>
            </a:r>
            <a:r>
              <a:rPr lang="en-US" b="1" dirty="0">
                <a:solidFill>
                  <a:srgbClr val="FF0000"/>
                </a:solidFill>
              </a:rPr>
              <a:t>Crashing</a:t>
            </a:r>
            <a:r>
              <a:rPr lang="en-US" altLang="ko-KR" dirty="0">
                <a:solidFill>
                  <a:srgbClr val="FF0000"/>
                </a:solidFill>
              </a:rPr>
              <a:t>,</a:t>
            </a:r>
            <a:r>
              <a:rPr lang="ko-KR" altLang="en-US" dirty="0">
                <a:solidFill>
                  <a:srgbClr val="FF0000"/>
                </a:solidFill>
              </a:rPr>
              <a:t> </a:t>
            </a:r>
            <a:r>
              <a:rPr lang="en-US" b="1" dirty="0">
                <a:solidFill>
                  <a:srgbClr val="FF0000"/>
                </a:solidFill>
              </a:rPr>
              <a:t>Fast Tracking</a:t>
            </a:r>
            <a:endParaRPr lang="en-US" dirty="0">
              <a:solidFill>
                <a:srgbClr val="FF0000"/>
              </a:solidFill>
            </a:endParaRPr>
          </a:p>
          <a:p>
            <a:r>
              <a:rPr lang="en-US" b="1" dirty="0"/>
              <a:t>Crashing</a:t>
            </a:r>
            <a:r>
              <a:rPr lang="en-US" dirty="0"/>
              <a:t> </a:t>
            </a:r>
          </a:p>
          <a:p>
            <a:pPr lvl="1"/>
            <a:r>
              <a:rPr lang="en-US" dirty="0"/>
              <a:t>By borrowing resources, expediting materials, asking overtime, etc.</a:t>
            </a:r>
          </a:p>
          <a:p>
            <a:pPr lvl="1"/>
            <a:r>
              <a:rPr lang="en-US" dirty="0"/>
              <a:t>Assigning more resources to the task that gives the greatest amount of schedule compression with the least incremental cost</a:t>
            </a:r>
          </a:p>
          <a:p>
            <a:r>
              <a:rPr lang="en-US" b="1" dirty="0"/>
              <a:t>Fast Tracking</a:t>
            </a:r>
            <a:r>
              <a:rPr lang="en-US" dirty="0"/>
              <a:t> </a:t>
            </a:r>
          </a:p>
          <a:p>
            <a:pPr lvl="1"/>
            <a:r>
              <a:rPr lang="en-US" dirty="0"/>
              <a:t>Executing tasks that were originally scheduled in sequence in parallel</a:t>
            </a:r>
          </a:p>
        </p:txBody>
      </p:sp>
      <p:pic>
        <p:nvPicPr>
          <p:cNvPr id="2" name="Picture 1"/>
          <p:cNvPicPr>
            <a:picLocks noChangeAspect="1"/>
          </p:cNvPicPr>
          <p:nvPr/>
        </p:nvPicPr>
        <p:blipFill rotWithShape="1">
          <a:blip r:embed="rId2"/>
          <a:srcRect l="4441" t="4578" r="-1163" b="-1288"/>
          <a:stretch/>
        </p:blipFill>
        <p:spPr>
          <a:xfrm>
            <a:off x="4278000" y="4509120"/>
            <a:ext cx="3636000" cy="2088000"/>
          </a:xfrm>
          <a:prstGeom prst="rect">
            <a:avLst/>
          </a:prstGeom>
        </p:spPr>
      </p:pic>
    </p:spTree>
    <p:extLst>
      <p:ext uri="{BB962C8B-B14F-4D97-AF65-F5344CB8AC3E}">
        <p14:creationId xmlns:p14="http://schemas.microsoft.com/office/powerpoint/2010/main" val="15439423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normAutofit/>
          </a:bodyPr>
          <a:lstStyle/>
          <a:p>
            <a:r>
              <a:rPr lang="en-US" dirty="0"/>
              <a:t>Schedule Compression </a:t>
            </a:r>
            <a:r>
              <a:rPr lang="mr-IN" dirty="0"/>
              <a:t>–</a:t>
            </a:r>
            <a:r>
              <a:rPr lang="en-US" dirty="0"/>
              <a:t> Crashing Example</a:t>
            </a:r>
            <a:endParaRPr lang="en-US" altLang="ko-KR" dirty="0"/>
          </a:p>
        </p:txBody>
      </p:sp>
      <p:pic>
        <p:nvPicPr>
          <p:cNvPr id="136194" name="Picture 2"/>
          <p:cNvPicPr>
            <a:picLocks noChangeAspect="1" noChangeArrowheads="1"/>
          </p:cNvPicPr>
          <p:nvPr/>
        </p:nvPicPr>
        <p:blipFill rotWithShape="1">
          <a:blip r:embed="rId3" cstate="print"/>
          <a:srcRect t="-1" b="47544"/>
          <a:stretch/>
        </p:blipFill>
        <p:spPr bwMode="auto">
          <a:xfrm>
            <a:off x="5497071" y="1106844"/>
            <a:ext cx="6228259" cy="2315925"/>
          </a:xfrm>
          <a:prstGeom prst="rect">
            <a:avLst/>
          </a:prstGeom>
          <a:noFill/>
          <a:ln w="9525">
            <a:noFill/>
            <a:miter lim="800000"/>
            <a:headEnd/>
            <a:tailEnd/>
          </a:ln>
        </p:spPr>
      </p:pic>
      <p:grpSp>
        <p:nvGrpSpPr>
          <p:cNvPr id="5" name="Group 4"/>
          <p:cNvGrpSpPr/>
          <p:nvPr/>
        </p:nvGrpSpPr>
        <p:grpSpPr>
          <a:xfrm>
            <a:off x="466670" y="1106844"/>
            <a:ext cx="4509618" cy="2118841"/>
            <a:chOff x="2596834" y="2239978"/>
            <a:chExt cx="4509618" cy="2118841"/>
          </a:xfrm>
        </p:grpSpPr>
        <p:sp>
          <p:nvSpPr>
            <p:cNvPr id="6" name="Rectangle 5"/>
            <p:cNvSpPr/>
            <p:nvPr/>
          </p:nvSpPr>
          <p:spPr bwMode="auto">
            <a:xfrm>
              <a:off x="3598494" y="2612155"/>
              <a:ext cx="504056" cy="504056"/>
            </a:xfrm>
            <a:prstGeom prst="rect">
              <a:avLst/>
            </a:prstGeom>
            <a:no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r>
                <a:rPr kumimoji="1" lang="en-US" altLang="ko-KR" dirty="0">
                  <a:latin typeface="Malgun Gothic" charset="-127"/>
                  <a:ea typeface="Malgun Gothic" charset="-127"/>
                  <a:cs typeface="Malgun Gothic" charset="-127"/>
                </a:rPr>
                <a:t>A</a:t>
              </a:r>
              <a:endParaRPr kumimoji="1" lang="ko-KR" altLang="en-US" dirty="0">
                <a:latin typeface="Malgun Gothic" charset="-127"/>
                <a:ea typeface="Malgun Gothic" charset="-127"/>
                <a:cs typeface="Malgun Gothic" charset="-127"/>
              </a:endParaRPr>
            </a:p>
          </p:txBody>
        </p:sp>
        <p:sp>
          <p:nvSpPr>
            <p:cNvPr id="7" name="Rectangle 6"/>
            <p:cNvSpPr/>
            <p:nvPr/>
          </p:nvSpPr>
          <p:spPr bwMode="auto">
            <a:xfrm>
              <a:off x="3598158" y="3489725"/>
              <a:ext cx="504056" cy="504056"/>
            </a:xfrm>
            <a:prstGeom prst="rect">
              <a:avLst/>
            </a:prstGeom>
            <a:no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r>
                <a:rPr kumimoji="1" lang="en-US" altLang="ko-KR" dirty="0">
                  <a:latin typeface="Malgun Gothic" charset="-127"/>
                  <a:ea typeface="Malgun Gothic" charset="-127"/>
                  <a:cs typeface="Malgun Gothic" charset="-127"/>
                </a:rPr>
                <a:t>D</a:t>
              </a:r>
              <a:endParaRPr kumimoji="1" lang="ko-KR" altLang="en-US" dirty="0">
                <a:latin typeface="Malgun Gothic" charset="-127"/>
                <a:ea typeface="Malgun Gothic" charset="-127"/>
                <a:cs typeface="Malgun Gothic" charset="-127"/>
              </a:endParaRPr>
            </a:p>
          </p:txBody>
        </p:sp>
        <p:sp>
          <p:nvSpPr>
            <p:cNvPr id="8" name="Rectangle 7"/>
            <p:cNvSpPr/>
            <p:nvPr/>
          </p:nvSpPr>
          <p:spPr bwMode="auto">
            <a:xfrm>
              <a:off x="4599818" y="2612155"/>
              <a:ext cx="504056" cy="504056"/>
            </a:xfrm>
            <a:prstGeom prst="rect">
              <a:avLst/>
            </a:prstGeom>
            <a:no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r>
                <a:rPr kumimoji="1" lang="en-US" altLang="ko-KR" dirty="0">
                  <a:latin typeface="Malgun Gothic" charset="-127"/>
                  <a:ea typeface="Malgun Gothic" charset="-127"/>
                  <a:cs typeface="Malgun Gothic" charset="-127"/>
                </a:rPr>
                <a:t>B</a:t>
              </a:r>
              <a:endParaRPr kumimoji="1" lang="ko-KR" altLang="en-US" dirty="0">
                <a:latin typeface="Malgun Gothic" charset="-127"/>
                <a:ea typeface="Malgun Gothic" charset="-127"/>
                <a:cs typeface="Malgun Gothic" charset="-127"/>
              </a:endParaRPr>
            </a:p>
          </p:txBody>
        </p:sp>
        <p:sp>
          <p:nvSpPr>
            <p:cNvPr id="9" name="Rectangle 8"/>
            <p:cNvSpPr/>
            <p:nvPr/>
          </p:nvSpPr>
          <p:spPr bwMode="auto">
            <a:xfrm>
              <a:off x="5601142" y="2609310"/>
              <a:ext cx="504056" cy="504056"/>
            </a:xfrm>
            <a:prstGeom prst="rect">
              <a:avLst/>
            </a:prstGeom>
            <a:no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r>
                <a:rPr kumimoji="1" lang="en-US" altLang="ko-KR" dirty="0">
                  <a:latin typeface="Malgun Gothic" charset="-127"/>
                  <a:ea typeface="Malgun Gothic" charset="-127"/>
                  <a:cs typeface="Malgun Gothic" charset="-127"/>
                </a:rPr>
                <a:t>C</a:t>
              </a:r>
              <a:endParaRPr kumimoji="1" lang="ko-KR" altLang="en-US" dirty="0">
                <a:latin typeface="Malgun Gothic" charset="-127"/>
                <a:ea typeface="Malgun Gothic" charset="-127"/>
                <a:cs typeface="Malgun Gothic" charset="-127"/>
              </a:endParaRPr>
            </a:p>
          </p:txBody>
        </p:sp>
        <p:sp>
          <p:nvSpPr>
            <p:cNvPr id="10" name="Rectangle 9"/>
            <p:cNvSpPr/>
            <p:nvPr/>
          </p:nvSpPr>
          <p:spPr bwMode="auto">
            <a:xfrm>
              <a:off x="4599748" y="3486880"/>
              <a:ext cx="504056" cy="504056"/>
            </a:xfrm>
            <a:prstGeom prst="rect">
              <a:avLst/>
            </a:prstGeom>
            <a:no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r>
                <a:rPr kumimoji="1" lang="en-US" altLang="ko-KR" dirty="0">
                  <a:latin typeface="Malgun Gothic" charset="-127"/>
                  <a:ea typeface="Malgun Gothic" charset="-127"/>
                  <a:cs typeface="Malgun Gothic" charset="-127"/>
                </a:rPr>
                <a:t>E</a:t>
              </a:r>
              <a:endParaRPr kumimoji="1" lang="ko-KR" altLang="en-US" dirty="0">
                <a:latin typeface="Malgun Gothic" charset="-127"/>
                <a:ea typeface="Malgun Gothic" charset="-127"/>
                <a:cs typeface="Malgun Gothic" charset="-127"/>
              </a:endParaRPr>
            </a:p>
          </p:txBody>
        </p:sp>
        <p:sp>
          <p:nvSpPr>
            <p:cNvPr id="11" name="Rectangle 10"/>
            <p:cNvSpPr/>
            <p:nvPr/>
          </p:nvSpPr>
          <p:spPr bwMode="auto">
            <a:xfrm>
              <a:off x="5601072" y="3484035"/>
              <a:ext cx="504056" cy="504056"/>
            </a:xfrm>
            <a:prstGeom prst="rect">
              <a:avLst/>
            </a:prstGeom>
            <a:no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r>
                <a:rPr kumimoji="1" lang="en-US" altLang="ko-KR" dirty="0">
                  <a:latin typeface="Malgun Gothic" charset="-127"/>
                  <a:ea typeface="Malgun Gothic" charset="-127"/>
                  <a:cs typeface="Malgun Gothic" charset="-127"/>
                </a:rPr>
                <a:t>F</a:t>
              </a:r>
              <a:endParaRPr kumimoji="1" lang="ko-KR" altLang="en-US" dirty="0">
                <a:latin typeface="Malgun Gothic" charset="-127"/>
                <a:ea typeface="Malgun Gothic" charset="-127"/>
                <a:cs typeface="Malgun Gothic" charset="-127"/>
              </a:endParaRPr>
            </a:p>
          </p:txBody>
        </p:sp>
        <p:sp>
          <p:nvSpPr>
            <p:cNvPr id="12" name="Rectangle 11"/>
            <p:cNvSpPr/>
            <p:nvPr/>
          </p:nvSpPr>
          <p:spPr bwMode="auto">
            <a:xfrm>
              <a:off x="2596834" y="3032956"/>
              <a:ext cx="504056" cy="504056"/>
            </a:xfrm>
            <a:prstGeom prst="rect">
              <a:avLst/>
            </a:prstGeom>
            <a:no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r>
                <a:rPr kumimoji="1" lang="en-US" altLang="ko-KR" sz="1200">
                  <a:latin typeface="Malgun Gothic" charset="-127"/>
                  <a:ea typeface="Malgun Gothic" charset="-127"/>
                  <a:cs typeface="Malgun Gothic" charset="-127"/>
                </a:rPr>
                <a:t>Begin</a:t>
              </a:r>
              <a:endParaRPr kumimoji="1" lang="ko-KR" altLang="en-US" sz="1200" dirty="0">
                <a:latin typeface="Malgun Gothic" charset="-127"/>
                <a:ea typeface="Malgun Gothic" charset="-127"/>
                <a:cs typeface="Malgun Gothic" charset="-127"/>
              </a:endParaRPr>
            </a:p>
          </p:txBody>
        </p:sp>
        <p:sp>
          <p:nvSpPr>
            <p:cNvPr id="13" name="Rectangle 12"/>
            <p:cNvSpPr/>
            <p:nvPr/>
          </p:nvSpPr>
          <p:spPr bwMode="auto">
            <a:xfrm>
              <a:off x="6602396" y="3032956"/>
              <a:ext cx="504056" cy="504056"/>
            </a:xfrm>
            <a:prstGeom prst="rect">
              <a:avLst/>
            </a:prstGeom>
            <a:noFill/>
            <a:ln w="12700" cap="flat" cmpd="sng" algn="ctr">
              <a:solidFill>
                <a:schemeClr val="tx1"/>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r>
                <a:rPr kumimoji="1" lang="en-US" altLang="ko-KR" sz="1200" dirty="0">
                  <a:latin typeface="Malgun Gothic" charset="-127"/>
                  <a:ea typeface="Malgun Gothic" charset="-127"/>
                  <a:cs typeface="Malgun Gothic" charset="-127"/>
                </a:rPr>
                <a:t>End</a:t>
              </a:r>
              <a:endParaRPr kumimoji="1" lang="ko-KR" altLang="en-US" sz="1200" dirty="0">
                <a:latin typeface="Malgun Gothic" charset="-127"/>
                <a:ea typeface="Malgun Gothic" charset="-127"/>
                <a:cs typeface="Malgun Gothic" charset="-127"/>
              </a:endParaRPr>
            </a:p>
          </p:txBody>
        </p:sp>
        <p:cxnSp>
          <p:nvCxnSpPr>
            <p:cNvPr id="14" name="Straight Arrow Connector 13"/>
            <p:cNvCxnSpPr/>
            <p:nvPr/>
          </p:nvCxnSpPr>
          <p:spPr bwMode="auto">
            <a:xfrm flipV="1">
              <a:off x="3100890" y="2864183"/>
              <a:ext cx="497604" cy="420801"/>
            </a:xfrm>
            <a:prstGeom prst="straightConnector1">
              <a:avLst/>
            </a:prstGeom>
            <a:noFill/>
            <a:ln w="19050" cap="flat" cmpd="sng" algn="ctr">
              <a:solidFill>
                <a:schemeClr val="tx1"/>
              </a:solidFill>
              <a:prstDash val="solid"/>
              <a:round/>
              <a:headEnd type="none" w="med" len="med"/>
              <a:tailEnd type="triangle"/>
            </a:ln>
            <a:effectLst/>
          </p:spPr>
        </p:cxnSp>
        <p:cxnSp>
          <p:nvCxnSpPr>
            <p:cNvPr id="15" name="Straight Arrow Connector 14"/>
            <p:cNvCxnSpPr/>
            <p:nvPr/>
          </p:nvCxnSpPr>
          <p:spPr bwMode="auto">
            <a:xfrm>
              <a:off x="3100890" y="3284984"/>
              <a:ext cx="497268" cy="456769"/>
            </a:xfrm>
            <a:prstGeom prst="straightConnector1">
              <a:avLst/>
            </a:prstGeom>
            <a:noFill/>
            <a:ln w="38100" cap="flat" cmpd="sng" algn="ctr">
              <a:solidFill>
                <a:srgbClr val="FF0000"/>
              </a:solidFill>
              <a:prstDash val="solid"/>
              <a:round/>
              <a:headEnd type="none" w="med" len="med"/>
              <a:tailEnd type="triangle"/>
            </a:ln>
            <a:effectLst/>
          </p:spPr>
        </p:cxnSp>
        <p:cxnSp>
          <p:nvCxnSpPr>
            <p:cNvPr id="16" name="Straight Arrow Connector 15"/>
            <p:cNvCxnSpPr/>
            <p:nvPr/>
          </p:nvCxnSpPr>
          <p:spPr bwMode="auto">
            <a:xfrm>
              <a:off x="4102550" y="2864183"/>
              <a:ext cx="497268" cy="0"/>
            </a:xfrm>
            <a:prstGeom prst="straightConnector1">
              <a:avLst/>
            </a:prstGeom>
            <a:noFill/>
            <a:ln w="19050" cap="flat" cmpd="sng" algn="ctr">
              <a:solidFill>
                <a:schemeClr val="tx1"/>
              </a:solidFill>
              <a:prstDash val="solid"/>
              <a:round/>
              <a:headEnd type="none" w="med" len="med"/>
              <a:tailEnd type="triangle"/>
            </a:ln>
            <a:effectLst/>
          </p:spPr>
        </p:cxnSp>
        <p:cxnSp>
          <p:nvCxnSpPr>
            <p:cNvPr id="17" name="Straight Arrow Connector 16"/>
            <p:cNvCxnSpPr/>
            <p:nvPr/>
          </p:nvCxnSpPr>
          <p:spPr bwMode="auto">
            <a:xfrm flipV="1">
              <a:off x="5103874" y="2861338"/>
              <a:ext cx="497268" cy="2845"/>
            </a:xfrm>
            <a:prstGeom prst="straightConnector1">
              <a:avLst/>
            </a:prstGeom>
            <a:noFill/>
            <a:ln w="19050" cap="flat" cmpd="sng" algn="ctr">
              <a:solidFill>
                <a:schemeClr val="tx1"/>
              </a:solidFill>
              <a:prstDash val="solid"/>
              <a:round/>
              <a:headEnd type="none" w="med" len="med"/>
              <a:tailEnd type="triangle"/>
            </a:ln>
            <a:effectLst/>
          </p:spPr>
        </p:cxnSp>
        <p:cxnSp>
          <p:nvCxnSpPr>
            <p:cNvPr id="18" name="Straight Arrow Connector 17"/>
            <p:cNvCxnSpPr/>
            <p:nvPr/>
          </p:nvCxnSpPr>
          <p:spPr bwMode="auto">
            <a:xfrm>
              <a:off x="6105198" y="2861338"/>
              <a:ext cx="497198" cy="423646"/>
            </a:xfrm>
            <a:prstGeom prst="straightConnector1">
              <a:avLst/>
            </a:prstGeom>
            <a:noFill/>
            <a:ln w="19050" cap="flat" cmpd="sng" algn="ctr">
              <a:solidFill>
                <a:schemeClr val="tx1"/>
              </a:solidFill>
              <a:prstDash val="solid"/>
              <a:round/>
              <a:headEnd type="none" w="med" len="med"/>
              <a:tailEnd type="triangle"/>
            </a:ln>
            <a:effectLst/>
          </p:spPr>
        </p:cxnSp>
        <p:cxnSp>
          <p:nvCxnSpPr>
            <p:cNvPr id="19" name="Straight Arrow Connector 18"/>
            <p:cNvCxnSpPr/>
            <p:nvPr/>
          </p:nvCxnSpPr>
          <p:spPr bwMode="auto">
            <a:xfrm flipV="1">
              <a:off x="4102214" y="3738908"/>
              <a:ext cx="497534" cy="2845"/>
            </a:xfrm>
            <a:prstGeom prst="straightConnector1">
              <a:avLst/>
            </a:prstGeom>
            <a:noFill/>
            <a:ln w="38100" cap="flat" cmpd="sng" algn="ctr">
              <a:solidFill>
                <a:srgbClr val="FF0000"/>
              </a:solidFill>
              <a:prstDash val="solid"/>
              <a:round/>
              <a:headEnd type="none" w="med" len="med"/>
              <a:tailEnd type="triangle"/>
            </a:ln>
            <a:effectLst/>
          </p:spPr>
        </p:cxnSp>
        <p:cxnSp>
          <p:nvCxnSpPr>
            <p:cNvPr id="20" name="Straight Arrow Connector 19"/>
            <p:cNvCxnSpPr/>
            <p:nvPr/>
          </p:nvCxnSpPr>
          <p:spPr bwMode="auto">
            <a:xfrm flipV="1">
              <a:off x="5103804" y="3736063"/>
              <a:ext cx="497268" cy="2845"/>
            </a:xfrm>
            <a:prstGeom prst="straightConnector1">
              <a:avLst/>
            </a:prstGeom>
            <a:noFill/>
            <a:ln w="38100" cap="flat" cmpd="sng" algn="ctr">
              <a:solidFill>
                <a:srgbClr val="FF0000"/>
              </a:solidFill>
              <a:prstDash val="solid"/>
              <a:round/>
              <a:headEnd type="none" w="med" len="med"/>
              <a:tailEnd type="triangle"/>
            </a:ln>
            <a:effectLst/>
          </p:spPr>
        </p:cxnSp>
        <p:cxnSp>
          <p:nvCxnSpPr>
            <p:cNvPr id="21" name="Straight Arrow Connector 20"/>
            <p:cNvCxnSpPr/>
            <p:nvPr/>
          </p:nvCxnSpPr>
          <p:spPr bwMode="auto">
            <a:xfrm flipV="1">
              <a:off x="6105128" y="3284984"/>
              <a:ext cx="497268" cy="451079"/>
            </a:xfrm>
            <a:prstGeom prst="straightConnector1">
              <a:avLst/>
            </a:prstGeom>
            <a:noFill/>
            <a:ln w="38100" cap="flat" cmpd="sng" algn="ctr">
              <a:solidFill>
                <a:srgbClr val="FF0000"/>
              </a:solidFill>
              <a:prstDash val="solid"/>
              <a:round/>
              <a:headEnd type="none" w="med" len="med"/>
              <a:tailEnd type="triangle"/>
            </a:ln>
            <a:effectLst/>
          </p:spPr>
        </p:cxnSp>
        <p:sp>
          <p:nvSpPr>
            <p:cNvPr id="22" name="TextBox 21"/>
            <p:cNvSpPr txBox="1"/>
            <p:nvPr/>
          </p:nvSpPr>
          <p:spPr>
            <a:xfrm>
              <a:off x="3694534" y="2246209"/>
              <a:ext cx="311304" cy="369332"/>
            </a:xfrm>
            <a:prstGeom prst="rect">
              <a:avLst/>
            </a:prstGeom>
            <a:noFill/>
          </p:spPr>
          <p:txBody>
            <a:bodyPr wrap="none" rtlCol="0">
              <a:spAutoFit/>
            </a:bodyPr>
            <a:lstStyle/>
            <a:p>
              <a:pPr algn="ctr"/>
              <a:r>
                <a:rPr kumimoji="1" lang="en-US" altLang="ko-KR" dirty="0">
                  <a:latin typeface="Malgun Gothic" charset="-127"/>
                  <a:ea typeface="Malgun Gothic" charset="-127"/>
                  <a:cs typeface="Malgun Gothic" charset="-127"/>
                </a:rPr>
                <a:t>3</a:t>
              </a:r>
              <a:endParaRPr kumimoji="1" lang="en-US" dirty="0">
                <a:latin typeface="Malgun Gothic" charset="-127"/>
                <a:ea typeface="Malgun Gothic" charset="-127"/>
                <a:cs typeface="Malgun Gothic" charset="-127"/>
              </a:endParaRPr>
            </a:p>
          </p:txBody>
        </p:sp>
        <p:sp>
          <p:nvSpPr>
            <p:cNvPr id="23" name="TextBox 22"/>
            <p:cNvSpPr txBox="1"/>
            <p:nvPr/>
          </p:nvSpPr>
          <p:spPr>
            <a:xfrm>
              <a:off x="4683341" y="2243305"/>
              <a:ext cx="311304" cy="369332"/>
            </a:xfrm>
            <a:prstGeom prst="rect">
              <a:avLst/>
            </a:prstGeom>
            <a:noFill/>
          </p:spPr>
          <p:txBody>
            <a:bodyPr wrap="none" rtlCol="0">
              <a:spAutoFit/>
            </a:bodyPr>
            <a:lstStyle/>
            <a:p>
              <a:pPr algn="ctr"/>
              <a:r>
                <a:rPr kumimoji="1" lang="en-US" altLang="ko-KR" dirty="0">
                  <a:latin typeface="Malgun Gothic" charset="-127"/>
                  <a:ea typeface="Malgun Gothic" charset="-127"/>
                  <a:cs typeface="Malgun Gothic" charset="-127"/>
                </a:rPr>
                <a:t>4</a:t>
              </a:r>
              <a:endParaRPr kumimoji="1" lang="en-US" dirty="0">
                <a:latin typeface="Malgun Gothic" charset="-127"/>
                <a:ea typeface="Malgun Gothic" charset="-127"/>
                <a:cs typeface="Malgun Gothic" charset="-127"/>
              </a:endParaRPr>
            </a:p>
          </p:txBody>
        </p:sp>
        <p:sp>
          <p:nvSpPr>
            <p:cNvPr id="24" name="TextBox 23"/>
            <p:cNvSpPr txBox="1"/>
            <p:nvPr/>
          </p:nvSpPr>
          <p:spPr>
            <a:xfrm>
              <a:off x="5731263" y="2239978"/>
              <a:ext cx="311304" cy="369332"/>
            </a:xfrm>
            <a:prstGeom prst="rect">
              <a:avLst/>
            </a:prstGeom>
            <a:noFill/>
          </p:spPr>
          <p:txBody>
            <a:bodyPr wrap="none" rtlCol="0">
              <a:spAutoFit/>
            </a:bodyPr>
            <a:lstStyle/>
            <a:p>
              <a:pPr algn="ctr"/>
              <a:r>
                <a:rPr kumimoji="1" lang="en-US" altLang="ko-KR" dirty="0">
                  <a:latin typeface="Malgun Gothic" charset="-127"/>
                  <a:ea typeface="Malgun Gothic" charset="-127"/>
                  <a:cs typeface="Malgun Gothic" charset="-127"/>
                </a:rPr>
                <a:t>3</a:t>
              </a:r>
              <a:endParaRPr kumimoji="1" lang="en-US" dirty="0">
                <a:latin typeface="Malgun Gothic" charset="-127"/>
                <a:ea typeface="Malgun Gothic" charset="-127"/>
                <a:cs typeface="Malgun Gothic" charset="-127"/>
              </a:endParaRPr>
            </a:p>
          </p:txBody>
        </p:sp>
        <p:sp>
          <p:nvSpPr>
            <p:cNvPr id="25" name="TextBox 24"/>
            <p:cNvSpPr txBox="1"/>
            <p:nvPr/>
          </p:nvSpPr>
          <p:spPr>
            <a:xfrm>
              <a:off x="3694534" y="3989487"/>
              <a:ext cx="311304" cy="369332"/>
            </a:xfrm>
            <a:prstGeom prst="rect">
              <a:avLst/>
            </a:prstGeom>
            <a:noFill/>
          </p:spPr>
          <p:txBody>
            <a:bodyPr wrap="none" rtlCol="0">
              <a:spAutoFit/>
            </a:bodyPr>
            <a:lstStyle/>
            <a:p>
              <a:pPr algn="ctr"/>
              <a:r>
                <a:rPr kumimoji="1" lang="en-US" altLang="ko-KR" dirty="0">
                  <a:latin typeface="Malgun Gothic" charset="-127"/>
                  <a:ea typeface="Malgun Gothic" charset="-127"/>
                  <a:cs typeface="Malgun Gothic" charset="-127"/>
                </a:rPr>
                <a:t>3</a:t>
              </a:r>
              <a:endParaRPr kumimoji="1" lang="en-US" dirty="0">
                <a:latin typeface="Malgun Gothic" charset="-127"/>
                <a:ea typeface="Malgun Gothic" charset="-127"/>
                <a:cs typeface="Malgun Gothic" charset="-127"/>
              </a:endParaRPr>
            </a:p>
          </p:txBody>
        </p:sp>
        <p:sp>
          <p:nvSpPr>
            <p:cNvPr id="26" name="TextBox 25"/>
            <p:cNvSpPr txBox="1"/>
            <p:nvPr/>
          </p:nvSpPr>
          <p:spPr>
            <a:xfrm>
              <a:off x="4683341" y="3986583"/>
              <a:ext cx="311304" cy="369332"/>
            </a:xfrm>
            <a:prstGeom prst="rect">
              <a:avLst/>
            </a:prstGeom>
            <a:noFill/>
          </p:spPr>
          <p:txBody>
            <a:bodyPr wrap="none" rtlCol="0">
              <a:spAutoFit/>
            </a:bodyPr>
            <a:lstStyle/>
            <a:p>
              <a:pPr algn="ctr"/>
              <a:r>
                <a:rPr kumimoji="1" lang="en-US" altLang="ko-KR" dirty="0">
                  <a:latin typeface="Malgun Gothic" charset="-127"/>
                  <a:ea typeface="Malgun Gothic" charset="-127"/>
                  <a:cs typeface="Malgun Gothic" charset="-127"/>
                </a:rPr>
                <a:t>6</a:t>
              </a:r>
              <a:endParaRPr kumimoji="1" lang="en-US" dirty="0">
                <a:latin typeface="Malgun Gothic" charset="-127"/>
                <a:ea typeface="Malgun Gothic" charset="-127"/>
                <a:cs typeface="Malgun Gothic" charset="-127"/>
              </a:endParaRPr>
            </a:p>
          </p:txBody>
        </p:sp>
        <p:sp>
          <p:nvSpPr>
            <p:cNvPr id="27" name="TextBox 26"/>
            <p:cNvSpPr txBox="1"/>
            <p:nvPr/>
          </p:nvSpPr>
          <p:spPr>
            <a:xfrm>
              <a:off x="5731263" y="3983256"/>
              <a:ext cx="311304" cy="369332"/>
            </a:xfrm>
            <a:prstGeom prst="rect">
              <a:avLst/>
            </a:prstGeom>
            <a:noFill/>
          </p:spPr>
          <p:txBody>
            <a:bodyPr wrap="none" rtlCol="0">
              <a:spAutoFit/>
            </a:bodyPr>
            <a:lstStyle/>
            <a:p>
              <a:pPr algn="ctr"/>
              <a:r>
                <a:rPr kumimoji="1" lang="en-US" altLang="ko-KR" dirty="0">
                  <a:latin typeface="Malgun Gothic" charset="-127"/>
                  <a:ea typeface="Malgun Gothic" charset="-127"/>
                  <a:cs typeface="Malgun Gothic" charset="-127"/>
                </a:rPr>
                <a:t>4</a:t>
              </a:r>
              <a:endParaRPr kumimoji="1" lang="en-US" dirty="0">
                <a:latin typeface="Malgun Gothic" charset="-127"/>
                <a:ea typeface="Malgun Gothic" charset="-127"/>
                <a:cs typeface="Malgun Gothic" charset="-127"/>
              </a:endParaRPr>
            </a:p>
          </p:txBody>
        </p:sp>
      </p:grpSp>
      <p:pic>
        <p:nvPicPr>
          <p:cNvPr id="2" name="Picture 2">
            <a:extLst>
              <a:ext uri="{FF2B5EF4-FFF2-40B4-BE49-F238E27FC236}">
                <a16:creationId xmlns:a16="http://schemas.microsoft.com/office/drawing/2014/main" id="{1B33ADDE-D9F7-5BE7-2AC3-93DF0D4735C2}"/>
              </a:ext>
            </a:extLst>
          </p:cNvPr>
          <p:cNvPicPr>
            <a:picLocks noChangeAspect="1" noChangeArrowheads="1"/>
          </p:cNvPicPr>
          <p:nvPr/>
        </p:nvPicPr>
        <p:blipFill rotWithShape="1">
          <a:blip r:embed="rId4" cstate="print"/>
          <a:srcRect t="7820" b="-2106"/>
          <a:stretch/>
        </p:blipFill>
        <p:spPr bwMode="auto">
          <a:xfrm>
            <a:off x="2331510" y="3749187"/>
            <a:ext cx="7021546" cy="2979539"/>
          </a:xfrm>
          <a:prstGeom prst="rect">
            <a:avLst/>
          </a:prstGeom>
          <a:noFill/>
          <a:ln w="9525">
            <a:noFill/>
            <a:miter lim="800000"/>
            <a:headEnd/>
            <a:tailEnd/>
          </a:ln>
        </p:spPr>
      </p:pic>
      <p:sp>
        <p:nvSpPr>
          <p:cNvPr id="28" name="Oval 27">
            <a:extLst>
              <a:ext uri="{FF2B5EF4-FFF2-40B4-BE49-F238E27FC236}">
                <a16:creationId xmlns:a16="http://schemas.microsoft.com/office/drawing/2014/main" id="{625ED500-DE45-AC82-3E76-65115D773BFB}"/>
              </a:ext>
            </a:extLst>
          </p:cNvPr>
          <p:cNvSpPr/>
          <p:nvPr/>
        </p:nvSpPr>
        <p:spPr bwMode="auto">
          <a:xfrm>
            <a:off x="2239529" y="4198988"/>
            <a:ext cx="1123157" cy="504056"/>
          </a:xfrm>
          <a:prstGeom prst="ellipse">
            <a:avLst/>
          </a:prstGeom>
          <a:noFill/>
          <a:ln w="12700" cap="flat" cmpd="sng" algn="ctr">
            <a:solidFill>
              <a:srgbClr val="0000FF"/>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endParaRPr kumimoji="1" lang="ko-KR" altLang="en-US">
              <a:latin typeface="Malgun Gothic" charset="-127"/>
              <a:ea typeface="Malgun Gothic" charset="-127"/>
              <a:cs typeface="Malgun Gothic" charset="-127"/>
            </a:endParaRPr>
          </a:p>
        </p:txBody>
      </p:sp>
      <p:sp>
        <p:nvSpPr>
          <p:cNvPr id="29" name="TextBox 28">
            <a:extLst>
              <a:ext uri="{FF2B5EF4-FFF2-40B4-BE49-F238E27FC236}">
                <a16:creationId xmlns:a16="http://schemas.microsoft.com/office/drawing/2014/main" id="{8C154ABA-CF48-1FCD-48ED-2BE5BE952BF5}"/>
              </a:ext>
            </a:extLst>
          </p:cNvPr>
          <p:cNvSpPr txBox="1"/>
          <p:nvPr/>
        </p:nvSpPr>
        <p:spPr>
          <a:xfrm>
            <a:off x="695400" y="4245177"/>
            <a:ext cx="1394206" cy="430887"/>
          </a:xfrm>
          <a:prstGeom prst="rect">
            <a:avLst/>
          </a:prstGeom>
          <a:noFill/>
        </p:spPr>
        <p:txBody>
          <a:bodyPr wrap="square" rtlCol="0">
            <a:spAutoFit/>
          </a:bodyPr>
          <a:lstStyle/>
          <a:p>
            <a:r>
              <a:rPr kumimoji="1" lang="en-US" altLang="ko-KR" sz="1100" dirty="0">
                <a:latin typeface="Malgun Gothic" charset="-127"/>
                <a:ea typeface="Malgun Gothic" charset="-127"/>
                <a:cs typeface="Malgun Gothic" charset="-127"/>
              </a:rPr>
              <a:t>Critical task </a:t>
            </a:r>
            <a:r>
              <a:rPr kumimoji="1" lang="ko-KR" altLang="en-US" sz="1100" dirty="0">
                <a:latin typeface="Malgun Gothic" charset="-127"/>
                <a:ea typeface="Malgun Gothic" charset="-127"/>
                <a:cs typeface="Malgun Gothic" charset="-127"/>
              </a:rPr>
              <a:t>중에 최소 일정단축비용</a:t>
            </a:r>
          </a:p>
        </p:txBody>
      </p:sp>
      <p:sp>
        <p:nvSpPr>
          <p:cNvPr id="30" name="TextBox 29">
            <a:extLst>
              <a:ext uri="{FF2B5EF4-FFF2-40B4-BE49-F238E27FC236}">
                <a16:creationId xmlns:a16="http://schemas.microsoft.com/office/drawing/2014/main" id="{72DF1E3D-E55B-E11E-4BF5-F61AE6F3BD54}"/>
              </a:ext>
            </a:extLst>
          </p:cNvPr>
          <p:cNvSpPr txBox="1"/>
          <p:nvPr/>
        </p:nvSpPr>
        <p:spPr>
          <a:xfrm>
            <a:off x="9353055" y="4244831"/>
            <a:ext cx="957313" cy="261610"/>
          </a:xfrm>
          <a:prstGeom prst="rect">
            <a:avLst/>
          </a:prstGeom>
          <a:noFill/>
        </p:spPr>
        <p:txBody>
          <a:bodyPr wrap="none" rtlCol="0">
            <a:spAutoFit/>
          </a:bodyPr>
          <a:lstStyle/>
          <a:p>
            <a:r>
              <a:rPr kumimoji="1" lang="en-US" altLang="ko-KR" sz="1100">
                <a:latin typeface="Malgun Gothic" charset="-127"/>
                <a:ea typeface="Malgun Gothic" charset="-127"/>
                <a:cs typeface="Malgun Gothic" charset="-127"/>
              </a:rPr>
              <a:t>Critical path</a:t>
            </a:r>
            <a:endParaRPr kumimoji="1" lang="ko-KR" altLang="en-US" sz="1100" dirty="0">
              <a:latin typeface="Malgun Gothic" charset="-127"/>
              <a:ea typeface="Malgun Gothic" charset="-127"/>
              <a:cs typeface="Malgun Gothic" charset="-127"/>
            </a:endParaRPr>
          </a:p>
        </p:txBody>
      </p:sp>
      <p:cxnSp>
        <p:nvCxnSpPr>
          <p:cNvPr id="31" name="Straight Arrow Connector 30">
            <a:extLst>
              <a:ext uri="{FF2B5EF4-FFF2-40B4-BE49-F238E27FC236}">
                <a16:creationId xmlns:a16="http://schemas.microsoft.com/office/drawing/2014/main" id="{5C75B314-DB40-4E86-538F-04EE3DDE0F0F}"/>
              </a:ext>
            </a:extLst>
          </p:cNvPr>
          <p:cNvCxnSpPr>
            <a:stCxn id="30" idx="1"/>
          </p:cNvCxnSpPr>
          <p:nvPr/>
        </p:nvCxnSpPr>
        <p:spPr bwMode="auto">
          <a:xfrm flipH="1">
            <a:off x="9067732" y="4375636"/>
            <a:ext cx="285322" cy="0"/>
          </a:xfrm>
          <a:prstGeom prst="straightConnector1">
            <a:avLst/>
          </a:prstGeom>
          <a:noFill/>
          <a:ln w="19050" cap="flat" cmpd="sng" algn="ctr">
            <a:solidFill>
              <a:schemeClr val="tx1"/>
            </a:solidFill>
            <a:prstDash val="solid"/>
            <a:round/>
            <a:headEnd type="none" w="med" len="med"/>
            <a:tailEnd type="arrow" w="med" len="med"/>
          </a:ln>
          <a:effectLst/>
        </p:spPr>
      </p:cxnSp>
      <p:sp>
        <p:nvSpPr>
          <p:cNvPr id="32" name="TextBox 31">
            <a:extLst>
              <a:ext uri="{FF2B5EF4-FFF2-40B4-BE49-F238E27FC236}">
                <a16:creationId xmlns:a16="http://schemas.microsoft.com/office/drawing/2014/main" id="{14B634AB-5C9C-7101-AD66-59D51E1BF953}"/>
              </a:ext>
            </a:extLst>
          </p:cNvPr>
          <p:cNvSpPr txBox="1"/>
          <p:nvPr/>
        </p:nvSpPr>
        <p:spPr>
          <a:xfrm>
            <a:off x="9353056" y="4871279"/>
            <a:ext cx="957313" cy="261610"/>
          </a:xfrm>
          <a:prstGeom prst="rect">
            <a:avLst/>
          </a:prstGeom>
          <a:noFill/>
        </p:spPr>
        <p:txBody>
          <a:bodyPr wrap="none" rtlCol="0">
            <a:spAutoFit/>
          </a:bodyPr>
          <a:lstStyle/>
          <a:p>
            <a:r>
              <a:rPr kumimoji="1" lang="en-US" altLang="ko-KR" sz="1100">
                <a:latin typeface="Malgun Gothic" charset="-127"/>
                <a:ea typeface="Malgun Gothic" charset="-127"/>
                <a:cs typeface="Malgun Gothic" charset="-127"/>
              </a:rPr>
              <a:t>Critical path</a:t>
            </a:r>
            <a:endParaRPr kumimoji="1" lang="ko-KR" altLang="en-US" sz="1100" dirty="0">
              <a:latin typeface="Malgun Gothic" charset="-127"/>
              <a:ea typeface="Malgun Gothic" charset="-127"/>
              <a:cs typeface="Malgun Gothic" charset="-127"/>
            </a:endParaRPr>
          </a:p>
        </p:txBody>
      </p:sp>
      <p:cxnSp>
        <p:nvCxnSpPr>
          <p:cNvPr id="33" name="Straight Arrow Connector 32">
            <a:extLst>
              <a:ext uri="{FF2B5EF4-FFF2-40B4-BE49-F238E27FC236}">
                <a16:creationId xmlns:a16="http://schemas.microsoft.com/office/drawing/2014/main" id="{A6D72127-4E65-2AE6-07D7-4BC2D0218EDD}"/>
              </a:ext>
            </a:extLst>
          </p:cNvPr>
          <p:cNvCxnSpPr>
            <a:stCxn id="32" idx="1"/>
          </p:cNvCxnSpPr>
          <p:nvPr/>
        </p:nvCxnSpPr>
        <p:spPr bwMode="auto">
          <a:xfrm flipH="1" flipV="1">
            <a:off x="9029777" y="4871280"/>
            <a:ext cx="323278" cy="130804"/>
          </a:xfrm>
          <a:prstGeom prst="straightConnector1">
            <a:avLst/>
          </a:prstGeom>
          <a:noFill/>
          <a:ln w="19050" cap="flat" cmpd="sng" algn="ctr">
            <a:solidFill>
              <a:schemeClr val="tx1"/>
            </a:solidFill>
            <a:prstDash val="solid"/>
            <a:round/>
            <a:headEnd type="none" w="med" len="med"/>
            <a:tailEnd type="arrow" w="med" len="med"/>
          </a:ln>
          <a:effectLst/>
        </p:spPr>
      </p:cxnSp>
      <p:cxnSp>
        <p:nvCxnSpPr>
          <p:cNvPr id="34" name="Straight Arrow Connector 33">
            <a:extLst>
              <a:ext uri="{FF2B5EF4-FFF2-40B4-BE49-F238E27FC236}">
                <a16:creationId xmlns:a16="http://schemas.microsoft.com/office/drawing/2014/main" id="{206D4902-3CFD-0FBA-2D83-E27D1BB7D318}"/>
              </a:ext>
            </a:extLst>
          </p:cNvPr>
          <p:cNvCxnSpPr>
            <a:stCxn id="32" idx="1"/>
          </p:cNvCxnSpPr>
          <p:nvPr/>
        </p:nvCxnSpPr>
        <p:spPr bwMode="auto">
          <a:xfrm flipH="1">
            <a:off x="9029777" y="5002085"/>
            <a:ext cx="323279" cy="174581"/>
          </a:xfrm>
          <a:prstGeom prst="straightConnector1">
            <a:avLst/>
          </a:prstGeom>
          <a:noFill/>
          <a:ln w="19050" cap="flat" cmpd="sng" algn="ctr">
            <a:solidFill>
              <a:schemeClr val="tx1"/>
            </a:solidFill>
            <a:prstDash val="solid"/>
            <a:round/>
            <a:headEnd type="none" w="med" len="med"/>
            <a:tailEnd type="arrow" w="med" len="med"/>
          </a:ln>
          <a:effectLst/>
        </p:spPr>
      </p:cxnSp>
      <p:sp>
        <p:nvSpPr>
          <p:cNvPr id="35" name="Oval 34">
            <a:extLst>
              <a:ext uri="{FF2B5EF4-FFF2-40B4-BE49-F238E27FC236}">
                <a16:creationId xmlns:a16="http://schemas.microsoft.com/office/drawing/2014/main" id="{1FDA96F6-BBA9-7315-9681-AAEF332E3121}"/>
              </a:ext>
            </a:extLst>
          </p:cNvPr>
          <p:cNvSpPr/>
          <p:nvPr/>
        </p:nvSpPr>
        <p:spPr bwMode="auto">
          <a:xfrm>
            <a:off x="2239529" y="5284172"/>
            <a:ext cx="1123157" cy="504056"/>
          </a:xfrm>
          <a:prstGeom prst="ellipse">
            <a:avLst/>
          </a:prstGeom>
          <a:noFill/>
          <a:ln w="12700" cap="flat" cmpd="sng" algn="ctr">
            <a:solidFill>
              <a:srgbClr val="0000FF"/>
            </a:solidFill>
            <a:prstDash val="solid"/>
            <a:round/>
            <a:headEnd type="none" w="med" len="med"/>
            <a:tailEnd type="none" w="med" len="med"/>
          </a:ln>
          <a:effectLst/>
        </p:spPr>
        <p:txBody>
          <a:bodyPr vert="horz" wrap="square" lIns="54000" tIns="45720" rIns="54000" bIns="45720" numCol="1" rtlCol="0" anchor="ctr" anchorCtr="0" compatLnSpc="1">
            <a:prstTxWarp prst="textNoShape">
              <a:avLst/>
            </a:prstTxWarp>
          </a:bodyPr>
          <a:lstStyle/>
          <a:p>
            <a:pPr algn="ctr" fontAlgn="base" latinLnBrk="1">
              <a:spcBef>
                <a:spcPct val="0"/>
              </a:spcBef>
              <a:spcAft>
                <a:spcPct val="0"/>
              </a:spcAft>
            </a:pPr>
            <a:endParaRPr kumimoji="1" lang="ko-KR" altLang="en-US">
              <a:latin typeface="Malgun Gothic" charset="-127"/>
              <a:ea typeface="Malgun Gothic" charset="-127"/>
              <a:cs typeface="Malgun Gothic" charset="-127"/>
            </a:endParaRPr>
          </a:p>
        </p:txBody>
      </p:sp>
      <p:sp>
        <p:nvSpPr>
          <p:cNvPr id="36" name="TextBox 35">
            <a:extLst>
              <a:ext uri="{FF2B5EF4-FFF2-40B4-BE49-F238E27FC236}">
                <a16:creationId xmlns:a16="http://schemas.microsoft.com/office/drawing/2014/main" id="{EE0FAFF7-6CDD-EB3D-FD90-4C7885EAE514}"/>
              </a:ext>
            </a:extLst>
          </p:cNvPr>
          <p:cNvSpPr txBox="1"/>
          <p:nvPr/>
        </p:nvSpPr>
        <p:spPr>
          <a:xfrm>
            <a:off x="695401" y="5357341"/>
            <a:ext cx="1490582" cy="430887"/>
          </a:xfrm>
          <a:prstGeom prst="rect">
            <a:avLst/>
          </a:prstGeom>
          <a:noFill/>
        </p:spPr>
        <p:txBody>
          <a:bodyPr wrap="square" rtlCol="0">
            <a:spAutoFit/>
          </a:bodyPr>
          <a:lstStyle/>
          <a:p>
            <a:r>
              <a:rPr kumimoji="1" lang="en-US" altLang="ko-KR" sz="1100" dirty="0">
                <a:latin typeface="Malgun Gothic" charset="-127"/>
                <a:ea typeface="Malgun Gothic" charset="-127"/>
                <a:cs typeface="Malgun Gothic" charset="-127"/>
              </a:rPr>
              <a:t>2</a:t>
            </a:r>
            <a:r>
              <a:rPr kumimoji="1" lang="ko-KR" altLang="en-US" sz="1100" dirty="0">
                <a:latin typeface="Malgun Gothic" charset="-127"/>
                <a:ea typeface="Malgun Gothic" charset="-127"/>
                <a:cs typeface="Malgun Gothic" charset="-127"/>
              </a:rPr>
              <a:t>개의 </a:t>
            </a:r>
            <a:r>
              <a:rPr kumimoji="1" lang="en-US" altLang="ko-KR" sz="1100" dirty="0">
                <a:latin typeface="Malgun Gothic" charset="-127"/>
                <a:ea typeface="Malgun Gothic" charset="-127"/>
                <a:cs typeface="Malgun Gothic" charset="-127"/>
              </a:rPr>
              <a:t>Critical task</a:t>
            </a:r>
            <a:r>
              <a:rPr kumimoji="1" lang="ko-KR" altLang="en-US" sz="1100" dirty="0" err="1">
                <a:latin typeface="Malgun Gothic" charset="-127"/>
                <a:ea typeface="Malgun Gothic" charset="-127"/>
                <a:cs typeface="Malgun Gothic" charset="-127"/>
              </a:rPr>
              <a:t>를</a:t>
            </a:r>
            <a:r>
              <a:rPr kumimoji="1" lang="ko-KR" altLang="en-US" sz="1100" dirty="0">
                <a:latin typeface="Malgun Gothic" charset="-127"/>
                <a:ea typeface="Malgun Gothic" charset="-127"/>
                <a:cs typeface="Malgun Gothic" charset="-127"/>
              </a:rPr>
              <a:t>  동시에 줄여야 함</a:t>
            </a:r>
          </a:p>
        </p:txBody>
      </p:sp>
    </p:spTree>
    <p:extLst>
      <p:ext uri="{BB962C8B-B14F-4D97-AF65-F5344CB8AC3E}">
        <p14:creationId xmlns:p14="http://schemas.microsoft.com/office/powerpoint/2010/main" val="994152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691" name="Rectangle 3"/>
          <p:cNvSpPr>
            <a:spLocks noGrp="1"/>
          </p:cNvSpPr>
          <p:nvPr>
            <p:ph type="title"/>
          </p:nvPr>
        </p:nvSpPr>
        <p:spPr/>
        <p:txBody>
          <a:bodyPr/>
          <a:lstStyle/>
          <a:p>
            <a:r>
              <a:rPr lang="en-US" dirty="0"/>
              <a:t>Cost of Schedule Compression (Crashing)</a:t>
            </a:r>
          </a:p>
        </p:txBody>
      </p:sp>
      <p:sp>
        <p:nvSpPr>
          <p:cNvPr id="114693" name="Text Box 5"/>
          <p:cNvSpPr txBox="1">
            <a:spLocks noChangeArrowheads="1"/>
          </p:cNvSpPr>
          <p:nvPr/>
        </p:nvSpPr>
        <p:spPr bwMode="auto">
          <a:xfrm>
            <a:off x="2279576" y="4571900"/>
            <a:ext cx="909638"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0000"/>
              </a:lnSpc>
            </a:pPr>
            <a:r>
              <a:rPr lang="en-US" sz="1400" dirty="0">
                <a:latin typeface="Malgun Gothic" charset="-127"/>
                <a:ea typeface="Malgun Gothic" charset="-127"/>
                <a:cs typeface="Malgun Gothic" charset="-127"/>
              </a:rPr>
              <a:t>Normal Cost</a:t>
            </a:r>
          </a:p>
        </p:txBody>
      </p:sp>
      <p:sp>
        <p:nvSpPr>
          <p:cNvPr id="114694" name="Text Box 6"/>
          <p:cNvSpPr txBox="1">
            <a:spLocks noChangeArrowheads="1"/>
          </p:cNvSpPr>
          <p:nvPr/>
        </p:nvSpPr>
        <p:spPr bwMode="auto">
          <a:xfrm>
            <a:off x="1485797" y="2707822"/>
            <a:ext cx="1447756" cy="286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90000"/>
              </a:lnSpc>
            </a:pPr>
            <a:r>
              <a:rPr lang="en-US" sz="1400" dirty="0">
                <a:latin typeface="Malgun Gothic" charset="-127"/>
                <a:ea typeface="Malgun Gothic" charset="-127"/>
                <a:cs typeface="Malgun Gothic" charset="-127"/>
              </a:rPr>
              <a:t>Crashing Cost</a:t>
            </a:r>
          </a:p>
        </p:txBody>
      </p:sp>
      <p:sp>
        <p:nvSpPr>
          <p:cNvPr id="114695" name="Text Box 7"/>
          <p:cNvSpPr txBox="1">
            <a:spLocks noChangeArrowheads="1"/>
          </p:cNvSpPr>
          <p:nvPr/>
        </p:nvSpPr>
        <p:spPr bwMode="auto">
          <a:xfrm>
            <a:off x="6826178" y="4051201"/>
            <a:ext cx="821443" cy="286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lnSpc>
                <a:spcPct val="90000"/>
              </a:lnSpc>
            </a:pPr>
            <a:r>
              <a:rPr lang="en-US" sz="1400">
                <a:latin typeface="Malgun Gothic" charset="-127"/>
                <a:ea typeface="Malgun Gothic" charset="-127"/>
                <a:cs typeface="Malgun Gothic" charset="-127"/>
              </a:rPr>
              <a:t>Normal</a:t>
            </a:r>
          </a:p>
        </p:txBody>
      </p:sp>
      <p:sp>
        <p:nvSpPr>
          <p:cNvPr id="114696" name="Text Box 8"/>
          <p:cNvSpPr txBox="1">
            <a:spLocks noChangeArrowheads="1"/>
          </p:cNvSpPr>
          <p:nvPr/>
        </p:nvSpPr>
        <p:spPr bwMode="auto">
          <a:xfrm>
            <a:off x="4819577" y="2019201"/>
            <a:ext cx="894797" cy="286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lnSpc>
                <a:spcPct val="90000"/>
              </a:lnSpc>
            </a:pPr>
            <a:r>
              <a:rPr lang="en-US" sz="1400" dirty="0">
                <a:latin typeface="Malgun Gothic" charset="-127"/>
                <a:ea typeface="Malgun Gothic" charset="-127"/>
                <a:cs typeface="Malgun Gothic" charset="-127"/>
              </a:rPr>
              <a:t>Crashing</a:t>
            </a:r>
          </a:p>
        </p:txBody>
      </p:sp>
      <p:grpSp>
        <p:nvGrpSpPr>
          <p:cNvPr id="114697" name="Group 9"/>
          <p:cNvGrpSpPr>
            <a:grpSpLocks/>
          </p:cNvGrpSpPr>
          <p:nvPr/>
        </p:nvGrpSpPr>
        <p:grpSpPr bwMode="auto">
          <a:xfrm>
            <a:off x="3041577" y="1650900"/>
            <a:ext cx="5375276" cy="3976688"/>
            <a:chOff x="1246" y="1386"/>
            <a:chExt cx="3386" cy="2505"/>
          </a:xfrm>
        </p:grpSpPr>
        <p:sp>
          <p:nvSpPr>
            <p:cNvPr id="114698" name="Freeform 10"/>
            <p:cNvSpPr>
              <a:spLocks/>
            </p:cNvSpPr>
            <p:nvPr/>
          </p:nvSpPr>
          <p:spPr bwMode="auto">
            <a:xfrm>
              <a:off x="1744" y="1456"/>
              <a:ext cx="2776" cy="2240"/>
            </a:xfrm>
            <a:custGeom>
              <a:avLst/>
              <a:gdLst>
                <a:gd name="T0" fmla="*/ 0 w 2776"/>
                <a:gd name="T1" fmla="*/ 0 h 2240"/>
                <a:gd name="T2" fmla="*/ 0 w 2776"/>
                <a:gd name="T3" fmla="*/ 2240 h 2240"/>
                <a:gd name="T4" fmla="*/ 2776 w 2776"/>
                <a:gd name="T5" fmla="*/ 2240 h 2240"/>
              </a:gdLst>
              <a:ahLst/>
              <a:cxnLst>
                <a:cxn ang="0">
                  <a:pos x="T0" y="T1"/>
                </a:cxn>
                <a:cxn ang="0">
                  <a:pos x="T2" y="T3"/>
                </a:cxn>
                <a:cxn ang="0">
                  <a:pos x="T4" y="T5"/>
                </a:cxn>
              </a:cxnLst>
              <a:rect l="0" t="0" r="r" b="b"/>
              <a:pathLst>
                <a:path w="2776" h="2240">
                  <a:moveTo>
                    <a:pt x="0" y="0"/>
                  </a:moveTo>
                  <a:lnTo>
                    <a:pt x="0" y="2240"/>
                  </a:lnTo>
                  <a:lnTo>
                    <a:pt x="2776" y="2240"/>
                  </a:lnTo>
                </a:path>
              </a:pathLst>
            </a:custGeom>
            <a:noFill/>
            <a:ln w="38100" cap="flat" cmpd="sng">
              <a:solidFill>
                <a:schemeClr val="tx1"/>
              </a:solidFill>
              <a:prstDash val="solid"/>
              <a:round/>
              <a:headEnd type="triangl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algun Gothic" charset="-127"/>
                <a:ea typeface="Malgun Gothic" charset="-127"/>
                <a:cs typeface="Malgun Gothic" charset="-127"/>
              </a:endParaRPr>
            </a:p>
          </p:txBody>
        </p:sp>
        <p:sp>
          <p:nvSpPr>
            <p:cNvPr id="114699" name="Text Box 11"/>
            <p:cNvSpPr txBox="1">
              <a:spLocks noChangeArrowheads="1"/>
            </p:cNvSpPr>
            <p:nvPr/>
          </p:nvSpPr>
          <p:spPr bwMode="auto">
            <a:xfrm>
              <a:off x="1246" y="1386"/>
              <a:ext cx="582"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0000"/>
                </a:lnSpc>
              </a:pPr>
              <a:r>
                <a:rPr lang="en-US" sz="1400" dirty="0">
                  <a:latin typeface="Malgun Gothic" charset="-127"/>
                  <a:ea typeface="Malgun Gothic" charset="-127"/>
                  <a:cs typeface="Malgun Gothic" charset="-127"/>
                </a:rPr>
                <a:t>Task Cost</a:t>
              </a:r>
            </a:p>
          </p:txBody>
        </p:sp>
        <p:sp>
          <p:nvSpPr>
            <p:cNvPr id="114700" name="Text Box 12"/>
            <p:cNvSpPr txBox="1">
              <a:spLocks noChangeArrowheads="1"/>
            </p:cNvSpPr>
            <p:nvPr/>
          </p:nvSpPr>
          <p:spPr bwMode="auto">
            <a:xfrm>
              <a:off x="3766" y="3698"/>
              <a:ext cx="866"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lnSpc>
                  <a:spcPct val="90000"/>
                </a:lnSpc>
              </a:pPr>
              <a:r>
                <a:rPr lang="en-US" sz="1400" dirty="0">
                  <a:latin typeface="Malgun Gothic" charset="-127"/>
                  <a:ea typeface="Malgun Gothic" charset="-127"/>
                  <a:cs typeface="Malgun Gothic" charset="-127"/>
                </a:rPr>
                <a:t>Time (Months)</a:t>
              </a:r>
            </a:p>
          </p:txBody>
        </p:sp>
        <p:sp>
          <p:nvSpPr>
            <p:cNvPr id="114701" name="Text Box 13"/>
            <p:cNvSpPr txBox="1">
              <a:spLocks noChangeArrowheads="1"/>
            </p:cNvSpPr>
            <p:nvPr/>
          </p:nvSpPr>
          <p:spPr bwMode="auto">
            <a:xfrm>
              <a:off x="1289" y="1740"/>
              <a:ext cx="571" cy="1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lnSpc>
                  <a:spcPct val="215000"/>
                </a:lnSpc>
              </a:pPr>
              <a:r>
                <a:rPr lang="en-US" sz="1400" dirty="0">
                  <a:latin typeface="Malgun Gothic" charset="-127"/>
                  <a:ea typeface="Malgun Gothic" charset="-127"/>
                  <a:cs typeface="Malgun Gothic" charset="-127"/>
                </a:rPr>
                <a:t>49,000 –</a:t>
              </a:r>
            </a:p>
            <a:p>
              <a:pPr algn="r" eaLnBrk="0" hangingPunct="0">
                <a:lnSpc>
                  <a:spcPct val="215000"/>
                </a:lnSpc>
              </a:pPr>
              <a:r>
                <a:rPr lang="en-US" sz="1400" dirty="0">
                  <a:latin typeface="Malgun Gothic" charset="-127"/>
                  <a:ea typeface="Malgun Gothic" charset="-127"/>
                  <a:cs typeface="Malgun Gothic" charset="-127"/>
                </a:rPr>
                <a:t> –</a:t>
              </a:r>
            </a:p>
            <a:p>
              <a:pPr algn="r" eaLnBrk="0" hangingPunct="0">
                <a:lnSpc>
                  <a:spcPct val="215000"/>
                </a:lnSpc>
              </a:pPr>
              <a:r>
                <a:rPr lang="en-US" sz="1400" dirty="0">
                  <a:latin typeface="Malgun Gothic" charset="-127"/>
                  <a:ea typeface="Malgun Gothic" charset="-127"/>
                  <a:cs typeface="Malgun Gothic" charset="-127"/>
                </a:rPr>
                <a:t>–</a:t>
              </a:r>
            </a:p>
            <a:p>
              <a:pPr algn="r" eaLnBrk="0" hangingPunct="0">
                <a:lnSpc>
                  <a:spcPct val="215000"/>
                </a:lnSpc>
              </a:pPr>
              <a:r>
                <a:rPr lang="en-US" sz="1400" dirty="0">
                  <a:latin typeface="Malgun Gothic" charset="-127"/>
                  <a:ea typeface="Malgun Gothic" charset="-127"/>
                  <a:cs typeface="Malgun Gothic" charset="-127"/>
                </a:rPr>
                <a:t> –</a:t>
              </a:r>
            </a:p>
            <a:p>
              <a:pPr algn="r" eaLnBrk="0" hangingPunct="0">
                <a:lnSpc>
                  <a:spcPct val="215000"/>
                </a:lnSpc>
              </a:pPr>
              <a:r>
                <a:rPr lang="en-US" sz="1400" dirty="0">
                  <a:latin typeface="Malgun Gothic" charset="-127"/>
                  <a:ea typeface="Malgun Gothic" charset="-127"/>
                  <a:cs typeface="Malgun Gothic" charset="-127"/>
                </a:rPr>
                <a:t>41,000 –</a:t>
              </a:r>
            </a:p>
            <a:p>
              <a:pPr algn="r" eaLnBrk="0" hangingPunct="0">
                <a:lnSpc>
                  <a:spcPct val="215000"/>
                </a:lnSpc>
              </a:pPr>
              <a:r>
                <a:rPr lang="en-US" sz="1400" dirty="0">
                  <a:latin typeface="Malgun Gothic" charset="-127"/>
                  <a:ea typeface="Malgun Gothic" charset="-127"/>
                  <a:cs typeface="Malgun Gothic" charset="-127"/>
                </a:rPr>
                <a:t> –</a:t>
              </a:r>
            </a:p>
          </p:txBody>
        </p:sp>
        <p:sp>
          <p:nvSpPr>
            <p:cNvPr id="114702" name="Text Box 14"/>
            <p:cNvSpPr txBox="1">
              <a:spLocks noChangeArrowheads="1"/>
            </p:cNvSpPr>
            <p:nvPr/>
          </p:nvSpPr>
          <p:spPr bwMode="auto">
            <a:xfrm>
              <a:off x="1460" y="3534"/>
              <a:ext cx="2138"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tabLst>
                  <a:tab pos="355600" algn="ctr"/>
                  <a:tab pos="1257300" algn="ctr"/>
                  <a:tab pos="2152650" algn="ctr"/>
                  <a:tab pos="3048000" algn="ctr"/>
                </a:tabLst>
                <a:defRPr sz="2200">
                  <a:solidFill>
                    <a:schemeClr val="tx1"/>
                  </a:solidFill>
                  <a:latin typeface="Arial" charset="0"/>
                </a:defRPr>
              </a:lvl1pPr>
              <a:lvl2pPr eaLnBrk="0" hangingPunct="0">
                <a:tabLst>
                  <a:tab pos="355600" algn="ctr"/>
                  <a:tab pos="1257300" algn="ctr"/>
                  <a:tab pos="2152650" algn="ctr"/>
                  <a:tab pos="3048000" algn="ctr"/>
                </a:tabLst>
                <a:defRPr sz="2200">
                  <a:solidFill>
                    <a:schemeClr val="tx1"/>
                  </a:solidFill>
                  <a:latin typeface="Arial" charset="0"/>
                </a:defRPr>
              </a:lvl2pPr>
              <a:lvl3pPr eaLnBrk="0" hangingPunct="0">
                <a:tabLst>
                  <a:tab pos="355600" algn="ctr"/>
                  <a:tab pos="1257300" algn="ctr"/>
                  <a:tab pos="2152650" algn="ctr"/>
                  <a:tab pos="3048000" algn="ctr"/>
                </a:tabLst>
                <a:defRPr sz="2200">
                  <a:solidFill>
                    <a:schemeClr val="tx1"/>
                  </a:solidFill>
                  <a:latin typeface="Arial" charset="0"/>
                </a:defRPr>
              </a:lvl3pPr>
              <a:lvl4pPr eaLnBrk="0" hangingPunct="0">
                <a:tabLst>
                  <a:tab pos="355600" algn="ctr"/>
                  <a:tab pos="1257300" algn="ctr"/>
                  <a:tab pos="2152650" algn="ctr"/>
                  <a:tab pos="3048000" algn="ctr"/>
                </a:tabLst>
                <a:defRPr sz="2200">
                  <a:solidFill>
                    <a:schemeClr val="tx1"/>
                  </a:solidFill>
                  <a:latin typeface="Arial" charset="0"/>
                </a:defRPr>
              </a:lvl4pPr>
              <a:lvl5pPr eaLnBrk="0" hangingPunct="0">
                <a:tabLst>
                  <a:tab pos="355600" algn="ctr"/>
                  <a:tab pos="1257300" algn="ctr"/>
                  <a:tab pos="2152650" algn="ctr"/>
                  <a:tab pos="3048000" algn="ctr"/>
                </a:tabLst>
                <a:defRPr sz="2200">
                  <a:solidFill>
                    <a:schemeClr val="tx1"/>
                  </a:solidFill>
                  <a:latin typeface="Arial" charset="0"/>
                </a:defRPr>
              </a:lvl5pPr>
              <a:lvl6pPr eaLnBrk="0" fontAlgn="base" hangingPunct="0">
                <a:spcBef>
                  <a:spcPct val="0"/>
                </a:spcBef>
                <a:spcAft>
                  <a:spcPct val="0"/>
                </a:spcAft>
                <a:tabLst>
                  <a:tab pos="355600" algn="ctr"/>
                  <a:tab pos="1257300" algn="ctr"/>
                  <a:tab pos="2152650" algn="ctr"/>
                  <a:tab pos="3048000" algn="ctr"/>
                </a:tabLst>
                <a:defRPr sz="2200">
                  <a:solidFill>
                    <a:schemeClr val="tx1"/>
                  </a:solidFill>
                  <a:latin typeface="Arial" charset="0"/>
                </a:defRPr>
              </a:lvl6pPr>
              <a:lvl7pPr eaLnBrk="0" fontAlgn="base" hangingPunct="0">
                <a:spcBef>
                  <a:spcPct val="0"/>
                </a:spcBef>
                <a:spcAft>
                  <a:spcPct val="0"/>
                </a:spcAft>
                <a:tabLst>
                  <a:tab pos="355600" algn="ctr"/>
                  <a:tab pos="1257300" algn="ctr"/>
                  <a:tab pos="2152650" algn="ctr"/>
                  <a:tab pos="3048000" algn="ctr"/>
                </a:tabLst>
                <a:defRPr sz="2200">
                  <a:solidFill>
                    <a:schemeClr val="tx1"/>
                  </a:solidFill>
                  <a:latin typeface="Arial" charset="0"/>
                </a:defRPr>
              </a:lvl7pPr>
              <a:lvl8pPr eaLnBrk="0" fontAlgn="base" hangingPunct="0">
                <a:spcBef>
                  <a:spcPct val="0"/>
                </a:spcBef>
                <a:spcAft>
                  <a:spcPct val="0"/>
                </a:spcAft>
                <a:tabLst>
                  <a:tab pos="355600" algn="ctr"/>
                  <a:tab pos="1257300" algn="ctr"/>
                  <a:tab pos="2152650" algn="ctr"/>
                  <a:tab pos="3048000" algn="ctr"/>
                </a:tabLst>
                <a:defRPr sz="2200">
                  <a:solidFill>
                    <a:schemeClr val="tx1"/>
                  </a:solidFill>
                  <a:latin typeface="Arial" charset="0"/>
                </a:defRPr>
              </a:lvl8pPr>
              <a:lvl9pPr eaLnBrk="0" fontAlgn="base" hangingPunct="0">
                <a:spcBef>
                  <a:spcPct val="0"/>
                </a:spcBef>
                <a:spcAft>
                  <a:spcPct val="0"/>
                </a:spcAft>
                <a:tabLst>
                  <a:tab pos="355600" algn="ctr"/>
                  <a:tab pos="1257300" algn="ctr"/>
                  <a:tab pos="2152650" algn="ctr"/>
                  <a:tab pos="3048000" algn="ctr"/>
                </a:tabLst>
                <a:defRPr sz="2200">
                  <a:solidFill>
                    <a:schemeClr val="tx1"/>
                  </a:solidFill>
                  <a:latin typeface="Arial" charset="0"/>
                </a:defRPr>
              </a:lvl9pPr>
            </a:lstStyle>
            <a:p>
              <a:pPr>
                <a:lnSpc>
                  <a:spcPct val="110000"/>
                </a:lnSpc>
              </a:pPr>
              <a:r>
                <a:rPr lang="en-US" sz="1400" dirty="0">
                  <a:latin typeface="Malgun Gothic" charset="-127"/>
                  <a:ea typeface="Malgun Gothic" charset="-127"/>
                  <a:cs typeface="Malgun Gothic" charset="-127"/>
                </a:rPr>
                <a:t>	|	|		|</a:t>
              </a:r>
            </a:p>
            <a:p>
              <a:pPr>
                <a:lnSpc>
                  <a:spcPct val="110000"/>
                </a:lnSpc>
              </a:pPr>
              <a:r>
                <a:rPr lang="en-US" sz="1400" dirty="0">
                  <a:latin typeface="Malgun Gothic" charset="-127"/>
                  <a:ea typeface="Malgun Gothic" charset="-127"/>
                  <a:cs typeface="Malgun Gothic" charset="-127"/>
                </a:rPr>
                <a:t>	0	9		13</a:t>
              </a:r>
            </a:p>
          </p:txBody>
        </p:sp>
      </p:grpSp>
      <p:sp>
        <p:nvSpPr>
          <p:cNvPr id="114703" name="Line 15"/>
          <p:cNvSpPr>
            <a:spLocks noChangeShapeType="1"/>
          </p:cNvSpPr>
          <p:nvPr/>
        </p:nvSpPr>
        <p:spPr bwMode="auto">
          <a:xfrm flipH="1">
            <a:off x="4784651" y="2257325"/>
            <a:ext cx="127000" cy="254000"/>
          </a:xfrm>
          <a:prstGeom prst="line">
            <a:avLst/>
          </a:prstGeom>
          <a:noFill/>
          <a:ln w="381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algun Gothic" charset="-127"/>
              <a:ea typeface="Malgun Gothic" charset="-127"/>
              <a:cs typeface="Malgun Gothic" charset="-127"/>
            </a:endParaRPr>
          </a:p>
        </p:txBody>
      </p:sp>
      <p:sp>
        <p:nvSpPr>
          <p:cNvPr id="114704" name="Line 16"/>
          <p:cNvSpPr>
            <a:spLocks noChangeShapeType="1"/>
          </p:cNvSpPr>
          <p:nvPr/>
        </p:nvSpPr>
        <p:spPr bwMode="auto">
          <a:xfrm flipH="1">
            <a:off x="6613451" y="4251225"/>
            <a:ext cx="228600" cy="88900"/>
          </a:xfrm>
          <a:prstGeom prst="line">
            <a:avLst/>
          </a:prstGeom>
          <a:noFill/>
          <a:ln w="381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algun Gothic" charset="-127"/>
              <a:ea typeface="Malgun Gothic" charset="-127"/>
              <a:cs typeface="Malgun Gothic" charset="-127"/>
            </a:endParaRPr>
          </a:p>
        </p:txBody>
      </p:sp>
      <p:sp>
        <p:nvSpPr>
          <p:cNvPr id="114705" name="Line 17"/>
          <p:cNvSpPr>
            <a:spLocks noChangeShapeType="1"/>
          </p:cNvSpPr>
          <p:nvPr/>
        </p:nvSpPr>
        <p:spPr bwMode="auto">
          <a:xfrm>
            <a:off x="4806877" y="2641501"/>
            <a:ext cx="1717674" cy="1762124"/>
          </a:xfrm>
          <a:prstGeom prst="line">
            <a:avLst/>
          </a:prstGeom>
          <a:noFill/>
          <a:ln w="57150">
            <a:solidFill>
              <a:schemeClr val="accent1"/>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algun Gothic" charset="-127"/>
              <a:ea typeface="Malgun Gothic" charset="-127"/>
              <a:cs typeface="Malgun Gothic" charset="-127"/>
            </a:endParaRPr>
          </a:p>
        </p:txBody>
      </p:sp>
      <p:grpSp>
        <p:nvGrpSpPr>
          <p:cNvPr id="114706" name="Group 18"/>
          <p:cNvGrpSpPr>
            <a:grpSpLocks/>
          </p:cNvGrpSpPr>
          <p:nvPr/>
        </p:nvGrpSpPr>
        <p:grpSpPr bwMode="auto">
          <a:xfrm>
            <a:off x="3832151" y="2520852"/>
            <a:ext cx="947738" cy="2784475"/>
            <a:chOff x="1744" y="1934"/>
            <a:chExt cx="597" cy="1754"/>
          </a:xfrm>
        </p:grpSpPr>
        <p:sp>
          <p:nvSpPr>
            <p:cNvPr id="114707" name="Freeform 19"/>
            <p:cNvSpPr>
              <a:spLocks/>
            </p:cNvSpPr>
            <p:nvPr/>
          </p:nvSpPr>
          <p:spPr bwMode="auto">
            <a:xfrm>
              <a:off x="1744" y="1968"/>
              <a:ext cx="568" cy="1720"/>
            </a:xfrm>
            <a:custGeom>
              <a:avLst/>
              <a:gdLst>
                <a:gd name="T0" fmla="*/ 0 w 568"/>
                <a:gd name="T1" fmla="*/ 0 h 1720"/>
                <a:gd name="T2" fmla="*/ 568 w 568"/>
                <a:gd name="T3" fmla="*/ 0 h 1720"/>
                <a:gd name="T4" fmla="*/ 568 w 568"/>
                <a:gd name="T5" fmla="*/ 1720 h 1720"/>
              </a:gdLst>
              <a:ahLst/>
              <a:cxnLst>
                <a:cxn ang="0">
                  <a:pos x="T0" y="T1"/>
                </a:cxn>
                <a:cxn ang="0">
                  <a:pos x="T2" y="T3"/>
                </a:cxn>
                <a:cxn ang="0">
                  <a:pos x="T4" y="T5"/>
                </a:cxn>
              </a:cxnLst>
              <a:rect l="0" t="0" r="r" b="b"/>
              <a:pathLst>
                <a:path w="568" h="1720">
                  <a:moveTo>
                    <a:pt x="0" y="0"/>
                  </a:moveTo>
                  <a:lnTo>
                    <a:pt x="568" y="0"/>
                  </a:lnTo>
                  <a:lnTo>
                    <a:pt x="568" y="1720"/>
                  </a:lnTo>
                </a:path>
              </a:pathLst>
            </a:custGeom>
            <a:noFill/>
            <a:ln w="38100" cap="flat" cmpd="sng">
              <a:solidFill>
                <a:schemeClr val="tx1"/>
              </a:solidFill>
              <a:prstDash val="sysDot"/>
              <a:round/>
              <a:headEnd type="non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algun Gothic" charset="-127"/>
                <a:ea typeface="Malgun Gothic" charset="-127"/>
                <a:cs typeface="Malgun Gothic" charset="-127"/>
              </a:endParaRPr>
            </a:p>
          </p:txBody>
        </p:sp>
        <p:sp>
          <p:nvSpPr>
            <p:cNvPr id="114708" name="Oval 20"/>
            <p:cNvSpPr>
              <a:spLocks noChangeArrowheads="1"/>
            </p:cNvSpPr>
            <p:nvPr/>
          </p:nvSpPr>
          <p:spPr bwMode="auto">
            <a:xfrm>
              <a:off x="2285" y="1934"/>
              <a:ext cx="56" cy="56"/>
            </a:xfrm>
            <a:prstGeom prst="ellipse">
              <a:avLst/>
            </a:prstGeom>
            <a:solidFill>
              <a:schemeClr val="tx1"/>
            </a:solidFill>
            <a:ln w="38100">
              <a:solidFill>
                <a:schemeClr val="tx1"/>
              </a:solidFill>
              <a:round/>
              <a:headEnd type="none" w="sm" len="med"/>
              <a:tailEnd type="non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algun Gothic" charset="-127"/>
                <a:ea typeface="Malgun Gothic" charset="-127"/>
                <a:cs typeface="Malgun Gothic" charset="-127"/>
              </a:endParaRPr>
            </a:p>
          </p:txBody>
        </p:sp>
      </p:grpSp>
      <p:grpSp>
        <p:nvGrpSpPr>
          <p:cNvPr id="114709" name="Group 21"/>
          <p:cNvGrpSpPr>
            <a:grpSpLocks/>
          </p:cNvGrpSpPr>
          <p:nvPr/>
        </p:nvGrpSpPr>
        <p:grpSpPr bwMode="auto">
          <a:xfrm>
            <a:off x="3832153" y="4356002"/>
            <a:ext cx="2735263" cy="962025"/>
            <a:chOff x="1744" y="3090"/>
            <a:chExt cx="1723" cy="606"/>
          </a:xfrm>
        </p:grpSpPr>
        <p:sp>
          <p:nvSpPr>
            <p:cNvPr id="114710" name="Freeform 22"/>
            <p:cNvSpPr>
              <a:spLocks/>
            </p:cNvSpPr>
            <p:nvPr/>
          </p:nvSpPr>
          <p:spPr bwMode="auto">
            <a:xfrm>
              <a:off x="1744" y="3120"/>
              <a:ext cx="1696" cy="576"/>
            </a:xfrm>
            <a:custGeom>
              <a:avLst/>
              <a:gdLst>
                <a:gd name="T0" fmla="*/ 0 w 568"/>
                <a:gd name="T1" fmla="*/ 0 h 1720"/>
                <a:gd name="T2" fmla="*/ 568 w 568"/>
                <a:gd name="T3" fmla="*/ 0 h 1720"/>
                <a:gd name="T4" fmla="*/ 568 w 568"/>
                <a:gd name="T5" fmla="*/ 1720 h 1720"/>
              </a:gdLst>
              <a:ahLst/>
              <a:cxnLst>
                <a:cxn ang="0">
                  <a:pos x="T0" y="T1"/>
                </a:cxn>
                <a:cxn ang="0">
                  <a:pos x="T2" y="T3"/>
                </a:cxn>
                <a:cxn ang="0">
                  <a:pos x="T4" y="T5"/>
                </a:cxn>
              </a:cxnLst>
              <a:rect l="0" t="0" r="r" b="b"/>
              <a:pathLst>
                <a:path w="568" h="1720">
                  <a:moveTo>
                    <a:pt x="0" y="0"/>
                  </a:moveTo>
                  <a:lnTo>
                    <a:pt x="568" y="0"/>
                  </a:lnTo>
                  <a:lnTo>
                    <a:pt x="568" y="1720"/>
                  </a:lnTo>
                </a:path>
              </a:pathLst>
            </a:custGeom>
            <a:noFill/>
            <a:ln w="38100" cap="flat" cmpd="sng">
              <a:solidFill>
                <a:schemeClr val="tx1"/>
              </a:solidFill>
              <a:prstDash val="sysDot"/>
              <a:round/>
              <a:headEnd type="none" w="sm" len="med"/>
              <a:tailEnd type="non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algun Gothic" charset="-127"/>
                <a:ea typeface="Malgun Gothic" charset="-127"/>
                <a:cs typeface="Malgun Gothic" charset="-127"/>
              </a:endParaRPr>
            </a:p>
          </p:txBody>
        </p:sp>
        <p:sp>
          <p:nvSpPr>
            <p:cNvPr id="114711" name="Oval 23"/>
            <p:cNvSpPr>
              <a:spLocks noChangeArrowheads="1"/>
            </p:cNvSpPr>
            <p:nvPr/>
          </p:nvSpPr>
          <p:spPr bwMode="auto">
            <a:xfrm>
              <a:off x="3411" y="3090"/>
              <a:ext cx="56" cy="56"/>
            </a:xfrm>
            <a:prstGeom prst="ellipse">
              <a:avLst/>
            </a:prstGeom>
            <a:solidFill>
              <a:schemeClr val="tx1"/>
            </a:solidFill>
            <a:ln w="38100">
              <a:solidFill>
                <a:schemeClr val="tx1"/>
              </a:solidFill>
              <a:round/>
              <a:headEnd type="none" w="sm" len="med"/>
              <a:tailEnd type="non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algun Gothic" charset="-127"/>
                <a:ea typeface="Malgun Gothic" charset="-127"/>
                <a:cs typeface="Malgun Gothic" charset="-127"/>
              </a:endParaRPr>
            </a:p>
          </p:txBody>
        </p:sp>
      </p:grpSp>
      <p:sp>
        <p:nvSpPr>
          <p:cNvPr id="114712" name="Text Box 24"/>
          <p:cNvSpPr txBox="1">
            <a:spLocks noChangeArrowheads="1"/>
          </p:cNvSpPr>
          <p:nvPr/>
        </p:nvSpPr>
        <p:spPr bwMode="auto">
          <a:xfrm>
            <a:off x="5894241" y="5791893"/>
            <a:ext cx="1379538"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90000"/>
              </a:lnSpc>
            </a:pPr>
            <a:r>
              <a:rPr lang="en-US" sz="1400">
                <a:latin typeface="Malgun Gothic" charset="-127"/>
                <a:ea typeface="Malgun Gothic" charset="-127"/>
                <a:cs typeface="Malgun Gothic" charset="-127"/>
              </a:rPr>
              <a:t>Normal Time</a:t>
            </a:r>
          </a:p>
        </p:txBody>
      </p:sp>
      <p:sp>
        <p:nvSpPr>
          <p:cNvPr id="114713" name="Text Box 25"/>
          <p:cNvSpPr txBox="1">
            <a:spLocks noChangeArrowheads="1"/>
          </p:cNvSpPr>
          <p:nvPr/>
        </p:nvSpPr>
        <p:spPr bwMode="auto">
          <a:xfrm>
            <a:off x="3832152" y="5784043"/>
            <a:ext cx="1399753" cy="286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90000"/>
              </a:lnSpc>
            </a:pPr>
            <a:r>
              <a:rPr lang="en-US" sz="1400" dirty="0">
                <a:latin typeface="Malgun Gothic" charset="-127"/>
                <a:ea typeface="Malgun Gothic" charset="-127"/>
                <a:cs typeface="Malgun Gothic" charset="-127"/>
              </a:rPr>
              <a:t>Crashing Time</a:t>
            </a:r>
          </a:p>
        </p:txBody>
      </p:sp>
      <p:sp>
        <p:nvSpPr>
          <p:cNvPr id="114714" name="Line 26"/>
          <p:cNvSpPr>
            <a:spLocks noChangeShapeType="1"/>
          </p:cNvSpPr>
          <p:nvPr/>
        </p:nvSpPr>
        <p:spPr bwMode="auto">
          <a:xfrm flipV="1">
            <a:off x="4517951" y="5559325"/>
            <a:ext cx="152400" cy="177800"/>
          </a:xfrm>
          <a:prstGeom prst="line">
            <a:avLst/>
          </a:prstGeom>
          <a:noFill/>
          <a:ln w="381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algun Gothic" charset="-127"/>
              <a:ea typeface="Malgun Gothic" charset="-127"/>
              <a:cs typeface="Malgun Gothic" charset="-127"/>
            </a:endParaRPr>
          </a:p>
        </p:txBody>
      </p:sp>
      <p:sp>
        <p:nvSpPr>
          <p:cNvPr id="114715" name="Line 27"/>
          <p:cNvSpPr>
            <a:spLocks noChangeShapeType="1"/>
          </p:cNvSpPr>
          <p:nvPr/>
        </p:nvSpPr>
        <p:spPr bwMode="auto">
          <a:xfrm flipV="1">
            <a:off x="6524551" y="5559325"/>
            <a:ext cx="0" cy="203200"/>
          </a:xfrm>
          <a:prstGeom prst="line">
            <a:avLst/>
          </a:prstGeom>
          <a:noFill/>
          <a:ln w="381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algun Gothic" charset="-127"/>
              <a:ea typeface="Malgun Gothic" charset="-127"/>
              <a:cs typeface="Malgun Gothic" charset="-127"/>
            </a:endParaRPr>
          </a:p>
        </p:txBody>
      </p:sp>
      <p:sp>
        <p:nvSpPr>
          <p:cNvPr id="114716" name="Line 28"/>
          <p:cNvSpPr>
            <a:spLocks noChangeShapeType="1"/>
          </p:cNvSpPr>
          <p:nvPr/>
        </p:nvSpPr>
        <p:spPr bwMode="auto">
          <a:xfrm flipV="1">
            <a:off x="2911401" y="2654202"/>
            <a:ext cx="241300" cy="225425"/>
          </a:xfrm>
          <a:prstGeom prst="line">
            <a:avLst/>
          </a:prstGeom>
          <a:noFill/>
          <a:ln w="381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algun Gothic" charset="-127"/>
              <a:ea typeface="Malgun Gothic" charset="-127"/>
              <a:cs typeface="Malgun Gothic" charset="-127"/>
            </a:endParaRPr>
          </a:p>
        </p:txBody>
      </p:sp>
      <p:sp>
        <p:nvSpPr>
          <p:cNvPr id="114717" name="Line 29"/>
          <p:cNvSpPr>
            <a:spLocks noChangeShapeType="1"/>
          </p:cNvSpPr>
          <p:nvPr/>
        </p:nvSpPr>
        <p:spPr bwMode="auto">
          <a:xfrm flipV="1">
            <a:off x="3038401" y="4503638"/>
            <a:ext cx="146050" cy="220662"/>
          </a:xfrm>
          <a:prstGeom prst="line">
            <a:avLst/>
          </a:prstGeom>
          <a:noFill/>
          <a:ln w="381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algun Gothic" charset="-127"/>
              <a:ea typeface="Malgun Gothic" charset="-127"/>
              <a:cs typeface="Malgun Gothic" charset="-127"/>
            </a:endParaRPr>
          </a:p>
        </p:txBody>
      </p:sp>
      <p:grpSp>
        <p:nvGrpSpPr>
          <p:cNvPr id="114718" name="Group 30"/>
          <p:cNvGrpSpPr>
            <a:grpSpLocks/>
          </p:cNvGrpSpPr>
          <p:nvPr/>
        </p:nvGrpSpPr>
        <p:grpSpPr bwMode="auto">
          <a:xfrm>
            <a:off x="5630817" y="1191327"/>
            <a:ext cx="5164147" cy="1593850"/>
            <a:chOff x="2302" y="1828"/>
            <a:chExt cx="3253" cy="1004"/>
          </a:xfrm>
        </p:grpSpPr>
        <p:grpSp>
          <p:nvGrpSpPr>
            <p:cNvPr id="114719" name="Group 31"/>
            <p:cNvGrpSpPr>
              <a:grpSpLocks/>
            </p:cNvGrpSpPr>
            <p:nvPr/>
          </p:nvGrpSpPr>
          <p:grpSpPr bwMode="auto">
            <a:xfrm>
              <a:off x="2302" y="1828"/>
              <a:ext cx="3253" cy="357"/>
              <a:chOff x="2302" y="1828"/>
              <a:chExt cx="3253" cy="357"/>
            </a:xfrm>
          </p:grpSpPr>
          <p:sp>
            <p:nvSpPr>
              <p:cNvPr id="114720" name="Text Box 32"/>
              <p:cNvSpPr txBox="1">
                <a:spLocks noChangeArrowheads="1"/>
              </p:cNvSpPr>
              <p:nvPr/>
            </p:nvSpPr>
            <p:spPr bwMode="auto">
              <a:xfrm>
                <a:off x="2302" y="1908"/>
                <a:ext cx="1336"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r>
                  <a:rPr lang="en-US" sz="1400" dirty="0">
                    <a:latin typeface="Malgun Gothic" charset="-127"/>
                    <a:ea typeface="Malgun Gothic" charset="-127"/>
                    <a:cs typeface="Malgun Gothic" charset="-127"/>
                  </a:rPr>
                  <a:t>Crashing Cost/Month =</a:t>
                </a:r>
              </a:p>
            </p:txBody>
          </p:sp>
          <p:grpSp>
            <p:nvGrpSpPr>
              <p:cNvPr id="114721" name="Group 33"/>
              <p:cNvGrpSpPr>
                <a:grpSpLocks/>
              </p:cNvGrpSpPr>
              <p:nvPr/>
            </p:nvGrpSpPr>
            <p:grpSpPr bwMode="auto">
              <a:xfrm>
                <a:off x="3638" y="1828"/>
                <a:ext cx="1917" cy="357"/>
                <a:chOff x="3638" y="1828"/>
                <a:chExt cx="1917" cy="357"/>
              </a:xfrm>
            </p:grpSpPr>
            <p:sp>
              <p:nvSpPr>
                <p:cNvPr id="114722" name="Text Box 34"/>
                <p:cNvSpPr txBox="1">
                  <a:spLocks noChangeArrowheads="1"/>
                </p:cNvSpPr>
                <p:nvPr/>
              </p:nvSpPr>
              <p:spPr bwMode="auto">
                <a:xfrm>
                  <a:off x="3758" y="1828"/>
                  <a:ext cx="1659"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lnSpc>
                      <a:spcPct val="110000"/>
                    </a:lnSpc>
                  </a:pPr>
                  <a:r>
                    <a:rPr lang="en-US" sz="1400" dirty="0">
                      <a:latin typeface="Malgun Gothic" charset="-127"/>
                      <a:ea typeface="Malgun Gothic" charset="-127"/>
                      <a:cs typeface="Malgun Gothic" charset="-127"/>
                    </a:rPr>
                    <a:t>Crashing Cost – Normal Cost</a:t>
                  </a:r>
                </a:p>
                <a:p>
                  <a:pPr algn="ctr" eaLnBrk="0" hangingPunct="0">
                    <a:lnSpc>
                      <a:spcPct val="110000"/>
                    </a:lnSpc>
                  </a:pPr>
                  <a:r>
                    <a:rPr lang="en-US" sz="1400" dirty="0">
                      <a:latin typeface="Malgun Gothic" charset="-127"/>
                      <a:ea typeface="Malgun Gothic" charset="-127"/>
                      <a:cs typeface="Malgun Gothic" charset="-127"/>
                    </a:rPr>
                    <a:t>Normal Time – Crashing Time</a:t>
                  </a:r>
                </a:p>
              </p:txBody>
            </p:sp>
            <p:sp>
              <p:nvSpPr>
                <p:cNvPr id="114723" name="Line 35"/>
                <p:cNvSpPr>
                  <a:spLocks noChangeShapeType="1"/>
                </p:cNvSpPr>
                <p:nvPr/>
              </p:nvSpPr>
              <p:spPr bwMode="auto">
                <a:xfrm>
                  <a:off x="3638" y="2014"/>
                  <a:ext cx="1917" cy="11"/>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algun Gothic" charset="-127"/>
                    <a:ea typeface="Malgun Gothic" charset="-127"/>
                    <a:cs typeface="Malgun Gothic" charset="-127"/>
                  </a:endParaRPr>
                </a:p>
              </p:txBody>
            </p:sp>
          </p:grpSp>
        </p:grpSp>
        <p:grpSp>
          <p:nvGrpSpPr>
            <p:cNvPr id="114724" name="Group 36"/>
            <p:cNvGrpSpPr>
              <a:grpSpLocks/>
            </p:cNvGrpSpPr>
            <p:nvPr/>
          </p:nvGrpSpPr>
          <p:grpSpPr bwMode="auto">
            <a:xfrm>
              <a:off x="3662" y="2488"/>
              <a:ext cx="1739" cy="344"/>
              <a:chOff x="3494" y="2548"/>
              <a:chExt cx="1739" cy="344"/>
            </a:xfrm>
          </p:grpSpPr>
          <p:sp>
            <p:nvSpPr>
              <p:cNvPr id="114725" name="Text Box 37"/>
              <p:cNvSpPr txBox="1">
                <a:spLocks noChangeArrowheads="1"/>
              </p:cNvSpPr>
              <p:nvPr/>
            </p:nvSpPr>
            <p:spPr bwMode="auto">
              <a:xfrm>
                <a:off x="3494" y="2646"/>
                <a:ext cx="1739"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lnSpc>
                    <a:spcPct val="90000"/>
                  </a:lnSpc>
                </a:pPr>
                <a:r>
                  <a:rPr lang="en-US" sz="1400" dirty="0">
                    <a:latin typeface="Malgun Gothic" charset="-127"/>
                    <a:ea typeface="Malgun Gothic" charset="-127"/>
                    <a:cs typeface="Malgun Gothic" charset="-127"/>
                  </a:rPr>
                  <a:t>=                   = 2000/Month</a:t>
                </a:r>
              </a:p>
            </p:txBody>
          </p:sp>
          <p:grpSp>
            <p:nvGrpSpPr>
              <p:cNvPr id="114726" name="Group 38"/>
              <p:cNvGrpSpPr>
                <a:grpSpLocks/>
              </p:cNvGrpSpPr>
              <p:nvPr/>
            </p:nvGrpSpPr>
            <p:grpSpPr bwMode="auto">
              <a:xfrm>
                <a:off x="3595" y="2548"/>
                <a:ext cx="633" cy="344"/>
                <a:chOff x="3563" y="2556"/>
                <a:chExt cx="633" cy="344"/>
              </a:xfrm>
            </p:grpSpPr>
            <p:sp>
              <p:nvSpPr>
                <p:cNvPr id="114727" name="Text Box 39"/>
                <p:cNvSpPr txBox="1">
                  <a:spLocks noChangeArrowheads="1"/>
                </p:cNvSpPr>
                <p:nvPr/>
              </p:nvSpPr>
              <p:spPr bwMode="auto">
                <a:xfrm>
                  <a:off x="3563" y="2556"/>
                  <a:ext cx="633" cy="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lnSpc>
                      <a:spcPct val="110000"/>
                    </a:lnSpc>
                  </a:pPr>
                  <a:r>
                    <a:rPr lang="en-US" sz="1400" dirty="0">
                      <a:latin typeface="Malgun Gothic" charset="-127"/>
                      <a:ea typeface="Malgun Gothic" charset="-127"/>
                      <a:cs typeface="Malgun Gothic" charset="-127"/>
                    </a:rPr>
                    <a:t>8000</a:t>
                  </a:r>
                </a:p>
                <a:p>
                  <a:pPr algn="ctr" eaLnBrk="0" hangingPunct="0">
                    <a:lnSpc>
                      <a:spcPct val="110000"/>
                    </a:lnSpc>
                  </a:pPr>
                  <a:r>
                    <a:rPr lang="en-US" sz="1400" dirty="0">
                      <a:latin typeface="Malgun Gothic" charset="-127"/>
                      <a:ea typeface="Malgun Gothic" charset="-127"/>
                      <a:cs typeface="Malgun Gothic" charset="-127"/>
                    </a:rPr>
                    <a:t>4 Months</a:t>
                  </a:r>
                </a:p>
              </p:txBody>
            </p:sp>
            <p:sp>
              <p:nvSpPr>
                <p:cNvPr id="114728" name="Line 40"/>
                <p:cNvSpPr>
                  <a:spLocks noChangeShapeType="1"/>
                </p:cNvSpPr>
                <p:nvPr/>
              </p:nvSpPr>
              <p:spPr bwMode="auto">
                <a:xfrm>
                  <a:off x="3636" y="2744"/>
                  <a:ext cx="488"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algun Gothic" charset="-127"/>
                    <a:ea typeface="Malgun Gothic" charset="-127"/>
                    <a:cs typeface="Malgun Gothic" charset="-127"/>
                  </a:endParaRPr>
                </a:p>
              </p:txBody>
            </p:sp>
          </p:grpSp>
        </p:grpSp>
        <p:grpSp>
          <p:nvGrpSpPr>
            <p:cNvPr id="114729" name="Group 41"/>
            <p:cNvGrpSpPr>
              <a:grpSpLocks/>
            </p:cNvGrpSpPr>
            <p:nvPr/>
          </p:nvGrpSpPr>
          <p:grpSpPr bwMode="auto">
            <a:xfrm>
              <a:off x="3662" y="2177"/>
              <a:ext cx="1176" cy="344"/>
              <a:chOff x="3779" y="2160"/>
              <a:chExt cx="1176" cy="344"/>
            </a:xfrm>
          </p:grpSpPr>
          <p:grpSp>
            <p:nvGrpSpPr>
              <p:cNvPr id="114730" name="Group 42"/>
              <p:cNvGrpSpPr>
                <a:grpSpLocks/>
              </p:cNvGrpSpPr>
              <p:nvPr/>
            </p:nvGrpSpPr>
            <p:grpSpPr bwMode="auto">
              <a:xfrm>
                <a:off x="3951" y="2160"/>
                <a:ext cx="1004" cy="344"/>
                <a:chOff x="3951" y="2160"/>
                <a:chExt cx="1004" cy="344"/>
              </a:xfrm>
            </p:grpSpPr>
            <p:sp>
              <p:nvSpPr>
                <p:cNvPr id="114731" name="Text Box 43"/>
                <p:cNvSpPr txBox="1">
                  <a:spLocks noChangeArrowheads="1"/>
                </p:cNvSpPr>
                <p:nvPr/>
              </p:nvSpPr>
              <p:spPr bwMode="auto">
                <a:xfrm>
                  <a:off x="4001" y="2160"/>
                  <a:ext cx="909" cy="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lnSpc>
                      <a:spcPct val="110000"/>
                    </a:lnSpc>
                  </a:pPr>
                  <a:r>
                    <a:rPr lang="en-US" sz="1400" dirty="0">
                      <a:latin typeface="Malgun Gothic" charset="-127"/>
                      <a:ea typeface="Malgun Gothic" charset="-127"/>
                      <a:cs typeface="Malgun Gothic" charset="-127"/>
                    </a:rPr>
                    <a:t>49000 – 41000</a:t>
                  </a:r>
                </a:p>
                <a:p>
                  <a:pPr algn="ctr" eaLnBrk="0" hangingPunct="0">
                    <a:lnSpc>
                      <a:spcPct val="110000"/>
                    </a:lnSpc>
                  </a:pPr>
                  <a:r>
                    <a:rPr lang="en-US" sz="1400" dirty="0">
                      <a:latin typeface="Malgun Gothic" charset="-127"/>
                      <a:ea typeface="Malgun Gothic" charset="-127"/>
                      <a:cs typeface="Malgun Gothic" charset="-127"/>
                    </a:rPr>
                    <a:t>13 – 9</a:t>
                  </a:r>
                </a:p>
              </p:txBody>
            </p:sp>
            <p:sp>
              <p:nvSpPr>
                <p:cNvPr id="114732" name="Line 44"/>
                <p:cNvSpPr>
                  <a:spLocks noChangeShapeType="1"/>
                </p:cNvSpPr>
                <p:nvPr/>
              </p:nvSpPr>
              <p:spPr bwMode="auto">
                <a:xfrm>
                  <a:off x="3951" y="2344"/>
                  <a:ext cx="1004" cy="0"/>
                </a:xfrm>
                <a:prstGeom prst="line">
                  <a:avLst/>
                </a:prstGeom>
                <a:noFill/>
                <a:ln w="19050">
                  <a:solidFill>
                    <a:schemeClr val="tx1"/>
                  </a:solidFill>
                  <a:round/>
                  <a:headEnd type="non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algun Gothic" charset="-127"/>
                    <a:ea typeface="Malgun Gothic" charset="-127"/>
                    <a:cs typeface="Malgun Gothic" charset="-127"/>
                  </a:endParaRPr>
                </a:p>
              </p:txBody>
            </p:sp>
          </p:grpSp>
          <p:sp>
            <p:nvSpPr>
              <p:cNvPr id="114733" name="Text Box 45"/>
              <p:cNvSpPr txBox="1">
                <a:spLocks noChangeArrowheads="1"/>
              </p:cNvSpPr>
              <p:nvPr/>
            </p:nvSpPr>
            <p:spPr bwMode="auto">
              <a:xfrm>
                <a:off x="3779" y="2250"/>
                <a:ext cx="198"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1400">
                    <a:latin typeface="Malgun Gothic" charset="-127"/>
                    <a:ea typeface="Malgun Gothic" charset="-127"/>
                    <a:cs typeface="Malgun Gothic" charset="-127"/>
                  </a:rPr>
                  <a:t>=</a:t>
                </a:r>
              </a:p>
            </p:txBody>
          </p:sp>
        </p:grpSp>
      </p:grpSp>
    </p:spTree>
    <p:extLst>
      <p:ext uri="{BB962C8B-B14F-4D97-AF65-F5344CB8AC3E}">
        <p14:creationId xmlns:p14="http://schemas.microsoft.com/office/powerpoint/2010/main" val="8272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테마">
  <a:themeElements>
    <a:clrScheme name="사용자 지정 1">
      <a:dk1>
        <a:srgbClr val="000000"/>
      </a:dk1>
      <a:lt1>
        <a:srgbClr val="FFFFFF"/>
      </a:lt1>
      <a:dk2>
        <a:srgbClr val="65675B"/>
      </a:dk2>
      <a:lt2>
        <a:srgbClr val="E7E6E6"/>
      </a:lt2>
      <a:accent1>
        <a:srgbClr val="D32477"/>
      </a:accent1>
      <a:accent2>
        <a:srgbClr val="FFB200"/>
      </a:accent2>
      <a:accent3>
        <a:srgbClr val="CA2064"/>
      </a:accent3>
      <a:accent4>
        <a:srgbClr val="666666"/>
      </a:accent4>
      <a:accent5>
        <a:srgbClr val="CA2064"/>
      </a:accent5>
      <a:accent6>
        <a:srgbClr val="CA2064"/>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z="2000" dirty="0" smtClean="0">
            <a:latin typeface="Malgun Gothic" panose="020B0503020000020004" pitchFamily="34" charset="-127"/>
            <a:ea typeface="Malgun Gothic" panose="020B0503020000020004" pitchFamily="34" charset="-127"/>
          </a:defRPr>
        </a:defPPr>
      </a:lstStyle>
    </a:txDef>
  </a:objectDefaults>
  <a:extraClrSchemeLst/>
  <a:extLst>
    <a:ext uri="{05A4C25C-085E-4340-85A3-A5531E510DB2}">
      <thm15:themeFamily xmlns:thm15="http://schemas.microsoft.com/office/thememl/2012/main" name="Presentation2" id="{384AC4ED-04F6-9F4B-BA7A-060D2F9F36F5}" vid="{C53F79E7-9B61-4A40-8A00-4DED6E2F71BB}"/>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IDEA PPT Template Red</Template>
  <TotalTime>11602</TotalTime>
  <Words>4055</Words>
  <Application>Microsoft Macintosh PowerPoint</Application>
  <PresentationFormat>Widescreen</PresentationFormat>
  <Paragraphs>610</Paragraphs>
  <Slides>47</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Malgun Gothic</vt:lpstr>
      <vt:lpstr>Malgun Gothic</vt:lpstr>
      <vt:lpstr>Arial</vt:lpstr>
      <vt:lpstr>Cambria Math</vt:lpstr>
      <vt:lpstr>Tahoma</vt:lpstr>
      <vt:lpstr>Wingdings</vt:lpstr>
      <vt:lpstr>Office 테마</vt:lpstr>
      <vt:lpstr>Chapter 3.  Managing the Information Systems Project</vt:lpstr>
      <vt:lpstr>Collaborative Clarification</vt:lpstr>
      <vt:lpstr>Importance of Successful Project Management</vt:lpstr>
      <vt:lpstr>Operation Vs. Project</vt:lpstr>
      <vt:lpstr>Systems Development Life Cycle (SDLC)</vt:lpstr>
      <vt:lpstr>Questions on Missing Aspects in SDLC</vt:lpstr>
      <vt:lpstr>Project</vt:lpstr>
      <vt:lpstr>If You Were the Project Manager …</vt:lpstr>
      <vt:lpstr>Function-Oriented View of Project Management</vt:lpstr>
      <vt:lpstr>Formative Quiz</vt:lpstr>
      <vt:lpstr>Applied Learning</vt:lpstr>
      <vt:lpstr>Debating Statement</vt:lpstr>
      <vt:lpstr>Debating Statement</vt:lpstr>
      <vt:lpstr>Thank you</vt:lpstr>
      <vt:lpstr>Introduction</vt:lpstr>
      <vt:lpstr>Project Management</vt:lpstr>
      <vt:lpstr>Use Case: PVF</vt:lpstr>
      <vt:lpstr>Company Background</vt:lpstr>
      <vt:lpstr>Three Computer Applications</vt:lpstr>
      <vt:lpstr>Project proposal: System Service Request (SRS)</vt:lpstr>
      <vt:lpstr>Managing the Information Systems Project</vt:lpstr>
      <vt:lpstr>Systems Development Life Cycle (SDLC)</vt:lpstr>
      <vt:lpstr>Questions on Missing Aspects in SDLC</vt:lpstr>
      <vt:lpstr>Project</vt:lpstr>
      <vt:lpstr>Trends from Operation to Project</vt:lpstr>
      <vt:lpstr>Project Vs. Operation</vt:lpstr>
      <vt:lpstr>Project Management</vt:lpstr>
      <vt:lpstr>Project Management Activities</vt:lpstr>
      <vt:lpstr>Project Manager vs. System Analyst vs. Developer</vt:lpstr>
      <vt:lpstr>Initiation</vt:lpstr>
      <vt:lpstr>Developing the Project Charter</vt:lpstr>
      <vt:lpstr>PVF’s Project Charter</vt:lpstr>
      <vt:lpstr>Planning</vt:lpstr>
      <vt:lpstr>Ten Project Planning Activities</vt:lpstr>
      <vt:lpstr>Dividing the Project into Manageable Tasks</vt:lpstr>
      <vt:lpstr>Example of WBS </vt:lpstr>
      <vt:lpstr>Task Sequence &amp; Network Diagram</vt:lpstr>
      <vt:lpstr>Three-Point Duration Estimation</vt:lpstr>
      <vt:lpstr>Critical Path Method (CPM)</vt:lpstr>
      <vt:lpstr>Calculating the Critical Path</vt:lpstr>
      <vt:lpstr>Earliest Time – Forward Pass, Latest Time – Backward Pass </vt:lpstr>
      <vt:lpstr>Uncertainty</vt:lpstr>
      <vt:lpstr>How to Deal with “Duration Uncertainty”</vt:lpstr>
      <vt:lpstr>How to Deal with “Resource Availability”</vt:lpstr>
      <vt:lpstr>Schedule Compression</vt:lpstr>
      <vt:lpstr>Schedule Compression – Crashing Example</vt:lpstr>
      <vt:lpstr>Cost of Schedule Compression (Crashing)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myself</dc:title>
  <dc:creator>msong</dc:creator>
  <cp:lastModifiedBy>조현보(산업경영공학과)</cp:lastModifiedBy>
  <cp:revision>268</cp:revision>
  <cp:lastPrinted>2024-03-02T07:44:53Z</cp:lastPrinted>
  <dcterms:created xsi:type="dcterms:W3CDTF">2011-11-11T15:35:32Z</dcterms:created>
  <dcterms:modified xsi:type="dcterms:W3CDTF">2026-03-05T01:19:42Z</dcterms:modified>
</cp:coreProperties>
</file>